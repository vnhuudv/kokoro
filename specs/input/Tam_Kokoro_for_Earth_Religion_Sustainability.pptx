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E"/>
        </a:solidFill>
      </p:bgPr>
    </p:bg>
    <p:spTree>
      <p:nvGrpSpPr>
        <p:cNvPr id="1" name=""/>
        <p:cNvGrpSpPr/>
        <p:nvPr/>
      </p:nvGrpSpPr>
      <p:grpSpPr>
        <a:xfrm>
          <a:off x="0" y="0"/>
          <a:ext cx="0" cy="0"/>
          <a:chOff x="0" y="0"/>
          <a:chExt cx="0" cy="0"/>
        </a:xfrm>
      </p:grpSpPr>
      <p:sp>
        <p:nvSpPr>
          <p:cNvPr id="2" name="Shape 0"/>
          <p:cNvSpPr/>
          <p:nvPr/>
        </p:nvSpPr>
        <p:spPr>
          <a:xfrm>
            <a:off x="0" y="0"/>
            <a:ext cx="12191695" cy="292608"/>
          </a:xfrm>
          <a:prstGeom prst="rect">
            <a:avLst/>
          </a:prstGeom>
          <a:solidFill>
            <a:srgbClr val="C8382C"/>
          </a:solidFill>
          <a:ln w="12700">
            <a:solidFill>
              <a:srgbClr val="C8382C"/>
            </a:solidFill>
            <a:prstDash val="solid"/>
          </a:ln>
        </p:spPr>
      </p:sp>
      <p:sp>
        <p:nvSpPr>
          <p:cNvPr id="3" name="Shape 1"/>
          <p:cNvSpPr/>
          <p:nvPr/>
        </p:nvSpPr>
        <p:spPr>
          <a:xfrm>
            <a:off x="0" y="6583680"/>
            <a:ext cx="12191695" cy="274320"/>
          </a:xfrm>
          <a:prstGeom prst="rect">
            <a:avLst/>
          </a:prstGeom>
          <a:solidFill>
            <a:srgbClr val="C9A86A"/>
          </a:solidFill>
          <a:ln w="12700">
            <a:solidFill>
              <a:srgbClr val="C9A86A"/>
            </a:solidFill>
            <a:prstDash val="solid"/>
          </a:ln>
        </p:spPr>
      </p:sp>
      <p:sp>
        <p:nvSpPr>
          <p:cNvPr id="4" name="Text 2"/>
          <p:cNvSpPr/>
          <p:nvPr/>
        </p:nvSpPr>
        <p:spPr>
          <a:xfrm>
            <a:off x="731520" y="1051560"/>
            <a:ext cx="10058400" cy="320040"/>
          </a:xfrm>
          <a:prstGeom prst="rect">
            <a:avLst/>
          </a:prstGeom>
          <a:noFill/>
          <a:ln/>
        </p:spPr>
        <p:txBody>
          <a:bodyPr wrap="square" lIns="0" tIns="0" rIns="0" bIns="0" rtlCol="0" anchor="ctr"/>
          <a:lstStyle/>
          <a:p>
            <a:pPr indent="0" marL="0">
              <a:buNone/>
            </a:pPr>
            <a:r>
              <a:rPr lang="en-US" sz="1300" b="1" spc="700" kern="0" dirty="0">
                <a:solidFill>
                  <a:srgbClr val="C9A86A"/>
                </a:solidFill>
                <a:latin typeface="Calibri" pitchFamily="34" charset="0"/>
                <a:ea typeface="Calibri" pitchFamily="34" charset="-122"/>
                <a:cs typeface="Calibri" pitchFamily="34" charset="-120"/>
              </a:rPr>
              <a:t>RELIGION &amp; SUSTAINABILITY  ·  SHIZENKAN MBA 2026</a:t>
            </a:r>
            <a:endParaRPr lang="en-US" sz="1300" dirty="0"/>
          </a:p>
        </p:txBody>
      </p:sp>
      <p:sp>
        <p:nvSpPr>
          <p:cNvPr id="5" name="Text 3"/>
          <p:cNvSpPr/>
          <p:nvPr/>
        </p:nvSpPr>
        <p:spPr>
          <a:xfrm>
            <a:off x="731520" y="1554480"/>
            <a:ext cx="8686800" cy="1143000"/>
          </a:xfrm>
          <a:prstGeom prst="rect">
            <a:avLst/>
          </a:prstGeom>
          <a:noFill/>
          <a:ln/>
        </p:spPr>
        <p:txBody>
          <a:bodyPr wrap="square" lIns="0" tIns="0" rIns="0" bIns="0" rtlCol="0" anchor="ctr"/>
          <a:lstStyle/>
          <a:p>
            <a:pPr indent="0" marL="0">
              <a:buNone/>
            </a:pPr>
            <a:r>
              <a:rPr lang="en-US" sz="6400" b="1" dirty="0">
                <a:solidFill>
                  <a:srgbClr val="F5EAD9"/>
                </a:solidFill>
                <a:latin typeface="Georgia" pitchFamily="34" charset="0"/>
                <a:ea typeface="Georgia" pitchFamily="34" charset="-122"/>
                <a:cs typeface="Georgia" pitchFamily="34" charset="-120"/>
              </a:rPr>
              <a:t>Kokoro</a:t>
            </a:r>
            <a:endParaRPr lang="en-US" sz="6400" dirty="0"/>
          </a:p>
        </p:txBody>
      </p:sp>
      <p:sp>
        <p:nvSpPr>
          <p:cNvPr id="6" name="Text 4"/>
          <p:cNvSpPr/>
          <p:nvPr/>
        </p:nvSpPr>
        <p:spPr>
          <a:xfrm>
            <a:off x="731520" y="2651760"/>
            <a:ext cx="8686800" cy="1143000"/>
          </a:xfrm>
          <a:prstGeom prst="rect">
            <a:avLst/>
          </a:prstGeom>
          <a:noFill/>
          <a:ln/>
        </p:spPr>
        <p:txBody>
          <a:bodyPr wrap="square" lIns="0" tIns="0" rIns="0" bIns="0" rtlCol="0" anchor="ctr"/>
          <a:lstStyle/>
          <a:p>
            <a:pPr indent="0" marL="0">
              <a:buNone/>
            </a:pPr>
            <a:r>
              <a:rPr lang="en-US" sz="6400" b="1" i="1" dirty="0">
                <a:solidFill>
                  <a:srgbClr val="F5EAD9"/>
                </a:solidFill>
                <a:latin typeface="Georgia" pitchFamily="34" charset="0"/>
                <a:ea typeface="Georgia" pitchFamily="34" charset="-122"/>
                <a:cs typeface="Georgia" pitchFamily="34" charset="-120"/>
              </a:rPr>
              <a:t>for the Earth</a:t>
            </a:r>
            <a:endParaRPr lang="en-US" sz="6400" dirty="0"/>
          </a:p>
        </p:txBody>
      </p:sp>
      <p:sp>
        <p:nvSpPr>
          <p:cNvPr id="7" name="Text 5"/>
          <p:cNvSpPr/>
          <p:nvPr/>
        </p:nvSpPr>
        <p:spPr>
          <a:xfrm>
            <a:off x="731520" y="3977640"/>
            <a:ext cx="10515600" cy="457200"/>
          </a:xfrm>
          <a:prstGeom prst="rect">
            <a:avLst/>
          </a:prstGeom>
          <a:noFill/>
          <a:ln/>
        </p:spPr>
        <p:txBody>
          <a:bodyPr wrap="square" lIns="0" tIns="0" rIns="0" bIns="0" rtlCol="0" anchor="ctr"/>
          <a:lstStyle/>
          <a:p>
            <a:pPr indent="0" marL="0">
              <a:buNone/>
            </a:pPr>
            <a:r>
              <a:rPr lang="en-US" sz="2000" i="1" dirty="0">
                <a:solidFill>
                  <a:srgbClr val="C9A86A"/>
                </a:solidFill>
                <a:latin typeface="Georgia" pitchFamily="34" charset="0"/>
                <a:ea typeface="Georgia" pitchFamily="34" charset="-122"/>
                <a:cs typeface="Georgia" pitchFamily="34" charset="-120"/>
              </a:rPr>
              <a:t>Religion, Culture, and the Sustainable Organization</a:t>
            </a:r>
            <a:endParaRPr lang="en-US" sz="2000" dirty="0"/>
          </a:p>
        </p:txBody>
      </p:sp>
      <p:sp>
        <p:nvSpPr>
          <p:cNvPr id="8" name="Text 6"/>
          <p:cNvSpPr/>
          <p:nvPr/>
        </p:nvSpPr>
        <p:spPr>
          <a:xfrm>
            <a:off x="731520" y="4434840"/>
            <a:ext cx="10515600" cy="365760"/>
          </a:xfrm>
          <a:prstGeom prst="rect">
            <a:avLst/>
          </a:prstGeom>
          <a:noFill/>
          <a:ln/>
        </p:spPr>
        <p:txBody>
          <a:bodyPr wrap="square" lIns="0" tIns="0" rIns="0" bIns="0" rtlCol="0" anchor="ctr"/>
          <a:lstStyle/>
          <a:p>
            <a:pPr indent="0" marL="0">
              <a:buNone/>
            </a:pPr>
            <a:r>
              <a:rPr lang="en-US" sz="1400" dirty="0">
                <a:solidFill>
                  <a:srgbClr val="B8B0A2"/>
                </a:solidFill>
                <a:latin typeface="Calibri" pitchFamily="34" charset="0"/>
                <a:ea typeface="Calibri" pitchFamily="34" charset="-122"/>
                <a:cs typeface="Calibri" pitchFamily="34" charset="-120"/>
              </a:rPr>
              <a:t>Extending Tâm × 心 — from people, to planet.</a:t>
            </a:r>
            <a:endParaRPr lang="en-US" sz="1400" dirty="0"/>
          </a:p>
        </p:txBody>
      </p:sp>
      <p:sp>
        <p:nvSpPr>
          <p:cNvPr id="9" name="Shape 7"/>
          <p:cNvSpPr/>
          <p:nvPr/>
        </p:nvSpPr>
        <p:spPr>
          <a:xfrm>
            <a:off x="9509760" y="1783080"/>
            <a:ext cx="2011680" cy="2011680"/>
          </a:xfrm>
          <a:prstGeom prst="ellipse">
            <a:avLst/>
          </a:prstGeom>
          <a:solidFill>
            <a:srgbClr val="1B2A4E"/>
          </a:solidFill>
          <a:ln w="38100">
            <a:solidFill>
              <a:srgbClr val="8A9A7B"/>
            </a:solidFill>
            <a:prstDash val="solid"/>
          </a:ln>
        </p:spPr>
      </p:sp>
      <p:sp>
        <p:nvSpPr>
          <p:cNvPr id="10" name="Shape 8"/>
          <p:cNvSpPr/>
          <p:nvPr/>
        </p:nvSpPr>
        <p:spPr>
          <a:xfrm>
            <a:off x="9646920" y="1920240"/>
            <a:ext cx="1737360" cy="1737360"/>
          </a:xfrm>
          <a:prstGeom prst="ellipse">
            <a:avLst/>
          </a:prstGeom>
          <a:solidFill>
            <a:srgbClr val="1B2A4E"/>
          </a:solidFill>
          <a:ln w="12700">
            <a:solidFill>
              <a:srgbClr val="C9A86A"/>
            </a:solidFill>
            <a:prstDash val="solid"/>
          </a:ln>
        </p:spPr>
      </p:sp>
      <p:sp>
        <p:nvSpPr>
          <p:cNvPr id="11" name="Shape 9"/>
          <p:cNvSpPr/>
          <p:nvPr/>
        </p:nvSpPr>
        <p:spPr>
          <a:xfrm>
            <a:off x="10287000" y="2560320"/>
            <a:ext cx="457200" cy="457200"/>
          </a:xfrm>
          <a:prstGeom prst="ellipse">
            <a:avLst/>
          </a:prstGeom>
          <a:solidFill>
            <a:srgbClr val="C8382C"/>
          </a:solidFill>
          <a:ln w="12700">
            <a:solidFill>
              <a:srgbClr val="C8382C"/>
            </a:solidFill>
            <a:prstDash val="solid"/>
          </a:ln>
        </p:spPr>
      </p:sp>
      <p:sp>
        <p:nvSpPr>
          <p:cNvPr id="12" name="Text 10"/>
          <p:cNvSpPr/>
          <p:nvPr/>
        </p:nvSpPr>
        <p:spPr>
          <a:xfrm>
            <a:off x="10287000" y="2560320"/>
            <a:ext cx="457200" cy="457200"/>
          </a:xfrm>
          <a:prstGeom prst="rect">
            <a:avLst/>
          </a:prstGeom>
          <a:noFill/>
          <a:ln/>
        </p:spPr>
        <p:txBody>
          <a:bodyPr wrap="square" lIns="0" tIns="0" rIns="0" bIns="0" rtlCol="0" anchor="ctr"/>
          <a:lstStyle/>
          <a:p>
            <a:pPr algn="ctr" indent="0" marL="0">
              <a:buNone/>
            </a:pPr>
            <a:r>
              <a:rPr lang="en-US" sz="2200" b="1" dirty="0">
                <a:solidFill>
                  <a:srgbClr val="F5EAD9"/>
                </a:solidFill>
                <a:latin typeface="Georgia" pitchFamily="34" charset="0"/>
                <a:ea typeface="Georgia" pitchFamily="34" charset="-122"/>
                <a:cs typeface="Georgia" pitchFamily="34" charset="-120"/>
              </a:rPr>
              <a:t>心</a:t>
            </a:r>
            <a:endParaRPr lang="en-US" sz="2200" dirty="0"/>
          </a:p>
        </p:txBody>
      </p:sp>
      <p:sp>
        <p:nvSpPr>
          <p:cNvPr id="13" name="Shape 11"/>
          <p:cNvSpPr/>
          <p:nvPr/>
        </p:nvSpPr>
        <p:spPr>
          <a:xfrm>
            <a:off x="11448288" y="2715768"/>
            <a:ext cx="146304" cy="146304"/>
          </a:xfrm>
          <a:prstGeom prst="ellipse">
            <a:avLst/>
          </a:prstGeom>
          <a:solidFill>
            <a:srgbClr val="C8382C"/>
          </a:solidFill>
          <a:ln w="12700">
            <a:solidFill>
              <a:srgbClr val="C8382C"/>
            </a:solidFill>
            <a:prstDash val="solid"/>
          </a:ln>
        </p:spPr>
      </p:sp>
      <p:sp>
        <p:nvSpPr>
          <p:cNvPr id="14" name="Shape 12"/>
          <p:cNvSpPr/>
          <p:nvPr/>
        </p:nvSpPr>
        <p:spPr>
          <a:xfrm>
            <a:off x="10945368" y="3586851"/>
            <a:ext cx="146304" cy="146304"/>
          </a:xfrm>
          <a:prstGeom prst="ellipse">
            <a:avLst/>
          </a:prstGeom>
          <a:solidFill>
            <a:srgbClr val="C9A86A"/>
          </a:solidFill>
          <a:ln w="12700">
            <a:solidFill>
              <a:srgbClr val="C9A86A"/>
            </a:solidFill>
            <a:prstDash val="solid"/>
          </a:ln>
        </p:spPr>
      </p:sp>
      <p:sp>
        <p:nvSpPr>
          <p:cNvPr id="15" name="Shape 13"/>
          <p:cNvSpPr/>
          <p:nvPr/>
        </p:nvSpPr>
        <p:spPr>
          <a:xfrm>
            <a:off x="9939528" y="3586851"/>
            <a:ext cx="146304" cy="146304"/>
          </a:xfrm>
          <a:prstGeom prst="ellipse">
            <a:avLst/>
          </a:prstGeom>
          <a:solidFill>
            <a:srgbClr val="8A9A7B"/>
          </a:solidFill>
          <a:ln w="12700">
            <a:solidFill>
              <a:srgbClr val="8A9A7B"/>
            </a:solidFill>
            <a:prstDash val="solid"/>
          </a:ln>
        </p:spPr>
      </p:sp>
      <p:sp>
        <p:nvSpPr>
          <p:cNvPr id="16" name="Shape 14"/>
          <p:cNvSpPr/>
          <p:nvPr/>
        </p:nvSpPr>
        <p:spPr>
          <a:xfrm>
            <a:off x="9436608" y="2715768"/>
            <a:ext cx="146304" cy="146304"/>
          </a:xfrm>
          <a:prstGeom prst="ellipse">
            <a:avLst/>
          </a:prstGeom>
          <a:solidFill>
            <a:srgbClr val="C8382C"/>
          </a:solidFill>
          <a:ln w="12700">
            <a:solidFill>
              <a:srgbClr val="C8382C"/>
            </a:solidFill>
            <a:prstDash val="solid"/>
          </a:ln>
        </p:spPr>
      </p:sp>
      <p:sp>
        <p:nvSpPr>
          <p:cNvPr id="17" name="Shape 15"/>
          <p:cNvSpPr/>
          <p:nvPr/>
        </p:nvSpPr>
        <p:spPr>
          <a:xfrm>
            <a:off x="9939528" y="1844685"/>
            <a:ext cx="146304" cy="146304"/>
          </a:xfrm>
          <a:prstGeom prst="ellipse">
            <a:avLst/>
          </a:prstGeom>
          <a:solidFill>
            <a:srgbClr val="C9A86A"/>
          </a:solidFill>
          <a:ln w="12700">
            <a:solidFill>
              <a:srgbClr val="C9A86A"/>
            </a:solidFill>
            <a:prstDash val="solid"/>
          </a:ln>
        </p:spPr>
      </p:sp>
      <p:sp>
        <p:nvSpPr>
          <p:cNvPr id="18" name="Shape 16"/>
          <p:cNvSpPr/>
          <p:nvPr/>
        </p:nvSpPr>
        <p:spPr>
          <a:xfrm>
            <a:off x="10945368" y="1844685"/>
            <a:ext cx="146304" cy="146304"/>
          </a:xfrm>
          <a:prstGeom prst="ellipse">
            <a:avLst/>
          </a:prstGeom>
          <a:solidFill>
            <a:srgbClr val="8A9A7B"/>
          </a:solidFill>
          <a:ln w="12700">
            <a:solidFill>
              <a:srgbClr val="8A9A7B"/>
            </a:solidFill>
            <a:prstDash val="solid"/>
          </a:ln>
        </p:spPr>
      </p:sp>
      <p:sp>
        <p:nvSpPr>
          <p:cNvPr id="19" name="Text 17"/>
          <p:cNvSpPr/>
          <p:nvPr/>
        </p:nvSpPr>
        <p:spPr>
          <a:xfrm>
            <a:off x="731520" y="5257800"/>
            <a:ext cx="10058400" cy="320040"/>
          </a:xfrm>
          <a:prstGeom prst="rect">
            <a:avLst/>
          </a:prstGeom>
          <a:noFill/>
          <a:ln/>
        </p:spPr>
        <p:txBody>
          <a:bodyPr wrap="square" lIns="0" tIns="0" rIns="0" bIns="0" rtlCol="0" anchor="ctr"/>
          <a:lstStyle/>
          <a:p>
            <a:pPr indent="0" marL="0">
              <a:buNone/>
            </a:pPr>
            <a:r>
              <a:rPr lang="en-US" sz="1400" b="1" dirty="0">
                <a:solidFill>
                  <a:srgbClr val="C9A86A"/>
                </a:solidFill>
                <a:latin typeface="Calibri" pitchFamily="34" charset="0"/>
                <a:ea typeface="Calibri" pitchFamily="34" charset="-122"/>
                <a:cs typeface="Calibri" pitchFamily="34" charset="-120"/>
              </a:rPr>
              <a:t>Tâm × 心  ·  The Shared Heart Project  ·  Companion Paper</a:t>
            </a:r>
            <a:endParaRPr lang="en-US" sz="1400" dirty="0"/>
          </a:p>
        </p:txBody>
      </p:sp>
      <p:sp>
        <p:nvSpPr>
          <p:cNvPr id="20" name="Text 18"/>
          <p:cNvSpPr/>
          <p:nvPr/>
        </p:nvSpPr>
        <p:spPr>
          <a:xfrm>
            <a:off x="731520" y="5623560"/>
            <a:ext cx="10058400" cy="274320"/>
          </a:xfrm>
          <a:prstGeom prst="rect">
            <a:avLst/>
          </a:prstGeom>
          <a:noFill/>
          <a:ln/>
        </p:spPr>
        <p:txBody>
          <a:bodyPr wrap="square" lIns="0" tIns="0" rIns="0" bIns="0" rtlCol="0" anchor="ctr"/>
          <a:lstStyle/>
          <a:p>
            <a:pPr indent="0" marL="0">
              <a:buNone/>
            </a:pPr>
            <a:r>
              <a:rPr lang="en-US" sz="1200" dirty="0">
                <a:solidFill>
                  <a:srgbClr val="F5EAD9"/>
                </a:solidFill>
                <a:latin typeface="Calibri" pitchFamily="34" charset="0"/>
                <a:ea typeface="Calibri" pitchFamily="34" charset="-122"/>
                <a:cs typeface="Calibri" pitchFamily="34" charset="-120"/>
              </a:rPr>
              <a:t>Prepared by MrX  ·  Vice President, Vnext Japan</a:t>
            </a:r>
            <a:endParaRPr lang="en-US" sz="1200" dirty="0"/>
          </a:p>
        </p:txBody>
      </p:sp>
      <p:sp>
        <p:nvSpPr>
          <p:cNvPr id="21" name="Text 19"/>
          <p:cNvSpPr/>
          <p:nvPr/>
        </p:nvSpPr>
        <p:spPr>
          <a:xfrm>
            <a:off x="731520" y="5897880"/>
            <a:ext cx="10058400" cy="274320"/>
          </a:xfrm>
          <a:prstGeom prst="rect">
            <a:avLst/>
          </a:prstGeom>
          <a:noFill/>
          <a:ln/>
        </p:spPr>
        <p:txBody>
          <a:bodyPr wrap="square" lIns="0" tIns="0" rIns="0" bIns="0" rtlCol="0" anchor="ctr"/>
          <a:lstStyle/>
          <a:p>
            <a:pPr indent="0" marL="0">
              <a:buNone/>
            </a:pPr>
            <a:r>
              <a:rPr lang="en-US" sz="1100" i="1" dirty="0">
                <a:solidFill>
                  <a:srgbClr val="B8B0A2"/>
                </a:solidFill>
                <a:latin typeface="Calibri" pitchFamily="34" charset="0"/>
                <a:ea typeface="Calibri" pitchFamily="34" charset="-122"/>
                <a:cs typeface="Calibri" pitchFamily="34" charset="-120"/>
              </a:rPr>
              <a:t>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01 · THE BRIDGE</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From interpersonal kokoro to organizational kokoro</a:t>
            </a:r>
            <a:endParaRPr lang="en-US" sz="2600" dirty="0"/>
          </a:p>
        </p:txBody>
      </p:sp>
      <p:sp>
        <p:nvSpPr>
          <p:cNvPr id="5" name="Shape 3"/>
          <p:cNvSpPr/>
          <p:nvPr/>
        </p:nvSpPr>
        <p:spPr>
          <a:xfrm>
            <a:off x="548640" y="1691640"/>
            <a:ext cx="5394960" cy="4206240"/>
          </a:xfrm>
          <a:prstGeom prst="roundRect">
            <a:avLst>
              <a:gd name="adj" fmla="val 1739"/>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6" name="Shape 4"/>
          <p:cNvSpPr/>
          <p:nvPr/>
        </p:nvSpPr>
        <p:spPr>
          <a:xfrm>
            <a:off x="548640" y="1691640"/>
            <a:ext cx="5394960" cy="91440"/>
          </a:xfrm>
          <a:prstGeom prst="rect">
            <a:avLst/>
          </a:prstGeom>
          <a:solidFill>
            <a:srgbClr val="C9A86A"/>
          </a:solidFill>
          <a:ln w="12700">
            <a:solidFill>
              <a:srgbClr val="C9A86A"/>
            </a:solidFill>
            <a:prstDash val="solid"/>
          </a:ln>
        </p:spPr>
      </p:sp>
      <p:sp>
        <p:nvSpPr>
          <p:cNvPr id="7" name="Text 5"/>
          <p:cNvSpPr/>
          <p:nvPr/>
        </p:nvSpPr>
        <p:spPr>
          <a:xfrm>
            <a:off x="777240" y="1920240"/>
            <a:ext cx="4937760" cy="274320"/>
          </a:xfrm>
          <a:prstGeom prst="rect">
            <a:avLst/>
          </a:prstGeom>
          <a:noFill/>
          <a:ln/>
        </p:spPr>
        <p:txBody>
          <a:bodyPr wrap="square" lIns="0" tIns="0" rIns="0" bIns="0" rtlCol="0" anchor="ctr"/>
          <a:lstStyle/>
          <a:p>
            <a:pPr indent="0" marL="0">
              <a:buNone/>
            </a:pPr>
            <a:r>
              <a:rPr lang="en-US" sz="1000" b="1" spc="300" kern="0" dirty="0">
                <a:solidFill>
                  <a:srgbClr val="C9A86A"/>
                </a:solidFill>
                <a:latin typeface="Calibri" pitchFamily="34" charset="0"/>
                <a:ea typeface="Calibri" pitchFamily="34" charset="-122"/>
                <a:cs typeface="Calibri" pitchFamily="34" charset="-120"/>
              </a:rPr>
              <a:t>EARLIER WORK</a:t>
            </a:r>
            <a:endParaRPr lang="en-US" sz="1000" dirty="0"/>
          </a:p>
        </p:txBody>
      </p:sp>
      <p:sp>
        <p:nvSpPr>
          <p:cNvPr id="8" name="Text 6"/>
          <p:cNvSpPr/>
          <p:nvPr/>
        </p:nvSpPr>
        <p:spPr>
          <a:xfrm>
            <a:off x="777240" y="2194560"/>
            <a:ext cx="4937760" cy="640080"/>
          </a:xfrm>
          <a:prstGeom prst="rect">
            <a:avLst/>
          </a:prstGeom>
          <a:noFill/>
          <a:ln/>
        </p:spPr>
        <p:txBody>
          <a:bodyPr wrap="square" lIns="0" tIns="0" rIns="0" bIns="0" rtlCol="0" anchor="ctr"/>
          <a:lstStyle/>
          <a:p>
            <a:pPr indent="0" marL="0">
              <a:buNone/>
            </a:pPr>
            <a:r>
              <a:rPr lang="en-US" sz="1800" b="1" i="1" dirty="0">
                <a:solidFill>
                  <a:srgbClr val="1B2A4E"/>
                </a:solidFill>
                <a:latin typeface="Georgia" pitchFamily="34" charset="0"/>
                <a:ea typeface="Georgia" pitchFamily="34" charset="-122"/>
                <a:cs typeface="Georgia" pitchFamily="34" charset="-120"/>
              </a:rPr>
              <a:t>A heart that translates a sentence</a:t>
            </a:r>
            <a:endParaRPr lang="en-US" sz="1800" dirty="0"/>
          </a:p>
        </p:txBody>
      </p:sp>
      <p:sp>
        <p:nvSpPr>
          <p:cNvPr id="9" name="Text 7"/>
          <p:cNvSpPr/>
          <p:nvPr/>
        </p:nvSpPr>
        <p:spPr>
          <a:xfrm>
            <a:off x="777240" y="2926080"/>
            <a:ext cx="4937760" cy="146304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Tâm × 心 — The Shared Heart Project showed how an AI engine can translate intention and cultural register between people from different traditions, so that no one is misread, and dignity is preserved sentence by sentence.</a:t>
            </a:r>
            <a:endParaRPr lang="en-US" sz="1200" dirty="0"/>
          </a:p>
        </p:txBody>
      </p:sp>
      <p:sp>
        <p:nvSpPr>
          <p:cNvPr id="10" name="Text 8"/>
          <p:cNvSpPr/>
          <p:nvPr/>
        </p:nvSpPr>
        <p:spPr>
          <a:xfrm>
            <a:off x="777240" y="4983480"/>
            <a:ext cx="4937760" cy="365760"/>
          </a:xfrm>
          <a:prstGeom prst="rect">
            <a:avLst/>
          </a:prstGeom>
          <a:noFill/>
          <a:ln/>
        </p:spPr>
        <p:txBody>
          <a:bodyPr wrap="square" lIns="0" tIns="0" rIns="0" bIns="0" rtlCol="0" anchor="ctr"/>
          <a:lstStyle/>
          <a:p>
            <a:pPr indent="0" marL="0">
              <a:buNone/>
            </a:pPr>
            <a:r>
              <a:rPr lang="en-US" sz="1100" i="1" dirty="0">
                <a:solidFill>
                  <a:srgbClr val="767069"/>
                </a:solidFill>
                <a:latin typeface="Calibri" pitchFamily="34" charset="0"/>
                <a:ea typeface="Calibri" pitchFamily="34" charset="-122"/>
                <a:cs typeface="Calibri" pitchFamily="34" charset="-120"/>
              </a:rPr>
              <a:t>Scope: two people, one conversation</a:t>
            </a:r>
            <a:endParaRPr lang="en-US" sz="1100" dirty="0"/>
          </a:p>
        </p:txBody>
      </p:sp>
      <p:sp>
        <p:nvSpPr>
          <p:cNvPr id="11" name="Shape 9"/>
          <p:cNvSpPr/>
          <p:nvPr/>
        </p:nvSpPr>
        <p:spPr>
          <a:xfrm rot="5400000">
            <a:off x="6080760" y="3520440"/>
            <a:ext cx="457200" cy="548640"/>
          </a:xfrm>
          <a:prstGeom prst="rtTriangle">
            <a:avLst/>
          </a:prstGeom>
          <a:solidFill>
            <a:srgbClr val="C8382C"/>
          </a:solidFill>
          <a:ln w="12700">
            <a:solidFill>
              <a:srgbClr val="C8382C"/>
            </a:solidFill>
            <a:prstDash val="solid"/>
          </a:ln>
        </p:spPr>
      </p:sp>
      <p:sp>
        <p:nvSpPr>
          <p:cNvPr id="12" name="Shape 10"/>
          <p:cNvSpPr/>
          <p:nvPr/>
        </p:nvSpPr>
        <p:spPr>
          <a:xfrm>
            <a:off x="6766560" y="1691640"/>
            <a:ext cx="4937760" cy="4206240"/>
          </a:xfrm>
          <a:prstGeom prst="roundRect">
            <a:avLst>
              <a:gd name="adj" fmla="val 1739"/>
            </a:avLst>
          </a:prstGeom>
          <a:solidFill>
            <a:srgbClr val="1B2A4E"/>
          </a:solidFill>
          <a:ln w="19050">
            <a:solidFill>
              <a:srgbClr val="C9A86A"/>
            </a:solidFill>
            <a:prstDash val="solid"/>
          </a:ln>
          <a:effectLst>
            <a:outerShdw sx="100000" sy="100000" kx="0" ky="0" algn="bl" rotWithShape="0" blurRad="101600" dist="12700" dir="5400000">
              <a:srgbClr val="000000">
                <a:alpha val="12000"/>
              </a:srgbClr>
            </a:outerShdw>
          </a:effectLst>
        </p:spPr>
      </p:sp>
      <p:sp>
        <p:nvSpPr>
          <p:cNvPr id="13" name="Shape 11"/>
          <p:cNvSpPr/>
          <p:nvPr/>
        </p:nvSpPr>
        <p:spPr>
          <a:xfrm>
            <a:off x="6766560" y="1691640"/>
            <a:ext cx="4937760" cy="91440"/>
          </a:xfrm>
          <a:prstGeom prst="rect">
            <a:avLst/>
          </a:prstGeom>
          <a:solidFill>
            <a:srgbClr val="C8382C"/>
          </a:solidFill>
          <a:ln w="12700">
            <a:solidFill>
              <a:srgbClr val="C8382C"/>
            </a:solidFill>
            <a:prstDash val="solid"/>
          </a:ln>
        </p:spPr>
      </p:sp>
      <p:sp>
        <p:nvSpPr>
          <p:cNvPr id="14" name="Text 12"/>
          <p:cNvSpPr/>
          <p:nvPr/>
        </p:nvSpPr>
        <p:spPr>
          <a:xfrm>
            <a:off x="6995160" y="1920240"/>
            <a:ext cx="4480560" cy="274320"/>
          </a:xfrm>
          <a:prstGeom prst="rect">
            <a:avLst/>
          </a:prstGeom>
          <a:noFill/>
          <a:ln/>
        </p:spPr>
        <p:txBody>
          <a:bodyPr wrap="square" lIns="0" tIns="0" rIns="0" bIns="0" rtlCol="0" anchor="ctr"/>
          <a:lstStyle/>
          <a:p>
            <a:pPr indent="0" marL="0">
              <a:buNone/>
            </a:pPr>
            <a:r>
              <a:rPr lang="en-US" sz="1000" b="1" spc="300" kern="0" dirty="0">
                <a:solidFill>
                  <a:srgbClr val="C9A86A"/>
                </a:solidFill>
                <a:latin typeface="Calibri" pitchFamily="34" charset="0"/>
                <a:ea typeface="Calibri" pitchFamily="34" charset="-122"/>
                <a:cs typeface="Calibri" pitchFamily="34" charset="-120"/>
              </a:rPr>
              <a:t>THIS PAPER</a:t>
            </a:r>
            <a:endParaRPr lang="en-US" sz="1000" dirty="0"/>
          </a:p>
        </p:txBody>
      </p:sp>
      <p:sp>
        <p:nvSpPr>
          <p:cNvPr id="15" name="Text 13"/>
          <p:cNvSpPr/>
          <p:nvPr/>
        </p:nvSpPr>
        <p:spPr>
          <a:xfrm>
            <a:off x="6995160" y="2194560"/>
            <a:ext cx="4480560" cy="640080"/>
          </a:xfrm>
          <a:prstGeom prst="rect">
            <a:avLst/>
          </a:prstGeom>
          <a:noFill/>
          <a:ln/>
        </p:spPr>
        <p:txBody>
          <a:bodyPr wrap="square" lIns="0" tIns="0" rIns="0" bIns="0" rtlCol="0" anchor="ctr"/>
          <a:lstStyle/>
          <a:p>
            <a:pPr indent="0" marL="0">
              <a:buNone/>
            </a:pPr>
            <a:r>
              <a:rPr lang="en-US" sz="1800" b="1" i="1" dirty="0">
                <a:solidFill>
                  <a:srgbClr val="F5EAD9"/>
                </a:solidFill>
                <a:latin typeface="Georgia" pitchFamily="34" charset="0"/>
                <a:ea typeface="Georgia" pitchFamily="34" charset="-122"/>
                <a:cs typeface="Georgia" pitchFamily="34" charset="-120"/>
              </a:rPr>
              <a:t>A heart that translates a duty</a:t>
            </a:r>
            <a:endParaRPr lang="en-US" sz="1800" dirty="0"/>
          </a:p>
        </p:txBody>
      </p:sp>
      <p:sp>
        <p:nvSpPr>
          <p:cNvPr id="16" name="Text 14"/>
          <p:cNvSpPr/>
          <p:nvPr/>
        </p:nvSpPr>
        <p:spPr>
          <a:xfrm>
            <a:off x="6995160" y="2926080"/>
            <a:ext cx="4480560" cy="1554480"/>
          </a:xfrm>
          <a:prstGeom prst="rect">
            <a:avLst/>
          </a:prstGeom>
          <a:noFill/>
          <a:ln/>
        </p:spPr>
        <p:txBody>
          <a:bodyPr wrap="square" lIns="0" tIns="0" rIns="0" bIns="0" rtlCol="0" anchor="ctr"/>
          <a:lstStyle/>
          <a:p>
            <a:pPr indent="0" marL="0">
              <a:buNone/>
            </a:pPr>
            <a:r>
              <a:rPr lang="en-US" sz="1200" dirty="0">
                <a:solidFill>
                  <a:srgbClr val="F5EAD9"/>
                </a:solidFill>
                <a:latin typeface="Calibri" pitchFamily="34" charset="0"/>
                <a:ea typeface="Calibri" pitchFamily="34" charset="-122"/>
                <a:cs typeface="Calibri" pitchFamily="34" charset="-120"/>
              </a:rPr>
              <a:t>The same conscience that shapes a polite reply also shapes how an organization treats a forest, a worker, a sacred site, a host community. Religion + culture + ecology = the shared heart, expanded.</a:t>
            </a:r>
            <a:endParaRPr lang="en-US" sz="1200" dirty="0"/>
          </a:p>
        </p:txBody>
      </p:sp>
      <p:sp>
        <p:nvSpPr>
          <p:cNvPr id="17" name="Text 15"/>
          <p:cNvSpPr/>
          <p:nvPr/>
        </p:nvSpPr>
        <p:spPr>
          <a:xfrm>
            <a:off x="6995160" y="4983480"/>
            <a:ext cx="4480560" cy="365760"/>
          </a:xfrm>
          <a:prstGeom prst="rect">
            <a:avLst/>
          </a:prstGeom>
          <a:noFill/>
          <a:ln/>
        </p:spPr>
        <p:txBody>
          <a:bodyPr wrap="square" lIns="0" tIns="0" rIns="0" bIns="0" rtlCol="0" anchor="ctr"/>
          <a:lstStyle/>
          <a:p>
            <a:pPr indent="0" marL="0">
              <a:buNone/>
            </a:pPr>
            <a:r>
              <a:rPr lang="en-US" sz="1100" i="1" dirty="0">
                <a:solidFill>
                  <a:srgbClr val="C9A86A"/>
                </a:solidFill>
                <a:latin typeface="Calibri" pitchFamily="34" charset="0"/>
                <a:ea typeface="Calibri" pitchFamily="34" charset="-122"/>
                <a:cs typeface="Calibri" pitchFamily="34" charset="-120"/>
              </a:rPr>
              <a:t>Scope: one organization, every place it touches</a:t>
            </a:r>
            <a:endParaRPr lang="en-US" sz="1100" dirty="0"/>
          </a:p>
        </p:txBody>
      </p:sp>
      <p:sp>
        <p:nvSpPr>
          <p:cNvPr id="18" name="Text 16"/>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767069"/>
                </a:solidFill>
                <a:latin typeface="Calibri" pitchFamily="34" charset="0"/>
                <a:ea typeface="Calibri" pitchFamily="34" charset="-122"/>
                <a:cs typeface="Calibri" pitchFamily="34" charset="-120"/>
              </a:rPr>
              <a:t>2 / 14</a:t>
            </a:r>
            <a:endParaRPr lang="en-US" sz="900" dirty="0"/>
          </a:p>
        </p:txBody>
      </p:sp>
      <p:sp>
        <p:nvSpPr>
          <p:cNvPr id="19" name="Text 17"/>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767069"/>
                </a:solidFill>
                <a:latin typeface="Georgia" pitchFamily="34" charset="0"/>
                <a:ea typeface="Georgia" pitchFamily="34" charset="-122"/>
                <a:cs typeface="Georgia" pitchFamily="34" charset="-120"/>
              </a:rPr>
              <a:t>Kokoro for the Earth  ·  Religion &amp; Sustainability  ·  Shizenkan MBA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02 · THESIS</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The argument, in one sentence</a:t>
            </a:r>
            <a:endParaRPr lang="en-US" sz="2600" dirty="0"/>
          </a:p>
        </p:txBody>
      </p:sp>
      <p:sp>
        <p:nvSpPr>
          <p:cNvPr id="5" name="Shape 3"/>
          <p:cNvSpPr/>
          <p:nvPr/>
        </p:nvSpPr>
        <p:spPr>
          <a:xfrm>
            <a:off x="548640" y="1920240"/>
            <a:ext cx="11091672" cy="2926080"/>
          </a:xfrm>
          <a:prstGeom prst="roundRect">
            <a:avLst>
              <a:gd name="adj" fmla="val 3125"/>
            </a:avLst>
          </a:prstGeom>
          <a:solidFill>
            <a:srgbClr val="F5EAD9"/>
          </a:solidFill>
          <a:ln w="19050">
            <a:solidFill>
              <a:srgbClr val="C9A86A"/>
            </a:solidFill>
            <a:prstDash val="solid"/>
          </a:ln>
          <a:effectLst>
            <a:outerShdw sx="100000" sy="100000" kx="0" ky="0" algn="bl" rotWithShape="0" blurRad="101600" dist="12700" dir="5400000">
              <a:srgbClr val="000000">
                <a:alpha val="12000"/>
              </a:srgbClr>
            </a:outerShdw>
          </a:effectLst>
        </p:spPr>
      </p:sp>
      <p:sp>
        <p:nvSpPr>
          <p:cNvPr id="6" name="Text 4"/>
          <p:cNvSpPr/>
          <p:nvPr/>
        </p:nvSpPr>
        <p:spPr>
          <a:xfrm>
            <a:off x="731520" y="1783080"/>
            <a:ext cx="914400" cy="1097280"/>
          </a:xfrm>
          <a:prstGeom prst="rect">
            <a:avLst/>
          </a:prstGeom>
          <a:noFill/>
          <a:ln/>
        </p:spPr>
        <p:txBody>
          <a:bodyPr wrap="square" lIns="0" tIns="0" rIns="0" bIns="0" rtlCol="0" anchor="ctr"/>
          <a:lstStyle/>
          <a:p>
            <a:pPr indent="0" marL="0">
              <a:buNone/>
            </a:pPr>
            <a:r>
              <a:rPr lang="en-US" sz="7200" b="1" dirty="0">
                <a:solidFill>
                  <a:srgbClr val="C8382C"/>
                </a:solidFill>
                <a:latin typeface="Georgia" pitchFamily="34" charset="0"/>
                <a:ea typeface="Georgia" pitchFamily="34" charset="-122"/>
                <a:cs typeface="Georgia" pitchFamily="34" charset="-120"/>
              </a:rPr>
              <a:t>“</a:t>
            </a:r>
            <a:endParaRPr lang="en-US" sz="7200" dirty="0"/>
          </a:p>
        </p:txBody>
      </p:sp>
      <p:sp>
        <p:nvSpPr>
          <p:cNvPr id="7" name="Text 5"/>
          <p:cNvSpPr/>
          <p:nvPr/>
        </p:nvSpPr>
        <p:spPr>
          <a:xfrm>
            <a:off x="1280160" y="2194560"/>
            <a:ext cx="10058400" cy="2377440"/>
          </a:xfrm>
          <a:prstGeom prst="rect">
            <a:avLst/>
          </a:prstGeom>
          <a:noFill/>
          <a:ln/>
        </p:spPr>
        <p:txBody>
          <a:bodyPr wrap="square" lIns="0" tIns="0" rIns="0" bIns="0" rtlCol="0" anchor="ctr"/>
          <a:lstStyle/>
          <a:p>
            <a:pPr indent="0" marL="0">
              <a:buNone/>
            </a:pPr>
            <a:r>
              <a:rPr lang="en-US" sz="2400" b="1" i="1" dirty="0">
                <a:solidFill>
                  <a:srgbClr val="1B2A4E"/>
                </a:solidFill>
                <a:latin typeface="Georgia" pitchFamily="34" charset="0"/>
                <a:ea typeface="Georgia" pitchFamily="34" charset="-122"/>
                <a:cs typeface="Georgia" pitchFamily="34" charset="-120"/>
              </a:rPr>
              <a:t>An organization that learns the religion and culture of the places it touches — and acts from kokoro — becomes a trustee of nature and society, not an extractor of them.</a:t>
            </a:r>
            <a:endParaRPr lang="en-US" sz="2400" dirty="0"/>
          </a:p>
        </p:txBody>
      </p:sp>
      <p:sp>
        <p:nvSpPr>
          <p:cNvPr id="8" name="Text 6"/>
          <p:cNvSpPr/>
          <p:nvPr/>
        </p:nvSpPr>
        <p:spPr>
          <a:xfrm>
            <a:off x="548640" y="5212080"/>
            <a:ext cx="11155680" cy="274320"/>
          </a:xfrm>
          <a:prstGeom prst="rect">
            <a:avLst/>
          </a:prstGeom>
          <a:noFill/>
          <a:ln/>
        </p:spPr>
        <p:txBody>
          <a:bodyPr wrap="square" lIns="0" tIns="0" rIns="0" bIns="0" rtlCol="0" anchor="ctr"/>
          <a:lstStyle/>
          <a:p>
            <a:pPr algn="ctr" indent="0" marL="0">
              <a:buNone/>
            </a:pPr>
            <a:r>
              <a:rPr lang="en-US" sz="1000" b="1" spc="300" kern="0" dirty="0">
                <a:solidFill>
                  <a:srgbClr val="C8382C"/>
                </a:solidFill>
                <a:latin typeface="Calibri" pitchFamily="34" charset="0"/>
                <a:ea typeface="Calibri" pitchFamily="34" charset="-122"/>
                <a:cs typeface="Calibri" pitchFamily="34" charset="-120"/>
              </a:rPr>
              <a:t>THIS DECK UNFOLDS THE SENTENCE</a:t>
            </a:r>
            <a:endParaRPr lang="en-US" sz="1000" dirty="0"/>
          </a:p>
        </p:txBody>
      </p:sp>
      <p:sp>
        <p:nvSpPr>
          <p:cNvPr id="9" name="Shape 7"/>
          <p:cNvSpPr/>
          <p:nvPr/>
        </p:nvSpPr>
        <p:spPr>
          <a:xfrm>
            <a:off x="548640" y="5577840"/>
            <a:ext cx="3840480" cy="640080"/>
          </a:xfrm>
          <a:prstGeom prst="roundRect">
            <a:avLst>
              <a:gd name="adj" fmla="val 8571"/>
            </a:avLst>
          </a:prstGeom>
          <a:solidFill>
            <a:srgbClr val="FFFFFF"/>
          </a:solidFill>
          <a:ln w="12700">
            <a:solidFill>
              <a:srgbClr val="D6CFC1"/>
            </a:solidFill>
            <a:prstDash val="solid"/>
          </a:ln>
        </p:spPr>
      </p:sp>
      <p:sp>
        <p:nvSpPr>
          <p:cNvPr id="10" name="Text 8"/>
          <p:cNvSpPr/>
          <p:nvPr/>
        </p:nvSpPr>
        <p:spPr>
          <a:xfrm>
            <a:off x="548640" y="5577840"/>
            <a:ext cx="3840480" cy="640080"/>
          </a:xfrm>
          <a:prstGeom prst="rect">
            <a:avLst/>
          </a:prstGeom>
          <a:noFill/>
          <a:ln/>
        </p:spPr>
        <p:txBody>
          <a:bodyPr wrap="square" lIns="0" tIns="0" rIns="0" bIns="0" rtlCol="0" anchor="ctr"/>
          <a:lstStyle/>
          <a:p>
            <a:pPr algn="ctr" indent="0" marL="0">
              <a:buNone/>
            </a:pPr>
            <a:r>
              <a:rPr lang="en-US" sz="1200" b="1" dirty="0">
                <a:solidFill>
                  <a:srgbClr val="1B2A4E"/>
                </a:solidFill>
                <a:latin typeface="Calibri" pitchFamily="34" charset="0"/>
                <a:ea typeface="Calibri" pitchFamily="34" charset="-122"/>
                <a:cs typeface="Calibri" pitchFamily="34" charset="-120"/>
              </a:rPr>
              <a:t>WHY religion belongs in sustainability</a:t>
            </a:r>
            <a:endParaRPr lang="en-US" sz="1200" dirty="0"/>
          </a:p>
        </p:txBody>
      </p:sp>
      <p:sp>
        <p:nvSpPr>
          <p:cNvPr id="11" name="Shape 9"/>
          <p:cNvSpPr/>
          <p:nvPr/>
        </p:nvSpPr>
        <p:spPr>
          <a:xfrm>
            <a:off x="4434840" y="5577840"/>
            <a:ext cx="3840480" cy="640080"/>
          </a:xfrm>
          <a:prstGeom prst="roundRect">
            <a:avLst>
              <a:gd name="adj" fmla="val 8571"/>
            </a:avLst>
          </a:prstGeom>
          <a:solidFill>
            <a:srgbClr val="FFFFFF"/>
          </a:solidFill>
          <a:ln w="12700">
            <a:solidFill>
              <a:srgbClr val="D6CFC1"/>
            </a:solidFill>
            <a:prstDash val="solid"/>
          </a:ln>
        </p:spPr>
      </p:sp>
      <p:sp>
        <p:nvSpPr>
          <p:cNvPr id="12" name="Text 10"/>
          <p:cNvSpPr/>
          <p:nvPr/>
        </p:nvSpPr>
        <p:spPr>
          <a:xfrm>
            <a:off x="4434840" y="5577840"/>
            <a:ext cx="3840480" cy="640080"/>
          </a:xfrm>
          <a:prstGeom prst="rect">
            <a:avLst/>
          </a:prstGeom>
          <a:noFill/>
          <a:ln/>
        </p:spPr>
        <p:txBody>
          <a:bodyPr wrap="square" lIns="0" tIns="0" rIns="0" bIns="0" rtlCol="0" anchor="ctr"/>
          <a:lstStyle/>
          <a:p>
            <a:pPr algn="ctr" indent="0" marL="0">
              <a:buNone/>
            </a:pPr>
            <a:r>
              <a:rPr lang="en-US" sz="1200" b="1" dirty="0">
                <a:solidFill>
                  <a:srgbClr val="1B2A4E"/>
                </a:solidFill>
                <a:latin typeface="Calibri" pitchFamily="34" charset="0"/>
                <a:ea typeface="Calibri" pitchFamily="34" charset="-122"/>
                <a:cs typeface="Calibri" pitchFamily="34" charset="-120"/>
              </a:rPr>
              <a:t>WHAT five traditions instruct</a:t>
            </a:r>
            <a:endParaRPr lang="en-US" sz="1200" dirty="0"/>
          </a:p>
        </p:txBody>
      </p:sp>
      <p:sp>
        <p:nvSpPr>
          <p:cNvPr id="13" name="Shape 11"/>
          <p:cNvSpPr/>
          <p:nvPr/>
        </p:nvSpPr>
        <p:spPr>
          <a:xfrm>
            <a:off x="8321040" y="5577840"/>
            <a:ext cx="3840480" cy="640080"/>
          </a:xfrm>
          <a:prstGeom prst="roundRect">
            <a:avLst>
              <a:gd name="adj" fmla="val 8571"/>
            </a:avLst>
          </a:prstGeom>
          <a:solidFill>
            <a:srgbClr val="FFFFFF"/>
          </a:solidFill>
          <a:ln w="12700">
            <a:solidFill>
              <a:srgbClr val="D6CFC1"/>
            </a:solidFill>
            <a:prstDash val="solid"/>
          </a:ln>
        </p:spPr>
      </p:sp>
      <p:sp>
        <p:nvSpPr>
          <p:cNvPr id="14" name="Text 12"/>
          <p:cNvSpPr/>
          <p:nvPr/>
        </p:nvSpPr>
        <p:spPr>
          <a:xfrm>
            <a:off x="8321040" y="5577840"/>
            <a:ext cx="3840480" cy="640080"/>
          </a:xfrm>
          <a:prstGeom prst="rect">
            <a:avLst/>
          </a:prstGeom>
          <a:noFill/>
          <a:ln/>
        </p:spPr>
        <p:txBody>
          <a:bodyPr wrap="square" lIns="0" tIns="0" rIns="0" bIns="0" rtlCol="0" anchor="ctr"/>
          <a:lstStyle/>
          <a:p>
            <a:pPr algn="ctr" indent="0" marL="0">
              <a:buNone/>
            </a:pPr>
            <a:r>
              <a:rPr lang="en-US" sz="1200" b="1" dirty="0">
                <a:solidFill>
                  <a:srgbClr val="1B2A4E"/>
                </a:solidFill>
                <a:latin typeface="Calibri" pitchFamily="34" charset="0"/>
                <a:ea typeface="Calibri" pitchFamily="34" charset="-122"/>
                <a:cs typeface="Calibri" pitchFamily="34" charset="-120"/>
              </a:rPr>
              <a:t>HOW a five-pillar framework operates</a:t>
            </a:r>
            <a:endParaRPr lang="en-US" sz="1200" dirty="0"/>
          </a:p>
        </p:txBody>
      </p:sp>
      <p:sp>
        <p:nvSpPr>
          <p:cNvPr id="15" name="Text 13"/>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767069"/>
                </a:solidFill>
                <a:latin typeface="Calibri" pitchFamily="34" charset="0"/>
                <a:ea typeface="Calibri" pitchFamily="34" charset="-122"/>
                <a:cs typeface="Calibri" pitchFamily="34" charset="-120"/>
              </a:rPr>
              <a:t>3 / 14</a:t>
            </a:r>
            <a:endParaRPr lang="en-US" sz="900" dirty="0"/>
          </a:p>
        </p:txBody>
      </p:sp>
      <p:sp>
        <p:nvSpPr>
          <p:cNvPr id="16" name="Text 14"/>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767069"/>
                </a:solidFill>
                <a:latin typeface="Georgia" pitchFamily="34" charset="0"/>
                <a:ea typeface="Georgia" pitchFamily="34" charset="-122"/>
                <a:cs typeface="Georgia" pitchFamily="34" charset="-120"/>
              </a:rPr>
              <a:t>Kokoro for the Earth  ·  Religion &amp; Sustainability  ·  Shizenkan MBA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03 · WHY RELIGION BELONGS</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Religion is where humanity stored its wisdom about living together — and with the Earth</a:t>
            </a:r>
            <a:endParaRPr lang="en-US" sz="2600" dirty="0"/>
          </a:p>
        </p:txBody>
      </p:sp>
      <p:sp>
        <p:nvSpPr>
          <p:cNvPr id="5" name="Shape 3"/>
          <p:cNvSpPr/>
          <p:nvPr/>
        </p:nvSpPr>
        <p:spPr>
          <a:xfrm>
            <a:off x="548640" y="1783080"/>
            <a:ext cx="3657600" cy="4572000"/>
          </a:xfrm>
          <a:prstGeom prst="roundRect">
            <a:avLst>
              <a:gd name="adj" fmla="val 2000"/>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6" name="Shape 4"/>
          <p:cNvSpPr/>
          <p:nvPr/>
        </p:nvSpPr>
        <p:spPr>
          <a:xfrm>
            <a:off x="548640" y="1783080"/>
            <a:ext cx="3657600" cy="109728"/>
          </a:xfrm>
          <a:prstGeom prst="rect">
            <a:avLst/>
          </a:prstGeom>
          <a:solidFill>
            <a:srgbClr val="C8382C"/>
          </a:solidFill>
          <a:ln w="12700">
            <a:solidFill>
              <a:srgbClr val="C8382C"/>
            </a:solidFill>
            <a:prstDash val="solid"/>
          </a:ln>
        </p:spPr>
      </p:sp>
      <p:sp>
        <p:nvSpPr>
          <p:cNvPr id="7" name="Text 5"/>
          <p:cNvSpPr/>
          <p:nvPr/>
        </p:nvSpPr>
        <p:spPr>
          <a:xfrm>
            <a:off x="822960" y="2057400"/>
            <a:ext cx="3108960" cy="320040"/>
          </a:xfrm>
          <a:prstGeom prst="rect">
            <a:avLst/>
          </a:prstGeom>
          <a:noFill/>
          <a:ln/>
        </p:spPr>
        <p:txBody>
          <a:bodyPr wrap="square" lIns="0" tIns="0" rIns="0" bIns="0" rtlCol="0" anchor="ctr"/>
          <a:lstStyle/>
          <a:p>
            <a:pPr indent="0" marL="0">
              <a:buNone/>
            </a:pPr>
            <a:r>
              <a:rPr lang="en-US" sz="1100" b="1" spc="300" kern="0" dirty="0">
                <a:solidFill>
                  <a:srgbClr val="C8382C"/>
                </a:solidFill>
                <a:latin typeface="Calibri" pitchFamily="34" charset="0"/>
                <a:ea typeface="Calibri" pitchFamily="34" charset="-122"/>
                <a:cs typeface="Calibri" pitchFamily="34" charset="-120"/>
              </a:rPr>
              <a:t>THE SCALE</a:t>
            </a:r>
            <a:endParaRPr lang="en-US" sz="1100" dirty="0"/>
          </a:p>
        </p:txBody>
      </p:sp>
      <p:sp>
        <p:nvSpPr>
          <p:cNvPr id="8" name="Text 6"/>
          <p:cNvSpPr/>
          <p:nvPr/>
        </p:nvSpPr>
        <p:spPr>
          <a:xfrm>
            <a:off x="822960" y="2423160"/>
            <a:ext cx="3108960" cy="1280160"/>
          </a:xfrm>
          <a:prstGeom prst="rect">
            <a:avLst/>
          </a:prstGeom>
          <a:noFill/>
          <a:ln/>
        </p:spPr>
        <p:txBody>
          <a:bodyPr wrap="square" lIns="0" tIns="0" rIns="0" bIns="0" rtlCol="0" anchor="ctr"/>
          <a:lstStyle/>
          <a:p>
            <a:pPr indent="0" marL="0">
              <a:buNone/>
            </a:pPr>
            <a:r>
              <a:rPr lang="en-US" sz="1600" b="1" dirty="0">
                <a:solidFill>
                  <a:srgbClr val="1B2A4E"/>
                </a:solidFill>
                <a:latin typeface="Georgia" pitchFamily="34" charset="0"/>
                <a:ea typeface="Georgia" pitchFamily="34" charset="-122"/>
                <a:cs typeface="Georgia" pitchFamily="34" charset="-120"/>
              </a:rPr>
              <a:t>84% of humanity identifies with a religion</a:t>
            </a:r>
            <a:endParaRPr lang="en-US" sz="1600" dirty="0"/>
          </a:p>
        </p:txBody>
      </p:sp>
      <p:sp>
        <p:nvSpPr>
          <p:cNvPr id="9" name="Text 7"/>
          <p:cNvSpPr/>
          <p:nvPr/>
        </p:nvSpPr>
        <p:spPr>
          <a:xfrm>
            <a:off x="822960" y="3886200"/>
            <a:ext cx="3108960" cy="228600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(Pew Research, Global Religious Landscape, 2020). Religion is not a corner of the sustainability conversation — it is the cultural soil in which sustainability must grow.</a:t>
            </a:r>
            <a:endParaRPr lang="en-US" sz="1200" dirty="0"/>
          </a:p>
        </p:txBody>
      </p:sp>
      <p:sp>
        <p:nvSpPr>
          <p:cNvPr id="10" name="Shape 8"/>
          <p:cNvSpPr/>
          <p:nvPr/>
        </p:nvSpPr>
        <p:spPr>
          <a:xfrm>
            <a:off x="4325112" y="1783080"/>
            <a:ext cx="3657600" cy="4572000"/>
          </a:xfrm>
          <a:prstGeom prst="roundRect">
            <a:avLst>
              <a:gd name="adj" fmla="val 2000"/>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1" name="Shape 9"/>
          <p:cNvSpPr/>
          <p:nvPr/>
        </p:nvSpPr>
        <p:spPr>
          <a:xfrm>
            <a:off x="4325112" y="1783080"/>
            <a:ext cx="3657600" cy="109728"/>
          </a:xfrm>
          <a:prstGeom prst="rect">
            <a:avLst/>
          </a:prstGeom>
          <a:solidFill>
            <a:srgbClr val="C9A86A"/>
          </a:solidFill>
          <a:ln w="12700">
            <a:solidFill>
              <a:srgbClr val="C9A86A"/>
            </a:solidFill>
            <a:prstDash val="solid"/>
          </a:ln>
        </p:spPr>
      </p:sp>
      <p:sp>
        <p:nvSpPr>
          <p:cNvPr id="12" name="Text 10"/>
          <p:cNvSpPr/>
          <p:nvPr/>
        </p:nvSpPr>
        <p:spPr>
          <a:xfrm>
            <a:off x="4599432" y="2057400"/>
            <a:ext cx="3108960" cy="320040"/>
          </a:xfrm>
          <a:prstGeom prst="rect">
            <a:avLst/>
          </a:prstGeom>
          <a:noFill/>
          <a:ln/>
        </p:spPr>
        <p:txBody>
          <a:bodyPr wrap="square" lIns="0" tIns="0" rIns="0" bIns="0" rtlCol="0" anchor="ctr"/>
          <a:lstStyle/>
          <a:p>
            <a:pPr indent="0" marL="0">
              <a:buNone/>
            </a:pPr>
            <a:r>
              <a:rPr lang="en-US" sz="1100" b="1" spc="300" kern="0" dirty="0">
                <a:solidFill>
                  <a:srgbClr val="C9A86A"/>
                </a:solidFill>
                <a:latin typeface="Calibri" pitchFamily="34" charset="0"/>
                <a:ea typeface="Calibri" pitchFamily="34" charset="-122"/>
                <a:cs typeface="Calibri" pitchFamily="34" charset="-120"/>
              </a:rPr>
              <a:t>THE WISDOM</a:t>
            </a:r>
            <a:endParaRPr lang="en-US" sz="1100" dirty="0"/>
          </a:p>
        </p:txBody>
      </p:sp>
      <p:sp>
        <p:nvSpPr>
          <p:cNvPr id="13" name="Text 11"/>
          <p:cNvSpPr/>
          <p:nvPr/>
        </p:nvSpPr>
        <p:spPr>
          <a:xfrm>
            <a:off x="4599432" y="2423160"/>
            <a:ext cx="3108960" cy="1280160"/>
          </a:xfrm>
          <a:prstGeom prst="rect">
            <a:avLst/>
          </a:prstGeom>
          <a:noFill/>
          <a:ln/>
        </p:spPr>
        <p:txBody>
          <a:bodyPr wrap="square" lIns="0" tIns="0" rIns="0" bIns="0" rtlCol="0" anchor="ctr"/>
          <a:lstStyle/>
          <a:p>
            <a:pPr indent="0" marL="0">
              <a:buNone/>
            </a:pPr>
            <a:r>
              <a:rPr lang="en-US" sz="1600" b="1" dirty="0">
                <a:solidFill>
                  <a:srgbClr val="1B2A4E"/>
                </a:solidFill>
                <a:latin typeface="Georgia" pitchFamily="34" charset="0"/>
                <a:ea typeface="Georgia" pitchFamily="34" charset="-122"/>
                <a:cs typeface="Georgia" pitchFamily="34" charset="-120"/>
              </a:rPr>
              <a:t>Centuries of accumulated reflection on duty</a:t>
            </a:r>
            <a:endParaRPr lang="en-US" sz="1600" dirty="0"/>
          </a:p>
        </p:txBody>
      </p:sp>
      <p:sp>
        <p:nvSpPr>
          <p:cNvPr id="14" name="Text 12"/>
          <p:cNvSpPr/>
          <p:nvPr/>
        </p:nvSpPr>
        <p:spPr>
          <a:xfrm>
            <a:off x="4599432" y="3886200"/>
            <a:ext cx="3108960" cy="228600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Religion encodes long-tested teachings on restraint, community, reverence for nature, and the obligations of the powerful. Modern ESG frameworks have rediscovered, not invented, these ideas.</a:t>
            </a:r>
            <a:endParaRPr lang="en-US" sz="1200" dirty="0"/>
          </a:p>
        </p:txBody>
      </p:sp>
      <p:sp>
        <p:nvSpPr>
          <p:cNvPr id="15" name="Shape 13"/>
          <p:cNvSpPr/>
          <p:nvPr/>
        </p:nvSpPr>
        <p:spPr>
          <a:xfrm>
            <a:off x="8101584" y="1783080"/>
            <a:ext cx="3657600" cy="4572000"/>
          </a:xfrm>
          <a:prstGeom prst="roundRect">
            <a:avLst>
              <a:gd name="adj" fmla="val 2000"/>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6" name="Shape 14"/>
          <p:cNvSpPr/>
          <p:nvPr/>
        </p:nvSpPr>
        <p:spPr>
          <a:xfrm>
            <a:off x="8101584" y="1783080"/>
            <a:ext cx="3657600" cy="109728"/>
          </a:xfrm>
          <a:prstGeom prst="rect">
            <a:avLst/>
          </a:prstGeom>
          <a:solidFill>
            <a:srgbClr val="8A9A7B"/>
          </a:solidFill>
          <a:ln w="12700">
            <a:solidFill>
              <a:srgbClr val="8A9A7B"/>
            </a:solidFill>
            <a:prstDash val="solid"/>
          </a:ln>
        </p:spPr>
      </p:sp>
      <p:sp>
        <p:nvSpPr>
          <p:cNvPr id="17" name="Text 15"/>
          <p:cNvSpPr/>
          <p:nvPr/>
        </p:nvSpPr>
        <p:spPr>
          <a:xfrm>
            <a:off x="8375904" y="2057400"/>
            <a:ext cx="3108960" cy="320040"/>
          </a:xfrm>
          <a:prstGeom prst="rect">
            <a:avLst/>
          </a:prstGeom>
          <a:noFill/>
          <a:ln/>
        </p:spPr>
        <p:txBody>
          <a:bodyPr wrap="square" lIns="0" tIns="0" rIns="0" bIns="0" rtlCol="0" anchor="ctr"/>
          <a:lstStyle/>
          <a:p>
            <a:pPr indent="0" marL="0">
              <a:buNone/>
            </a:pPr>
            <a:r>
              <a:rPr lang="en-US" sz="1100" b="1" spc="300" kern="0" dirty="0">
                <a:solidFill>
                  <a:srgbClr val="8A9A7B"/>
                </a:solidFill>
                <a:latin typeface="Calibri" pitchFamily="34" charset="0"/>
                <a:ea typeface="Calibri" pitchFamily="34" charset="-122"/>
                <a:cs typeface="Calibri" pitchFamily="34" charset="-120"/>
              </a:rPr>
              <a:t>THE BLIND SPOT</a:t>
            </a:r>
            <a:endParaRPr lang="en-US" sz="1100" dirty="0"/>
          </a:p>
        </p:txBody>
      </p:sp>
      <p:sp>
        <p:nvSpPr>
          <p:cNvPr id="18" name="Text 16"/>
          <p:cNvSpPr/>
          <p:nvPr/>
        </p:nvSpPr>
        <p:spPr>
          <a:xfrm>
            <a:off x="8375904" y="2423160"/>
            <a:ext cx="3108960" cy="1280160"/>
          </a:xfrm>
          <a:prstGeom prst="rect">
            <a:avLst/>
          </a:prstGeom>
          <a:noFill/>
          <a:ln/>
        </p:spPr>
        <p:txBody>
          <a:bodyPr wrap="square" lIns="0" tIns="0" rIns="0" bIns="0" rtlCol="0" anchor="ctr"/>
          <a:lstStyle/>
          <a:p>
            <a:pPr indent="0" marL="0">
              <a:buNone/>
            </a:pPr>
            <a:r>
              <a:rPr lang="en-US" sz="1600" b="1" dirty="0">
                <a:solidFill>
                  <a:srgbClr val="1B2A4E"/>
                </a:solidFill>
                <a:latin typeface="Georgia" pitchFamily="34" charset="0"/>
                <a:ea typeface="Georgia" pitchFamily="34" charset="-122"/>
                <a:cs typeface="Georgia" pitchFamily="34" charset="-120"/>
              </a:rPr>
              <a:t>Most corporate ESG reduces religion to D&amp;I</a:t>
            </a:r>
            <a:endParaRPr lang="en-US" sz="1600" dirty="0"/>
          </a:p>
        </p:txBody>
      </p:sp>
      <p:sp>
        <p:nvSpPr>
          <p:cNvPr id="19" name="Text 17"/>
          <p:cNvSpPr/>
          <p:nvPr/>
        </p:nvSpPr>
        <p:spPr>
          <a:xfrm>
            <a:off x="8375904" y="3886200"/>
            <a:ext cx="3108960" cy="228600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Religion is treated as a legal risk or a holiday list — rarely as moral source. The result is sustainability without conscience: net-zero pledges that fail the trust test on the ground.</a:t>
            </a:r>
            <a:endParaRPr lang="en-US" sz="1200" dirty="0"/>
          </a:p>
        </p:txBody>
      </p:sp>
      <p:sp>
        <p:nvSpPr>
          <p:cNvPr id="20" name="Text 18"/>
          <p:cNvSpPr/>
          <p:nvPr/>
        </p:nvSpPr>
        <p:spPr>
          <a:xfrm>
            <a:off x="548640" y="6172200"/>
            <a:ext cx="11155680" cy="256032"/>
          </a:xfrm>
          <a:prstGeom prst="rect">
            <a:avLst/>
          </a:prstGeom>
          <a:noFill/>
          <a:ln/>
        </p:spPr>
        <p:txBody>
          <a:bodyPr wrap="square" lIns="0" tIns="0" rIns="0" bIns="0" rtlCol="0" anchor="ctr"/>
          <a:lstStyle/>
          <a:p>
            <a:pPr indent="0" marL="0">
              <a:buNone/>
            </a:pPr>
            <a:r>
              <a:rPr lang="en-US" sz="1000" i="1" dirty="0">
                <a:solidFill>
                  <a:srgbClr val="767069"/>
                </a:solidFill>
                <a:latin typeface="Calibri" pitchFamily="34" charset="0"/>
                <a:ea typeface="Calibri" pitchFamily="34" charset="-122"/>
                <a:cs typeface="Calibri" pitchFamily="34" charset="-120"/>
              </a:rPr>
              <a:t>Sources: Pew Research (2020) · Tucker &amp; Grim, Yale Forum on Religion and Ecology · Pope Francis, Laudato Si' (2015)</a:t>
            </a:r>
            <a:endParaRPr lang="en-US" sz="1000" dirty="0"/>
          </a:p>
        </p:txBody>
      </p:sp>
      <p:sp>
        <p:nvSpPr>
          <p:cNvPr id="21" name="Text 19"/>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767069"/>
                </a:solidFill>
                <a:latin typeface="Calibri" pitchFamily="34" charset="0"/>
                <a:ea typeface="Calibri" pitchFamily="34" charset="-122"/>
                <a:cs typeface="Calibri" pitchFamily="34" charset="-120"/>
              </a:rPr>
              <a:t>4 / 14</a:t>
            </a:r>
            <a:endParaRPr lang="en-US" sz="900" dirty="0"/>
          </a:p>
        </p:txBody>
      </p:sp>
      <p:sp>
        <p:nvSpPr>
          <p:cNvPr id="22" name="Text 20"/>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767069"/>
                </a:solidFill>
                <a:latin typeface="Georgia" pitchFamily="34" charset="0"/>
                <a:ea typeface="Georgia" pitchFamily="34" charset="-122"/>
                <a:cs typeface="Georgia" pitchFamily="34" charset="-120"/>
              </a:rPr>
              <a:t>Kokoro for the Earth  ·  Religion &amp; Sustainability  ·  Shizenkan MBA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04 · WISDOM TRADITIONS</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Different vocabularies — the same instruction: act with reverence</a:t>
            </a:r>
            <a:endParaRPr lang="en-US" sz="2600" dirty="0"/>
          </a:p>
        </p:txBody>
      </p:sp>
      <p:sp>
        <p:nvSpPr>
          <p:cNvPr id="5" name="Shape 3"/>
          <p:cNvSpPr/>
          <p:nvPr/>
        </p:nvSpPr>
        <p:spPr>
          <a:xfrm>
            <a:off x="548640" y="1783080"/>
            <a:ext cx="2212848" cy="3977640"/>
          </a:xfrm>
          <a:prstGeom prst="roundRect">
            <a:avLst>
              <a:gd name="adj" fmla="val 330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6" name="Shape 4"/>
          <p:cNvSpPr/>
          <p:nvPr/>
        </p:nvSpPr>
        <p:spPr>
          <a:xfrm>
            <a:off x="548640" y="1783080"/>
            <a:ext cx="2212848" cy="640080"/>
          </a:xfrm>
          <a:prstGeom prst="rect">
            <a:avLst/>
          </a:prstGeom>
          <a:solidFill>
            <a:srgbClr val="C8382C"/>
          </a:solidFill>
          <a:ln w="12700">
            <a:solidFill>
              <a:srgbClr val="C8382C"/>
            </a:solidFill>
            <a:prstDash val="solid"/>
          </a:ln>
        </p:spPr>
      </p:sp>
      <p:sp>
        <p:nvSpPr>
          <p:cNvPr id="7" name="Text 5"/>
          <p:cNvSpPr/>
          <p:nvPr/>
        </p:nvSpPr>
        <p:spPr>
          <a:xfrm>
            <a:off x="685800" y="1828800"/>
            <a:ext cx="1938528" cy="274320"/>
          </a:xfrm>
          <a:prstGeom prst="rect">
            <a:avLst/>
          </a:prstGeom>
          <a:noFill/>
          <a:ln/>
        </p:spPr>
        <p:txBody>
          <a:bodyPr wrap="square" lIns="0" tIns="0" rIns="0" bIns="0" rtlCol="0" anchor="ctr"/>
          <a:lstStyle/>
          <a:p>
            <a:pPr indent="0" marL="0">
              <a:buNone/>
            </a:pPr>
            <a:r>
              <a:rPr lang="en-US" sz="900" b="1" spc="200" kern="0" dirty="0">
                <a:solidFill>
                  <a:srgbClr val="F5EAD9"/>
                </a:solidFill>
                <a:latin typeface="Calibri" pitchFamily="34" charset="0"/>
                <a:ea typeface="Calibri" pitchFamily="34" charset="-122"/>
                <a:cs typeface="Calibri" pitchFamily="34" charset="-120"/>
              </a:rPr>
              <a:t>SHINTO  ·  神道</a:t>
            </a:r>
            <a:endParaRPr lang="en-US" sz="900" dirty="0"/>
          </a:p>
        </p:txBody>
      </p:sp>
      <p:sp>
        <p:nvSpPr>
          <p:cNvPr id="8" name="Text 6"/>
          <p:cNvSpPr/>
          <p:nvPr/>
        </p:nvSpPr>
        <p:spPr>
          <a:xfrm>
            <a:off x="685800" y="2075688"/>
            <a:ext cx="1938528" cy="347472"/>
          </a:xfrm>
          <a:prstGeom prst="rect">
            <a:avLst/>
          </a:prstGeom>
          <a:noFill/>
          <a:ln/>
        </p:spPr>
        <p:txBody>
          <a:bodyPr wrap="square" lIns="0" tIns="0" rIns="0" bIns="0" rtlCol="0" anchor="ctr"/>
          <a:lstStyle/>
          <a:p>
            <a:pPr indent="0" marL="0">
              <a:buNone/>
            </a:pPr>
            <a:r>
              <a:rPr lang="en-US" sz="1300" b="1" i="1" dirty="0">
                <a:solidFill>
                  <a:srgbClr val="F5EAD9"/>
                </a:solidFill>
                <a:latin typeface="Georgia" pitchFamily="34" charset="0"/>
                <a:ea typeface="Georgia" pitchFamily="34" charset="-122"/>
                <a:cs typeface="Georgia" pitchFamily="34" charset="-120"/>
              </a:rPr>
              <a:t>Kami in all things</a:t>
            </a:r>
            <a:endParaRPr lang="en-US" sz="1300" dirty="0"/>
          </a:p>
        </p:txBody>
      </p:sp>
      <p:sp>
        <p:nvSpPr>
          <p:cNvPr id="9" name="Text 7"/>
          <p:cNvSpPr/>
          <p:nvPr/>
        </p:nvSpPr>
        <p:spPr>
          <a:xfrm>
            <a:off x="713232" y="2651760"/>
            <a:ext cx="1883664" cy="310896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Forests, rivers, and mountains are dwellings of kami. Reverence for place is the starting point of stewardship.</a:t>
            </a:r>
            <a:endParaRPr lang="en-US" sz="1100" dirty="0"/>
          </a:p>
        </p:txBody>
      </p:sp>
      <p:sp>
        <p:nvSpPr>
          <p:cNvPr id="10" name="Shape 8"/>
          <p:cNvSpPr/>
          <p:nvPr/>
        </p:nvSpPr>
        <p:spPr>
          <a:xfrm>
            <a:off x="2852928" y="1783080"/>
            <a:ext cx="2212848" cy="3977640"/>
          </a:xfrm>
          <a:prstGeom prst="roundRect">
            <a:avLst>
              <a:gd name="adj" fmla="val 330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1" name="Shape 9"/>
          <p:cNvSpPr/>
          <p:nvPr/>
        </p:nvSpPr>
        <p:spPr>
          <a:xfrm>
            <a:off x="2852928" y="1783080"/>
            <a:ext cx="2212848" cy="640080"/>
          </a:xfrm>
          <a:prstGeom prst="rect">
            <a:avLst/>
          </a:prstGeom>
          <a:solidFill>
            <a:srgbClr val="C9A86A"/>
          </a:solidFill>
          <a:ln w="12700">
            <a:solidFill>
              <a:srgbClr val="C9A86A"/>
            </a:solidFill>
            <a:prstDash val="solid"/>
          </a:ln>
        </p:spPr>
      </p:sp>
      <p:sp>
        <p:nvSpPr>
          <p:cNvPr id="12" name="Text 10"/>
          <p:cNvSpPr/>
          <p:nvPr/>
        </p:nvSpPr>
        <p:spPr>
          <a:xfrm>
            <a:off x="2990088" y="1828800"/>
            <a:ext cx="1938528" cy="274320"/>
          </a:xfrm>
          <a:prstGeom prst="rect">
            <a:avLst/>
          </a:prstGeom>
          <a:noFill/>
          <a:ln/>
        </p:spPr>
        <p:txBody>
          <a:bodyPr wrap="square" lIns="0" tIns="0" rIns="0" bIns="0" rtlCol="0" anchor="ctr"/>
          <a:lstStyle/>
          <a:p>
            <a:pPr indent="0" marL="0">
              <a:buNone/>
            </a:pPr>
            <a:r>
              <a:rPr lang="en-US" sz="900" b="1" spc="200" kern="0" dirty="0">
                <a:solidFill>
                  <a:srgbClr val="F5EAD9"/>
                </a:solidFill>
                <a:latin typeface="Calibri" pitchFamily="34" charset="0"/>
                <a:ea typeface="Calibri" pitchFamily="34" charset="-122"/>
                <a:cs typeface="Calibri" pitchFamily="34" charset="-120"/>
              </a:rPr>
              <a:t>BUDDHISM  ·  仏教</a:t>
            </a:r>
            <a:endParaRPr lang="en-US" sz="900" dirty="0"/>
          </a:p>
        </p:txBody>
      </p:sp>
      <p:sp>
        <p:nvSpPr>
          <p:cNvPr id="13" name="Text 11"/>
          <p:cNvSpPr/>
          <p:nvPr/>
        </p:nvSpPr>
        <p:spPr>
          <a:xfrm>
            <a:off x="2990088" y="2075688"/>
            <a:ext cx="1938528" cy="347472"/>
          </a:xfrm>
          <a:prstGeom prst="rect">
            <a:avLst/>
          </a:prstGeom>
          <a:noFill/>
          <a:ln/>
        </p:spPr>
        <p:txBody>
          <a:bodyPr wrap="square" lIns="0" tIns="0" rIns="0" bIns="0" rtlCol="0" anchor="ctr"/>
          <a:lstStyle/>
          <a:p>
            <a:pPr indent="0" marL="0">
              <a:buNone/>
            </a:pPr>
            <a:r>
              <a:rPr lang="en-US" sz="1300" b="1" i="1" dirty="0">
                <a:solidFill>
                  <a:srgbClr val="F5EAD9"/>
                </a:solidFill>
                <a:latin typeface="Georgia" pitchFamily="34" charset="0"/>
                <a:ea typeface="Georgia" pitchFamily="34" charset="-122"/>
                <a:cs typeface="Georgia" pitchFamily="34" charset="-120"/>
              </a:rPr>
              <a:t>Interbeing (緣起)</a:t>
            </a:r>
            <a:endParaRPr lang="en-US" sz="1300" dirty="0"/>
          </a:p>
        </p:txBody>
      </p:sp>
      <p:sp>
        <p:nvSpPr>
          <p:cNvPr id="14" name="Text 12"/>
          <p:cNvSpPr/>
          <p:nvPr/>
        </p:nvSpPr>
        <p:spPr>
          <a:xfrm>
            <a:off x="3017520" y="2651760"/>
            <a:ext cx="1883664" cy="310896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No self separable from the world (Thich Nhat Hanh). What we do to the river, we do to ourselves.</a:t>
            </a:r>
            <a:endParaRPr lang="en-US" sz="1100" dirty="0"/>
          </a:p>
        </p:txBody>
      </p:sp>
      <p:sp>
        <p:nvSpPr>
          <p:cNvPr id="15" name="Shape 13"/>
          <p:cNvSpPr/>
          <p:nvPr/>
        </p:nvSpPr>
        <p:spPr>
          <a:xfrm>
            <a:off x="5157216" y="1783080"/>
            <a:ext cx="2212848" cy="3977640"/>
          </a:xfrm>
          <a:prstGeom prst="roundRect">
            <a:avLst>
              <a:gd name="adj" fmla="val 330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6" name="Shape 14"/>
          <p:cNvSpPr/>
          <p:nvPr/>
        </p:nvSpPr>
        <p:spPr>
          <a:xfrm>
            <a:off x="5157216" y="1783080"/>
            <a:ext cx="2212848" cy="640080"/>
          </a:xfrm>
          <a:prstGeom prst="rect">
            <a:avLst/>
          </a:prstGeom>
          <a:solidFill>
            <a:srgbClr val="8A9A7B"/>
          </a:solidFill>
          <a:ln w="12700">
            <a:solidFill>
              <a:srgbClr val="8A9A7B"/>
            </a:solidFill>
            <a:prstDash val="solid"/>
          </a:ln>
        </p:spPr>
      </p:sp>
      <p:sp>
        <p:nvSpPr>
          <p:cNvPr id="17" name="Text 15"/>
          <p:cNvSpPr/>
          <p:nvPr/>
        </p:nvSpPr>
        <p:spPr>
          <a:xfrm>
            <a:off x="5294376" y="1828800"/>
            <a:ext cx="1938528" cy="274320"/>
          </a:xfrm>
          <a:prstGeom prst="rect">
            <a:avLst/>
          </a:prstGeom>
          <a:noFill/>
          <a:ln/>
        </p:spPr>
        <p:txBody>
          <a:bodyPr wrap="square" lIns="0" tIns="0" rIns="0" bIns="0" rtlCol="0" anchor="ctr"/>
          <a:lstStyle/>
          <a:p>
            <a:pPr indent="0" marL="0">
              <a:buNone/>
            </a:pPr>
            <a:r>
              <a:rPr lang="en-US" sz="900" b="1" spc="200" kern="0" dirty="0">
                <a:solidFill>
                  <a:srgbClr val="F5EAD9"/>
                </a:solidFill>
                <a:latin typeface="Calibri" pitchFamily="34" charset="0"/>
                <a:ea typeface="Calibri" pitchFamily="34" charset="-122"/>
                <a:cs typeface="Calibri" pitchFamily="34" charset="-120"/>
              </a:rPr>
              <a:t>CHRISTIANITY</a:t>
            </a:r>
            <a:endParaRPr lang="en-US" sz="900" dirty="0"/>
          </a:p>
        </p:txBody>
      </p:sp>
      <p:sp>
        <p:nvSpPr>
          <p:cNvPr id="18" name="Text 16"/>
          <p:cNvSpPr/>
          <p:nvPr/>
        </p:nvSpPr>
        <p:spPr>
          <a:xfrm>
            <a:off x="5294376" y="2075688"/>
            <a:ext cx="1938528" cy="347472"/>
          </a:xfrm>
          <a:prstGeom prst="rect">
            <a:avLst/>
          </a:prstGeom>
          <a:noFill/>
          <a:ln/>
        </p:spPr>
        <p:txBody>
          <a:bodyPr wrap="square" lIns="0" tIns="0" rIns="0" bIns="0" rtlCol="0" anchor="ctr"/>
          <a:lstStyle/>
          <a:p>
            <a:pPr indent="0" marL="0">
              <a:buNone/>
            </a:pPr>
            <a:r>
              <a:rPr lang="en-US" sz="1300" b="1" i="1" dirty="0">
                <a:solidFill>
                  <a:srgbClr val="F5EAD9"/>
                </a:solidFill>
                <a:latin typeface="Georgia" pitchFamily="34" charset="0"/>
                <a:ea typeface="Georgia" pitchFamily="34" charset="-122"/>
                <a:cs typeface="Georgia" pitchFamily="34" charset="-120"/>
              </a:rPr>
              <a:t>Care for our common home</a:t>
            </a:r>
            <a:endParaRPr lang="en-US" sz="1300" dirty="0"/>
          </a:p>
        </p:txBody>
      </p:sp>
      <p:sp>
        <p:nvSpPr>
          <p:cNvPr id="19" name="Text 17"/>
          <p:cNvSpPr/>
          <p:nvPr/>
        </p:nvSpPr>
        <p:spPr>
          <a:xfrm>
            <a:off x="5321808" y="2651760"/>
            <a:ext cx="1883664" cy="310896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Laudato Si' (Pope Francis, 2015): integral ecology — the cry of the Earth and the cry of the poor are one cry.</a:t>
            </a:r>
            <a:endParaRPr lang="en-US" sz="1100" dirty="0"/>
          </a:p>
        </p:txBody>
      </p:sp>
      <p:sp>
        <p:nvSpPr>
          <p:cNvPr id="20" name="Shape 18"/>
          <p:cNvSpPr/>
          <p:nvPr/>
        </p:nvSpPr>
        <p:spPr>
          <a:xfrm>
            <a:off x="7461504" y="1783080"/>
            <a:ext cx="2212848" cy="3977640"/>
          </a:xfrm>
          <a:prstGeom prst="roundRect">
            <a:avLst>
              <a:gd name="adj" fmla="val 330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21" name="Shape 19"/>
          <p:cNvSpPr/>
          <p:nvPr/>
        </p:nvSpPr>
        <p:spPr>
          <a:xfrm>
            <a:off x="7461504" y="1783080"/>
            <a:ext cx="2212848" cy="640080"/>
          </a:xfrm>
          <a:prstGeom prst="rect">
            <a:avLst/>
          </a:prstGeom>
          <a:solidFill>
            <a:srgbClr val="1B2A4E"/>
          </a:solidFill>
          <a:ln w="12700">
            <a:solidFill>
              <a:srgbClr val="1B2A4E"/>
            </a:solidFill>
            <a:prstDash val="solid"/>
          </a:ln>
        </p:spPr>
      </p:sp>
      <p:sp>
        <p:nvSpPr>
          <p:cNvPr id="22" name="Text 20"/>
          <p:cNvSpPr/>
          <p:nvPr/>
        </p:nvSpPr>
        <p:spPr>
          <a:xfrm>
            <a:off x="7598664" y="1828800"/>
            <a:ext cx="1938528" cy="274320"/>
          </a:xfrm>
          <a:prstGeom prst="rect">
            <a:avLst/>
          </a:prstGeom>
          <a:noFill/>
          <a:ln/>
        </p:spPr>
        <p:txBody>
          <a:bodyPr wrap="square" lIns="0" tIns="0" rIns="0" bIns="0" rtlCol="0" anchor="ctr"/>
          <a:lstStyle/>
          <a:p>
            <a:pPr indent="0" marL="0">
              <a:buNone/>
            </a:pPr>
            <a:r>
              <a:rPr lang="en-US" sz="900" b="1" spc="200" kern="0" dirty="0">
                <a:solidFill>
                  <a:srgbClr val="F5EAD9"/>
                </a:solidFill>
                <a:latin typeface="Calibri" pitchFamily="34" charset="0"/>
                <a:ea typeface="Calibri" pitchFamily="34" charset="-122"/>
                <a:cs typeface="Calibri" pitchFamily="34" charset="-120"/>
              </a:rPr>
              <a:t>ISLAM  ·  إسلام</a:t>
            </a:r>
            <a:endParaRPr lang="en-US" sz="900" dirty="0"/>
          </a:p>
        </p:txBody>
      </p:sp>
      <p:sp>
        <p:nvSpPr>
          <p:cNvPr id="23" name="Text 21"/>
          <p:cNvSpPr/>
          <p:nvPr/>
        </p:nvSpPr>
        <p:spPr>
          <a:xfrm>
            <a:off x="7598664" y="2075688"/>
            <a:ext cx="1938528" cy="347472"/>
          </a:xfrm>
          <a:prstGeom prst="rect">
            <a:avLst/>
          </a:prstGeom>
          <a:noFill/>
          <a:ln/>
        </p:spPr>
        <p:txBody>
          <a:bodyPr wrap="square" lIns="0" tIns="0" rIns="0" bIns="0" rtlCol="0" anchor="ctr"/>
          <a:lstStyle/>
          <a:p>
            <a:pPr indent="0" marL="0">
              <a:buNone/>
            </a:pPr>
            <a:r>
              <a:rPr lang="en-US" sz="1300" b="1" i="1" dirty="0">
                <a:solidFill>
                  <a:srgbClr val="F5EAD9"/>
                </a:solidFill>
                <a:latin typeface="Georgia" pitchFamily="34" charset="0"/>
                <a:ea typeface="Georgia" pitchFamily="34" charset="-122"/>
                <a:cs typeface="Georgia" pitchFamily="34" charset="-120"/>
              </a:rPr>
              <a:t>Khilāfa — trustees, not owners</a:t>
            </a:r>
            <a:endParaRPr lang="en-US" sz="1300" dirty="0"/>
          </a:p>
        </p:txBody>
      </p:sp>
      <p:sp>
        <p:nvSpPr>
          <p:cNvPr id="24" name="Text 22"/>
          <p:cNvSpPr/>
          <p:nvPr/>
        </p:nvSpPr>
        <p:spPr>
          <a:xfrm>
            <a:off x="7626096" y="2651760"/>
            <a:ext cx="1883664" cy="310896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Humans are stewards (khalīfah) of creation; mīzān (balance) and ʿadl (justice) order both market and ecology.</a:t>
            </a:r>
            <a:endParaRPr lang="en-US" sz="1100" dirty="0"/>
          </a:p>
        </p:txBody>
      </p:sp>
      <p:sp>
        <p:nvSpPr>
          <p:cNvPr id="25" name="Shape 23"/>
          <p:cNvSpPr/>
          <p:nvPr/>
        </p:nvSpPr>
        <p:spPr>
          <a:xfrm>
            <a:off x="9765792" y="1783080"/>
            <a:ext cx="2212848" cy="3977640"/>
          </a:xfrm>
          <a:prstGeom prst="roundRect">
            <a:avLst>
              <a:gd name="adj" fmla="val 330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26" name="Shape 24"/>
          <p:cNvSpPr/>
          <p:nvPr/>
        </p:nvSpPr>
        <p:spPr>
          <a:xfrm>
            <a:off x="9765792" y="1783080"/>
            <a:ext cx="2212848" cy="640080"/>
          </a:xfrm>
          <a:prstGeom prst="rect">
            <a:avLst/>
          </a:prstGeom>
          <a:solidFill>
            <a:srgbClr val="6B4F35"/>
          </a:solidFill>
          <a:ln w="12700">
            <a:solidFill>
              <a:srgbClr val="6B4F35"/>
            </a:solidFill>
            <a:prstDash val="solid"/>
          </a:ln>
        </p:spPr>
      </p:sp>
      <p:sp>
        <p:nvSpPr>
          <p:cNvPr id="27" name="Text 25"/>
          <p:cNvSpPr/>
          <p:nvPr/>
        </p:nvSpPr>
        <p:spPr>
          <a:xfrm>
            <a:off x="9902952" y="1828800"/>
            <a:ext cx="1938528" cy="274320"/>
          </a:xfrm>
          <a:prstGeom prst="rect">
            <a:avLst/>
          </a:prstGeom>
          <a:noFill/>
          <a:ln/>
        </p:spPr>
        <p:txBody>
          <a:bodyPr wrap="square" lIns="0" tIns="0" rIns="0" bIns="0" rtlCol="0" anchor="ctr"/>
          <a:lstStyle/>
          <a:p>
            <a:pPr indent="0" marL="0">
              <a:buNone/>
            </a:pPr>
            <a:r>
              <a:rPr lang="en-US" sz="900" b="1" spc="200" kern="0" dirty="0">
                <a:solidFill>
                  <a:srgbClr val="F5EAD9"/>
                </a:solidFill>
                <a:latin typeface="Calibri" pitchFamily="34" charset="0"/>
                <a:ea typeface="Calibri" pitchFamily="34" charset="-122"/>
                <a:cs typeface="Calibri" pitchFamily="34" charset="-120"/>
              </a:rPr>
              <a:t>INDIGENOUS  ·  ANIMIST</a:t>
            </a:r>
            <a:endParaRPr lang="en-US" sz="900" dirty="0"/>
          </a:p>
        </p:txBody>
      </p:sp>
      <p:sp>
        <p:nvSpPr>
          <p:cNvPr id="28" name="Text 26"/>
          <p:cNvSpPr/>
          <p:nvPr/>
        </p:nvSpPr>
        <p:spPr>
          <a:xfrm>
            <a:off x="9902952" y="2075688"/>
            <a:ext cx="1938528" cy="347472"/>
          </a:xfrm>
          <a:prstGeom prst="rect">
            <a:avLst/>
          </a:prstGeom>
          <a:noFill/>
          <a:ln/>
        </p:spPr>
        <p:txBody>
          <a:bodyPr wrap="square" lIns="0" tIns="0" rIns="0" bIns="0" rtlCol="0" anchor="ctr"/>
          <a:lstStyle/>
          <a:p>
            <a:pPr indent="0" marL="0">
              <a:buNone/>
            </a:pPr>
            <a:r>
              <a:rPr lang="en-US" sz="1300" b="1" i="1" dirty="0">
                <a:solidFill>
                  <a:srgbClr val="F5EAD9"/>
                </a:solidFill>
                <a:latin typeface="Georgia" pitchFamily="34" charset="0"/>
                <a:ea typeface="Georgia" pitchFamily="34" charset="-122"/>
                <a:cs typeface="Georgia" pitchFamily="34" charset="-120"/>
              </a:rPr>
              <a:t>Land as ancestor, place as kin</a:t>
            </a:r>
            <a:endParaRPr lang="en-US" sz="1300" dirty="0"/>
          </a:p>
        </p:txBody>
      </p:sp>
      <p:sp>
        <p:nvSpPr>
          <p:cNvPr id="29" name="Text 27"/>
          <p:cNvSpPr/>
          <p:nvPr/>
        </p:nvSpPr>
        <p:spPr>
          <a:xfrm>
            <a:off x="9930384" y="2651760"/>
            <a:ext cx="1883664" cy="310896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From Vietnamese tổ tiên to First Nations cosmologies: relationship — not ownership — is the moral primitive.</a:t>
            </a:r>
            <a:endParaRPr lang="en-US" sz="1100" dirty="0"/>
          </a:p>
        </p:txBody>
      </p:sp>
      <p:sp>
        <p:nvSpPr>
          <p:cNvPr id="30" name="Shape 28"/>
          <p:cNvSpPr/>
          <p:nvPr/>
        </p:nvSpPr>
        <p:spPr>
          <a:xfrm>
            <a:off x="548640" y="5897880"/>
            <a:ext cx="11091672" cy="411480"/>
          </a:xfrm>
          <a:prstGeom prst="rect">
            <a:avLst/>
          </a:prstGeom>
          <a:solidFill>
            <a:srgbClr val="1B2A4E"/>
          </a:solidFill>
          <a:ln w="12700">
            <a:solidFill>
              <a:srgbClr val="1B2A4E"/>
            </a:solidFill>
            <a:prstDash val="solid"/>
          </a:ln>
        </p:spPr>
      </p:sp>
      <p:sp>
        <p:nvSpPr>
          <p:cNvPr id="31" name="Text 29"/>
          <p:cNvSpPr/>
          <p:nvPr/>
        </p:nvSpPr>
        <p:spPr>
          <a:xfrm>
            <a:off x="548640" y="5897880"/>
            <a:ext cx="11091672" cy="411480"/>
          </a:xfrm>
          <a:prstGeom prst="rect">
            <a:avLst/>
          </a:prstGeom>
          <a:noFill/>
          <a:ln/>
        </p:spPr>
        <p:txBody>
          <a:bodyPr wrap="square" lIns="0" tIns="0" rIns="0" bIns="0" rtlCol="0" anchor="ctr"/>
          <a:lstStyle/>
          <a:p>
            <a:pPr algn="ctr" indent="0" marL="0">
              <a:buNone/>
            </a:pPr>
            <a:r>
              <a:rPr lang="en-US" sz="1300" b="1" i="1" dirty="0">
                <a:solidFill>
                  <a:srgbClr val="C9A86A"/>
                </a:solidFill>
                <a:latin typeface="Georgia" pitchFamily="34" charset="0"/>
                <a:ea typeface="Georgia" pitchFamily="34" charset="-122"/>
                <a:cs typeface="Georgia" pitchFamily="34" charset="-120"/>
              </a:rPr>
              <a:t>Different doctrines. Convergent ethic — humans belong inside the web of life, not above it.</a:t>
            </a:r>
            <a:endParaRPr lang="en-US" sz="1300" dirty="0"/>
          </a:p>
        </p:txBody>
      </p:sp>
      <p:sp>
        <p:nvSpPr>
          <p:cNvPr id="32" name="Text 30"/>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767069"/>
                </a:solidFill>
                <a:latin typeface="Calibri" pitchFamily="34" charset="0"/>
                <a:ea typeface="Calibri" pitchFamily="34" charset="-122"/>
                <a:cs typeface="Calibri" pitchFamily="34" charset="-120"/>
              </a:rPr>
              <a:t>5 / 14</a:t>
            </a:r>
            <a:endParaRPr lang="en-US" sz="900" dirty="0"/>
          </a:p>
        </p:txBody>
      </p:sp>
      <p:sp>
        <p:nvSpPr>
          <p:cNvPr id="33" name="Text 31"/>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767069"/>
                </a:solidFill>
                <a:latin typeface="Georgia" pitchFamily="34" charset="0"/>
                <a:ea typeface="Georgia" pitchFamily="34" charset="-122"/>
                <a:cs typeface="Georgia" pitchFamily="34" charset="-120"/>
              </a:rPr>
              <a:t>Kokoro for the Earth  ·  Religion &amp; Sustainability  ·  Shizenkan MBA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05 · THE LEAP</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From respect to kokoro — the leap of obligation</a:t>
            </a:r>
            <a:endParaRPr lang="en-US" sz="2600" dirty="0"/>
          </a:p>
        </p:txBody>
      </p:sp>
      <p:sp>
        <p:nvSpPr>
          <p:cNvPr id="5" name="Shape 3"/>
          <p:cNvSpPr/>
          <p:nvPr/>
        </p:nvSpPr>
        <p:spPr>
          <a:xfrm>
            <a:off x="548640" y="1783080"/>
            <a:ext cx="5394960" cy="4297680"/>
          </a:xfrm>
          <a:prstGeom prst="roundRect">
            <a:avLst>
              <a:gd name="adj" fmla="val 1702"/>
            </a:avLst>
          </a:prstGeom>
          <a:solidFill>
            <a:srgbClr val="FFFFFF"/>
          </a:solidFill>
          <a:ln w="12700">
            <a:solidFill>
              <a:srgbClr val="B8B0A2"/>
            </a:solidFill>
            <a:prstDash val="solid"/>
          </a:ln>
          <a:effectLst>
            <a:outerShdw sx="100000" sy="100000" kx="0" ky="0" algn="bl" rotWithShape="0" blurRad="101600" dist="12700" dir="5400000">
              <a:srgbClr val="000000">
                <a:alpha val="12000"/>
              </a:srgbClr>
            </a:outerShdw>
          </a:effectLst>
        </p:spPr>
      </p:sp>
      <p:sp>
        <p:nvSpPr>
          <p:cNvPr id="6" name="Shape 4"/>
          <p:cNvSpPr/>
          <p:nvPr/>
        </p:nvSpPr>
        <p:spPr>
          <a:xfrm>
            <a:off x="548640" y="1783080"/>
            <a:ext cx="5394960" cy="457200"/>
          </a:xfrm>
          <a:prstGeom prst="rect">
            <a:avLst/>
          </a:prstGeom>
          <a:solidFill>
            <a:srgbClr val="767069"/>
          </a:solidFill>
          <a:ln w="12700">
            <a:solidFill>
              <a:srgbClr val="767069"/>
            </a:solidFill>
            <a:prstDash val="solid"/>
          </a:ln>
        </p:spPr>
      </p:sp>
      <p:sp>
        <p:nvSpPr>
          <p:cNvPr id="7" name="Text 5"/>
          <p:cNvSpPr/>
          <p:nvPr/>
        </p:nvSpPr>
        <p:spPr>
          <a:xfrm>
            <a:off x="731520" y="1783080"/>
            <a:ext cx="5029200" cy="45720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RESPECT  ·  COMPLIANCE FLOOR</a:t>
            </a:r>
            <a:endParaRPr lang="en-US" sz="1100" dirty="0"/>
          </a:p>
        </p:txBody>
      </p:sp>
      <p:sp>
        <p:nvSpPr>
          <p:cNvPr id="8" name="Text 6"/>
          <p:cNvSpPr/>
          <p:nvPr/>
        </p:nvSpPr>
        <p:spPr>
          <a:xfrm>
            <a:off x="777240" y="2423160"/>
            <a:ext cx="5029200" cy="457200"/>
          </a:xfrm>
          <a:prstGeom prst="rect">
            <a:avLst/>
          </a:prstGeom>
          <a:noFill/>
          <a:ln/>
        </p:spPr>
        <p:txBody>
          <a:bodyPr wrap="square" lIns="0" tIns="0" rIns="0" bIns="0" rtlCol="0" anchor="ctr"/>
          <a:lstStyle/>
          <a:p>
            <a:pPr indent="0" marL="0">
              <a:buNone/>
            </a:pPr>
            <a:r>
              <a:rPr lang="en-US" sz="2000" b="1" i="1" dirty="0">
                <a:solidFill>
                  <a:srgbClr val="1B2A4E"/>
                </a:solidFill>
                <a:latin typeface="Georgia" pitchFamily="34" charset="0"/>
                <a:ea typeface="Georgia" pitchFamily="34" charset="-122"/>
                <a:cs typeface="Georgia" pitchFamily="34" charset="-120"/>
              </a:rPr>
              <a:t>Don't offend.</a:t>
            </a:r>
            <a:endParaRPr lang="en-US" sz="2000" dirty="0"/>
          </a:p>
        </p:txBody>
      </p:sp>
      <p:sp>
        <p:nvSpPr>
          <p:cNvPr id="9" name="Text 7"/>
          <p:cNvSpPr/>
          <p:nvPr/>
        </p:nvSpPr>
        <p:spPr>
          <a:xfrm>
            <a:off x="777240" y="3108960"/>
            <a:ext cx="4754880" cy="457200"/>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 Comply with local law — nothing further</a:t>
            </a:r>
            <a:endParaRPr lang="en-US" sz="1300" dirty="0"/>
          </a:p>
        </p:txBody>
      </p:sp>
      <p:sp>
        <p:nvSpPr>
          <p:cNvPr id="10" name="Text 8"/>
          <p:cNvSpPr/>
          <p:nvPr/>
        </p:nvSpPr>
        <p:spPr>
          <a:xfrm>
            <a:off x="777240" y="3611880"/>
            <a:ext cx="4754880" cy="457200"/>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 Add religious holidays to the HR calendar</a:t>
            </a:r>
            <a:endParaRPr lang="en-US" sz="1300" dirty="0"/>
          </a:p>
        </p:txBody>
      </p:sp>
      <p:sp>
        <p:nvSpPr>
          <p:cNvPr id="11" name="Text 9"/>
          <p:cNvSpPr/>
          <p:nvPr/>
        </p:nvSpPr>
        <p:spPr>
          <a:xfrm>
            <a:off x="777240" y="4114800"/>
            <a:ext cx="4754880" cy="457200"/>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 Avoid difficult topics in mixed company</a:t>
            </a:r>
            <a:endParaRPr lang="en-US" sz="1300" dirty="0"/>
          </a:p>
        </p:txBody>
      </p:sp>
      <p:sp>
        <p:nvSpPr>
          <p:cNvPr id="12" name="Text 10"/>
          <p:cNvSpPr/>
          <p:nvPr/>
        </p:nvSpPr>
        <p:spPr>
          <a:xfrm>
            <a:off x="777240" y="4617720"/>
            <a:ext cx="4754880" cy="457200"/>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 Treat religion and culture as legal risks</a:t>
            </a:r>
            <a:endParaRPr lang="en-US" sz="1300" dirty="0"/>
          </a:p>
        </p:txBody>
      </p:sp>
      <p:sp>
        <p:nvSpPr>
          <p:cNvPr id="13" name="Text 11"/>
          <p:cNvSpPr/>
          <p:nvPr/>
        </p:nvSpPr>
        <p:spPr>
          <a:xfrm>
            <a:off x="777240" y="5120640"/>
            <a:ext cx="4754880" cy="457200"/>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 Measure success in complaints avoided</a:t>
            </a:r>
            <a:endParaRPr lang="en-US" sz="1300" dirty="0"/>
          </a:p>
        </p:txBody>
      </p:sp>
      <p:sp>
        <p:nvSpPr>
          <p:cNvPr id="14" name="Shape 12"/>
          <p:cNvSpPr/>
          <p:nvPr/>
        </p:nvSpPr>
        <p:spPr>
          <a:xfrm>
            <a:off x="6245352" y="1783080"/>
            <a:ext cx="5394960" cy="4297680"/>
          </a:xfrm>
          <a:prstGeom prst="roundRect">
            <a:avLst>
              <a:gd name="adj" fmla="val 1702"/>
            </a:avLst>
          </a:prstGeom>
          <a:solidFill>
            <a:srgbClr val="1B2A4E"/>
          </a:solidFill>
          <a:ln w="19050">
            <a:solidFill>
              <a:srgbClr val="C9A86A"/>
            </a:solidFill>
            <a:prstDash val="solid"/>
          </a:ln>
          <a:effectLst>
            <a:outerShdw sx="100000" sy="100000" kx="0" ky="0" algn="bl" rotWithShape="0" blurRad="101600" dist="12700" dir="5400000">
              <a:srgbClr val="000000">
                <a:alpha val="12000"/>
              </a:srgbClr>
            </a:outerShdw>
          </a:effectLst>
        </p:spPr>
      </p:sp>
      <p:sp>
        <p:nvSpPr>
          <p:cNvPr id="15" name="Shape 13"/>
          <p:cNvSpPr/>
          <p:nvPr/>
        </p:nvSpPr>
        <p:spPr>
          <a:xfrm>
            <a:off x="6245352" y="1783080"/>
            <a:ext cx="5394960" cy="457200"/>
          </a:xfrm>
          <a:prstGeom prst="rect">
            <a:avLst/>
          </a:prstGeom>
          <a:solidFill>
            <a:srgbClr val="C8382C"/>
          </a:solidFill>
          <a:ln w="12700">
            <a:solidFill>
              <a:srgbClr val="C8382C"/>
            </a:solidFill>
            <a:prstDash val="solid"/>
          </a:ln>
        </p:spPr>
      </p:sp>
      <p:sp>
        <p:nvSpPr>
          <p:cNvPr id="16" name="Text 14"/>
          <p:cNvSpPr/>
          <p:nvPr/>
        </p:nvSpPr>
        <p:spPr>
          <a:xfrm>
            <a:off x="6428232" y="1783080"/>
            <a:ext cx="5029200" cy="45720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KOKORO  ·  ACT FROM CONSCIENCE</a:t>
            </a:r>
            <a:endParaRPr lang="en-US" sz="1100" dirty="0"/>
          </a:p>
        </p:txBody>
      </p:sp>
      <p:sp>
        <p:nvSpPr>
          <p:cNvPr id="17" name="Text 15"/>
          <p:cNvSpPr/>
          <p:nvPr/>
        </p:nvSpPr>
        <p:spPr>
          <a:xfrm>
            <a:off x="6473952" y="2423160"/>
            <a:ext cx="5029200" cy="457200"/>
          </a:xfrm>
          <a:prstGeom prst="rect">
            <a:avLst/>
          </a:prstGeom>
          <a:noFill/>
          <a:ln/>
        </p:spPr>
        <p:txBody>
          <a:bodyPr wrap="square" lIns="0" tIns="0" rIns="0" bIns="0" rtlCol="0" anchor="ctr"/>
          <a:lstStyle/>
          <a:p>
            <a:pPr indent="0" marL="0">
              <a:buNone/>
            </a:pPr>
            <a:r>
              <a:rPr lang="en-US" sz="2000" b="1" i="1" dirty="0">
                <a:solidFill>
                  <a:srgbClr val="C9A86A"/>
                </a:solidFill>
                <a:latin typeface="Georgia" pitchFamily="34" charset="0"/>
                <a:ea typeface="Georgia" pitchFamily="34" charset="-122"/>
                <a:cs typeface="Georgia" pitchFamily="34" charset="-120"/>
              </a:rPr>
              <a:t>Act because the other matters.</a:t>
            </a:r>
            <a:endParaRPr lang="en-US" sz="2000" dirty="0"/>
          </a:p>
        </p:txBody>
      </p:sp>
      <p:sp>
        <p:nvSpPr>
          <p:cNvPr id="18" name="Text 16"/>
          <p:cNvSpPr/>
          <p:nvPr/>
        </p:nvSpPr>
        <p:spPr>
          <a:xfrm>
            <a:off x="6473952" y="3108960"/>
            <a:ext cx="4937760" cy="457200"/>
          </a:xfrm>
          <a:prstGeom prst="rect">
            <a:avLst/>
          </a:prstGeom>
          <a:noFill/>
          <a:ln/>
        </p:spPr>
        <p:txBody>
          <a:bodyPr wrap="square" lIns="0" tIns="0" rIns="0" bIns="0" rtlCol="0" anchor="ctr"/>
          <a:lstStyle/>
          <a:p>
            <a:pPr indent="0" marL="0">
              <a:buNone/>
            </a:pPr>
            <a:r>
              <a:rPr lang="en-US" sz="1300" dirty="0">
                <a:solidFill>
                  <a:srgbClr val="F5EAD9"/>
                </a:solidFill>
                <a:latin typeface="Calibri" pitchFamily="34" charset="0"/>
                <a:ea typeface="Calibri" pitchFamily="34" charset="-122"/>
                <a:cs typeface="Calibri" pitchFamily="34" charset="-120"/>
              </a:rPr>
              <a:t>• Hold yourself above the law — to the duty</a:t>
            </a:r>
            <a:endParaRPr lang="en-US" sz="1300" dirty="0"/>
          </a:p>
        </p:txBody>
      </p:sp>
      <p:sp>
        <p:nvSpPr>
          <p:cNvPr id="19" name="Text 17"/>
          <p:cNvSpPr/>
          <p:nvPr/>
        </p:nvSpPr>
        <p:spPr>
          <a:xfrm>
            <a:off x="6473952" y="3611880"/>
            <a:ext cx="4937760" cy="457200"/>
          </a:xfrm>
          <a:prstGeom prst="rect">
            <a:avLst/>
          </a:prstGeom>
          <a:noFill/>
          <a:ln/>
        </p:spPr>
        <p:txBody>
          <a:bodyPr wrap="square" lIns="0" tIns="0" rIns="0" bIns="0" rtlCol="0" anchor="ctr"/>
          <a:lstStyle/>
          <a:p>
            <a:pPr indent="0" marL="0">
              <a:buNone/>
            </a:pPr>
            <a:r>
              <a:rPr lang="en-US" sz="1300" dirty="0">
                <a:solidFill>
                  <a:srgbClr val="F5EAD9"/>
                </a:solidFill>
                <a:latin typeface="Calibri" pitchFamily="34" charset="0"/>
                <a:ea typeface="Calibri" pitchFamily="34" charset="-122"/>
                <a:cs typeface="Calibri" pitchFamily="34" charset="-120"/>
              </a:rPr>
              <a:t>• Build operations around local religious rhythm</a:t>
            </a:r>
            <a:endParaRPr lang="en-US" sz="1300" dirty="0"/>
          </a:p>
        </p:txBody>
      </p:sp>
      <p:sp>
        <p:nvSpPr>
          <p:cNvPr id="20" name="Text 18"/>
          <p:cNvSpPr/>
          <p:nvPr/>
        </p:nvSpPr>
        <p:spPr>
          <a:xfrm>
            <a:off x="6473952" y="4114800"/>
            <a:ext cx="4937760" cy="457200"/>
          </a:xfrm>
          <a:prstGeom prst="rect">
            <a:avLst/>
          </a:prstGeom>
          <a:noFill/>
          <a:ln/>
        </p:spPr>
        <p:txBody>
          <a:bodyPr wrap="square" lIns="0" tIns="0" rIns="0" bIns="0" rtlCol="0" anchor="ctr"/>
          <a:lstStyle/>
          <a:p>
            <a:pPr indent="0" marL="0">
              <a:buNone/>
            </a:pPr>
            <a:r>
              <a:rPr lang="en-US" sz="1300" dirty="0">
                <a:solidFill>
                  <a:srgbClr val="F5EAD9"/>
                </a:solidFill>
                <a:latin typeface="Calibri" pitchFamily="34" charset="0"/>
                <a:ea typeface="Calibri" pitchFamily="34" charset="-122"/>
                <a:cs typeface="Calibri" pitchFamily="34" charset="-120"/>
              </a:rPr>
              <a:t>• Engage difficult topics with humility</a:t>
            </a:r>
            <a:endParaRPr lang="en-US" sz="1300" dirty="0"/>
          </a:p>
        </p:txBody>
      </p:sp>
      <p:sp>
        <p:nvSpPr>
          <p:cNvPr id="21" name="Text 19"/>
          <p:cNvSpPr/>
          <p:nvPr/>
        </p:nvSpPr>
        <p:spPr>
          <a:xfrm>
            <a:off x="6473952" y="4617720"/>
            <a:ext cx="4937760" cy="457200"/>
          </a:xfrm>
          <a:prstGeom prst="rect">
            <a:avLst/>
          </a:prstGeom>
          <a:noFill/>
          <a:ln/>
        </p:spPr>
        <p:txBody>
          <a:bodyPr wrap="square" lIns="0" tIns="0" rIns="0" bIns="0" rtlCol="0" anchor="ctr"/>
          <a:lstStyle/>
          <a:p>
            <a:pPr indent="0" marL="0">
              <a:buNone/>
            </a:pPr>
            <a:r>
              <a:rPr lang="en-US" sz="1300" dirty="0">
                <a:solidFill>
                  <a:srgbClr val="F5EAD9"/>
                </a:solidFill>
                <a:latin typeface="Calibri" pitchFamily="34" charset="0"/>
                <a:ea typeface="Calibri" pitchFamily="34" charset="-122"/>
                <a:cs typeface="Calibri" pitchFamily="34" charset="-120"/>
              </a:rPr>
              <a:t>• Treat religion and culture as moral sources</a:t>
            </a:r>
            <a:endParaRPr lang="en-US" sz="1300" dirty="0"/>
          </a:p>
        </p:txBody>
      </p:sp>
      <p:sp>
        <p:nvSpPr>
          <p:cNvPr id="22" name="Text 20"/>
          <p:cNvSpPr/>
          <p:nvPr/>
        </p:nvSpPr>
        <p:spPr>
          <a:xfrm>
            <a:off x="6473952" y="5120640"/>
            <a:ext cx="4937760" cy="457200"/>
          </a:xfrm>
          <a:prstGeom prst="rect">
            <a:avLst/>
          </a:prstGeom>
          <a:noFill/>
          <a:ln/>
        </p:spPr>
        <p:txBody>
          <a:bodyPr wrap="square" lIns="0" tIns="0" rIns="0" bIns="0" rtlCol="0" anchor="ctr"/>
          <a:lstStyle/>
          <a:p>
            <a:pPr indent="0" marL="0">
              <a:buNone/>
            </a:pPr>
            <a:r>
              <a:rPr lang="en-US" sz="1300" dirty="0">
                <a:solidFill>
                  <a:srgbClr val="F5EAD9"/>
                </a:solidFill>
                <a:latin typeface="Calibri" pitchFamily="34" charset="0"/>
                <a:ea typeface="Calibri" pitchFamily="34" charset="-122"/>
                <a:cs typeface="Calibri" pitchFamily="34" charset="-120"/>
              </a:rPr>
              <a:t>• Measure success in trust earned</a:t>
            </a:r>
            <a:endParaRPr lang="en-US" sz="1300" dirty="0"/>
          </a:p>
        </p:txBody>
      </p:sp>
      <p:sp>
        <p:nvSpPr>
          <p:cNvPr id="23" name="Text 21"/>
          <p:cNvSpPr/>
          <p:nvPr/>
        </p:nvSpPr>
        <p:spPr>
          <a:xfrm>
            <a:off x="548640" y="6263640"/>
            <a:ext cx="11155680" cy="320040"/>
          </a:xfrm>
          <a:prstGeom prst="rect">
            <a:avLst/>
          </a:prstGeom>
          <a:noFill/>
          <a:ln/>
        </p:spPr>
        <p:txBody>
          <a:bodyPr wrap="square" lIns="0" tIns="0" rIns="0" bIns="0" rtlCol="0" anchor="ctr"/>
          <a:lstStyle/>
          <a:p>
            <a:pPr algn="ctr" indent="0" marL="0">
              <a:buNone/>
            </a:pPr>
            <a:r>
              <a:rPr lang="en-US" sz="1400" b="1" i="1" dirty="0">
                <a:solidFill>
                  <a:srgbClr val="C8382C"/>
                </a:solidFill>
                <a:latin typeface="Georgia" pitchFamily="34" charset="0"/>
                <a:ea typeface="Georgia" pitchFamily="34" charset="-122"/>
                <a:cs typeface="Georgia" pitchFamily="34" charset="-120"/>
              </a:rPr>
              <a:t>Respect is compliance.  Kokoro is conscience.</a:t>
            </a:r>
            <a:endParaRPr lang="en-US" sz="1400" dirty="0"/>
          </a:p>
        </p:txBody>
      </p:sp>
      <p:sp>
        <p:nvSpPr>
          <p:cNvPr id="24" name="Text 22"/>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767069"/>
                </a:solidFill>
                <a:latin typeface="Calibri" pitchFamily="34" charset="0"/>
                <a:ea typeface="Calibri" pitchFamily="34" charset="-122"/>
                <a:cs typeface="Calibri" pitchFamily="34" charset="-120"/>
              </a:rPr>
              <a:t>6 / 14</a:t>
            </a:r>
            <a:endParaRPr lang="en-US" sz="900" dirty="0"/>
          </a:p>
        </p:txBody>
      </p:sp>
      <p:sp>
        <p:nvSpPr>
          <p:cNvPr id="25" name="Text 23"/>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767069"/>
                </a:solidFill>
                <a:latin typeface="Georgia" pitchFamily="34" charset="0"/>
                <a:ea typeface="Georgia" pitchFamily="34" charset="-122"/>
                <a:cs typeface="Georgia" pitchFamily="34" charset="-120"/>
              </a:rPr>
              <a:t>Kokoro for the Earth  ·  Religion &amp; Sustainability  ·  Shizenkan MBA 2026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06 · THE FRAMEWORK</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The Kokoro Framework — five pillars for the sustainable organization</a:t>
            </a:r>
            <a:endParaRPr lang="en-US" sz="2600" dirty="0"/>
          </a:p>
        </p:txBody>
      </p:sp>
      <p:sp>
        <p:nvSpPr>
          <p:cNvPr id="5" name="Shape 3"/>
          <p:cNvSpPr/>
          <p:nvPr/>
        </p:nvSpPr>
        <p:spPr>
          <a:xfrm>
            <a:off x="548640" y="1783080"/>
            <a:ext cx="2212848" cy="3886200"/>
          </a:xfrm>
          <a:prstGeom prst="roundRect">
            <a:avLst>
              <a:gd name="adj" fmla="val 330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6" name="Shape 4"/>
          <p:cNvSpPr/>
          <p:nvPr/>
        </p:nvSpPr>
        <p:spPr>
          <a:xfrm>
            <a:off x="548640" y="1783080"/>
            <a:ext cx="2212848" cy="457200"/>
          </a:xfrm>
          <a:prstGeom prst="rect">
            <a:avLst/>
          </a:prstGeom>
          <a:solidFill>
            <a:srgbClr val="C8382C"/>
          </a:solidFill>
          <a:ln w="12700">
            <a:solidFill>
              <a:srgbClr val="C8382C"/>
            </a:solidFill>
            <a:prstDash val="solid"/>
          </a:ln>
        </p:spPr>
      </p:sp>
      <p:sp>
        <p:nvSpPr>
          <p:cNvPr id="7" name="Text 5"/>
          <p:cNvSpPr/>
          <p:nvPr/>
        </p:nvSpPr>
        <p:spPr>
          <a:xfrm>
            <a:off x="548640" y="1783080"/>
            <a:ext cx="2212848" cy="457200"/>
          </a:xfrm>
          <a:prstGeom prst="rect">
            <a:avLst/>
          </a:prstGeom>
          <a:noFill/>
          <a:ln/>
        </p:spPr>
        <p:txBody>
          <a:bodyPr wrap="square" lIns="0" tIns="0" rIns="0" bIns="0" rtlCol="0" anchor="ctr"/>
          <a:lstStyle/>
          <a:p>
            <a:pPr algn="ctr" indent="0" marL="0">
              <a:buNone/>
            </a:pPr>
            <a:r>
              <a:rPr lang="en-US" sz="1200" b="1" spc="300" kern="0" dirty="0">
                <a:solidFill>
                  <a:srgbClr val="F5EAD9"/>
                </a:solidFill>
                <a:latin typeface="Calibri" pitchFamily="34" charset="0"/>
                <a:ea typeface="Calibri" pitchFamily="34" charset="-122"/>
                <a:cs typeface="Calibri" pitchFamily="34" charset="-120"/>
              </a:rPr>
              <a:t>PILLAR I</a:t>
            </a:r>
            <a:endParaRPr lang="en-US" sz="1200" dirty="0"/>
          </a:p>
        </p:txBody>
      </p:sp>
      <p:sp>
        <p:nvSpPr>
          <p:cNvPr id="8" name="Text 6"/>
          <p:cNvSpPr/>
          <p:nvPr/>
        </p:nvSpPr>
        <p:spPr>
          <a:xfrm>
            <a:off x="548640" y="2377440"/>
            <a:ext cx="2212848" cy="1188720"/>
          </a:xfrm>
          <a:prstGeom prst="rect">
            <a:avLst/>
          </a:prstGeom>
          <a:noFill/>
          <a:ln/>
        </p:spPr>
        <p:txBody>
          <a:bodyPr wrap="square" lIns="0" tIns="0" rIns="0" bIns="0" rtlCol="0" anchor="ctr"/>
          <a:lstStyle/>
          <a:p>
            <a:pPr algn="ctr" indent="0" marL="0">
              <a:buNone/>
            </a:pPr>
            <a:r>
              <a:rPr lang="en-US" sz="8000" b="1" dirty="0">
                <a:solidFill>
                  <a:srgbClr val="C8382C"/>
                </a:solidFill>
                <a:latin typeface="Georgia" pitchFamily="34" charset="0"/>
                <a:ea typeface="Georgia" pitchFamily="34" charset="-122"/>
                <a:cs typeface="Georgia" pitchFamily="34" charset="-120"/>
              </a:rPr>
              <a:t>心</a:t>
            </a:r>
            <a:endParaRPr lang="en-US" sz="8000" dirty="0"/>
          </a:p>
        </p:txBody>
      </p:sp>
      <p:sp>
        <p:nvSpPr>
          <p:cNvPr id="9" name="Text 7"/>
          <p:cNvSpPr/>
          <p:nvPr/>
        </p:nvSpPr>
        <p:spPr>
          <a:xfrm>
            <a:off x="548640" y="3611880"/>
            <a:ext cx="2212848" cy="274320"/>
          </a:xfrm>
          <a:prstGeom prst="rect">
            <a:avLst/>
          </a:prstGeom>
          <a:noFill/>
          <a:ln/>
        </p:spPr>
        <p:txBody>
          <a:bodyPr wrap="square" lIns="0" tIns="0" rIns="0" bIns="0" rtlCol="0" anchor="ctr"/>
          <a:lstStyle/>
          <a:p>
            <a:pPr algn="ctr" indent="0" marL="0">
              <a:buNone/>
            </a:pPr>
            <a:r>
              <a:rPr lang="en-US" sz="1100" b="1" spc="300" kern="0" dirty="0">
                <a:solidFill>
                  <a:srgbClr val="C9A86A"/>
                </a:solidFill>
                <a:latin typeface="Calibri" pitchFamily="34" charset="0"/>
                <a:ea typeface="Calibri" pitchFamily="34" charset="-122"/>
                <a:cs typeface="Calibri" pitchFamily="34" charset="-120"/>
              </a:rPr>
              <a:t>KOKORO</a:t>
            </a:r>
            <a:endParaRPr lang="en-US" sz="1100" dirty="0"/>
          </a:p>
        </p:txBody>
      </p:sp>
      <p:sp>
        <p:nvSpPr>
          <p:cNvPr id="10" name="Text 8"/>
          <p:cNvSpPr/>
          <p:nvPr/>
        </p:nvSpPr>
        <p:spPr>
          <a:xfrm>
            <a:off x="685800" y="3977640"/>
            <a:ext cx="1938528" cy="822960"/>
          </a:xfrm>
          <a:prstGeom prst="rect">
            <a:avLst/>
          </a:prstGeom>
          <a:noFill/>
          <a:ln/>
        </p:spPr>
        <p:txBody>
          <a:bodyPr wrap="square" lIns="0" tIns="0" rIns="0" bIns="0" rtlCol="0" anchor="ctr"/>
          <a:lstStyle/>
          <a:p>
            <a:pPr algn="ctr" indent="0" marL="0">
              <a:buNone/>
            </a:pPr>
            <a:r>
              <a:rPr lang="en-US" sz="1400" b="1" dirty="0">
                <a:solidFill>
                  <a:srgbClr val="1B2A4E"/>
                </a:solidFill>
                <a:latin typeface="Georgia" pitchFamily="34" charset="0"/>
                <a:ea typeface="Georgia" pitchFamily="34" charset="-122"/>
                <a:cs typeface="Georgia" pitchFamily="34" charset="-120"/>
              </a:rPr>
              <a:t>Cultural-Religious Literacy</a:t>
            </a:r>
            <a:endParaRPr lang="en-US" sz="1400" dirty="0"/>
          </a:p>
        </p:txBody>
      </p:sp>
      <p:sp>
        <p:nvSpPr>
          <p:cNvPr id="11" name="Text 9"/>
          <p:cNvSpPr/>
          <p:nvPr/>
        </p:nvSpPr>
        <p:spPr>
          <a:xfrm>
            <a:off x="685800" y="4892040"/>
            <a:ext cx="1938528" cy="731520"/>
          </a:xfrm>
          <a:prstGeom prst="rect">
            <a:avLst/>
          </a:prstGeom>
          <a:noFill/>
          <a:ln/>
        </p:spPr>
        <p:txBody>
          <a:bodyPr wrap="square" lIns="0" tIns="0" rIns="0" bIns="0" rtlCol="0" anchor="ctr"/>
          <a:lstStyle/>
          <a:p>
            <a:pPr algn="ctr" indent="0" marL="0">
              <a:buNone/>
            </a:pPr>
            <a:r>
              <a:rPr lang="en-US" sz="1100" i="1" dirty="0">
                <a:solidFill>
                  <a:srgbClr val="767069"/>
                </a:solidFill>
                <a:latin typeface="Calibri" pitchFamily="34" charset="0"/>
                <a:ea typeface="Calibri" pitchFamily="34" charset="-122"/>
                <a:cs typeface="Calibri" pitchFamily="34" charset="-120"/>
              </a:rPr>
              <a:t>Know the places you touch</a:t>
            </a:r>
            <a:endParaRPr lang="en-US" sz="1100" dirty="0"/>
          </a:p>
        </p:txBody>
      </p:sp>
      <p:sp>
        <p:nvSpPr>
          <p:cNvPr id="12" name="Shape 10"/>
          <p:cNvSpPr/>
          <p:nvPr/>
        </p:nvSpPr>
        <p:spPr>
          <a:xfrm>
            <a:off x="2852928" y="1783080"/>
            <a:ext cx="2212848" cy="3886200"/>
          </a:xfrm>
          <a:prstGeom prst="roundRect">
            <a:avLst>
              <a:gd name="adj" fmla="val 330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3" name="Shape 11"/>
          <p:cNvSpPr/>
          <p:nvPr/>
        </p:nvSpPr>
        <p:spPr>
          <a:xfrm>
            <a:off x="2852928" y="1783080"/>
            <a:ext cx="2212848" cy="457200"/>
          </a:xfrm>
          <a:prstGeom prst="rect">
            <a:avLst/>
          </a:prstGeom>
          <a:solidFill>
            <a:srgbClr val="8A9A7B"/>
          </a:solidFill>
          <a:ln w="12700">
            <a:solidFill>
              <a:srgbClr val="8A9A7B"/>
            </a:solidFill>
            <a:prstDash val="solid"/>
          </a:ln>
        </p:spPr>
      </p:sp>
      <p:sp>
        <p:nvSpPr>
          <p:cNvPr id="14" name="Text 12"/>
          <p:cNvSpPr/>
          <p:nvPr/>
        </p:nvSpPr>
        <p:spPr>
          <a:xfrm>
            <a:off x="2852928" y="1783080"/>
            <a:ext cx="2212848" cy="457200"/>
          </a:xfrm>
          <a:prstGeom prst="rect">
            <a:avLst/>
          </a:prstGeom>
          <a:noFill/>
          <a:ln/>
        </p:spPr>
        <p:txBody>
          <a:bodyPr wrap="square" lIns="0" tIns="0" rIns="0" bIns="0" rtlCol="0" anchor="ctr"/>
          <a:lstStyle/>
          <a:p>
            <a:pPr algn="ctr" indent="0" marL="0">
              <a:buNone/>
            </a:pPr>
            <a:r>
              <a:rPr lang="en-US" sz="1200" b="1" spc="300" kern="0" dirty="0">
                <a:solidFill>
                  <a:srgbClr val="F5EAD9"/>
                </a:solidFill>
                <a:latin typeface="Calibri" pitchFamily="34" charset="0"/>
                <a:ea typeface="Calibri" pitchFamily="34" charset="-122"/>
                <a:cs typeface="Calibri" pitchFamily="34" charset="-120"/>
              </a:rPr>
              <a:t>PILLAR II</a:t>
            </a:r>
            <a:endParaRPr lang="en-US" sz="1200" dirty="0"/>
          </a:p>
        </p:txBody>
      </p:sp>
      <p:sp>
        <p:nvSpPr>
          <p:cNvPr id="15" name="Text 13"/>
          <p:cNvSpPr/>
          <p:nvPr/>
        </p:nvSpPr>
        <p:spPr>
          <a:xfrm>
            <a:off x="2852928" y="2377440"/>
            <a:ext cx="2212848" cy="1188720"/>
          </a:xfrm>
          <a:prstGeom prst="rect">
            <a:avLst/>
          </a:prstGeom>
          <a:noFill/>
          <a:ln/>
        </p:spPr>
        <p:txBody>
          <a:bodyPr wrap="square" lIns="0" tIns="0" rIns="0" bIns="0" rtlCol="0" anchor="ctr"/>
          <a:lstStyle/>
          <a:p>
            <a:pPr algn="ctr" indent="0" marL="0">
              <a:buNone/>
            </a:pPr>
            <a:r>
              <a:rPr lang="en-US" sz="8000" b="1" dirty="0">
                <a:solidFill>
                  <a:srgbClr val="8A9A7B"/>
                </a:solidFill>
                <a:latin typeface="Georgia" pitchFamily="34" charset="0"/>
                <a:ea typeface="Georgia" pitchFamily="34" charset="-122"/>
                <a:cs typeface="Georgia" pitchFamily="34" charset="-120"/>
              </a:rPr>
              <a:t>命</a:t>
            </a:r>
            <a:endParaRPr lang="en-US" sz="8000" dirty="0"/>
          </a:p>
        </p:txBody>
      </p:sp>
      <p:sp>
        <p:nvSpPr>
          <p:cNvPr id="16" name="Text 14"/>
          <p:cNvSpPr/>
          <p:nvPr/>
        </p:nvSpPr>
        <p:spPr>
          <a:xfrm>
            <a:off x="2852928" y="3611880"/>
            <a:ext cx="2212848" cy="274320"/>
          </a:xfrm>
          <a:prstGeom prst="rect">
            <a:avLst/>
          </a:prstGeom>
          <a:noFill/>
          <a:ln/>
        </p:spPr>
        <p:txBody>
          <a:bodyPr wrap="square" lIns="0" tIns="0" rIns="0" bIns="0" rtlCol="0" anchor="ctr"/>
          <a:lstStyle/>
          <a:p>
            <a:pPr algn="ctr" indent="0" marL="0">
              <a:buNone/>
            </a:pPr>
            <a:r>
              <a:rPr lang="en-US" sz="1100" b="1" spc="300" kern="0" dirty="0">
                <a:solidFill>
                  <a:srgbClr val="C9A86A"/>
                </a:solidFill>
                <a:latin typeface="Calibri" pitchFamily="34" charset="0"/>
                <a:ea typeface="Calibri" pitchFamily="34" charset="-122"/>
                <a:cs typeface="Calibri" pitchFamily="34" charset="-120"/>
              </a:rPr>
              <a:t>INOCHI</a:t>
            </a:r>
            <a:endParaRPr lang="en-US" sz="1100" dirty="0"/>
          </a:p>
        </p:txBody>
      </p:sp>
      <p:sp>
        <p:nvSpPr>
          <p:cNvPr id="17" name="Text 15"/>
          <p:cNvSpPr/>
          <p:nvPr/>
        </p:nvSpPr>
        <p:spPr>
          <a:xfrm>
            <a:off x="2990088" y="3977640"/>
            <a:ext cx="1938528" cy="822960"/>
          </a:xfrm>
          <a:prstGeom prst="rect">
            <a:avLst/>
          </a:prstGeom>
          <a:noFill/>
          <a:ln/>
        </p:spPr>
        <p:txBody>
          <a:bodyPr wrap="square" lIns="0" tIns="0" rIns="0" bIns="0" rtlCol="0" anchor="ctr"/>
          <a:lstStyle/>
          <a:p>
            <a:pPr algn="ctr" indent="0" marL="0">
              <a:buNone/>
            </a:pPr>
            <a:r>
              <a:rPr lang="en-US" sz="1400" b="1" dirty="0">
                <a:solidFill>
                  <a:srgbClr val="1B2A4E"/>
                </a:solidFill>
                <a:latin typeface="Georgia" pitchFamily="34" charset="0"/>
                <a:ea typeface="Georgia" pitchFamily="34" charset="-122"/>
                <a:cs typeface="Georgia" pitchFamily="34" charset="-120"/>
              </a:rPr>
              <a:t>Stewardship of Nature</a:t>
            </a:r>
            <a:endParaRPr lang="en-US" sz="1400" dirty="0"/>
          </a:p>
        </p:txBody>
      </p:sp>
      <p:sp>
        <p:nvSpPr>
          <p:cNvPr id="18" name="Text 16"/>
          <p:cNvSpPr/>
          <p:nvPr/>
        </p:nvSpPr>
        <p:spPr>
          <a:xfrm>
            <a:off x="2990088" y="4892040"/>
            <a:ext cx="1938528" cy="731520"/>
          </a:xfrm>
          <a:prstGeom prst="rect">
            <a:avLst/>
          </a:prstGeom>
          <a:noFill/>
          <a:ln/>
        </p:spPr>
        <p:txBody>
          <a:bodyPr wrap="square" lIns="0" tIns="0" rIns="0" bIns="0" rtlCol="0" anchor="ctr"/>
          <a:lstStyle/>
          <a:p>
            <a:pPr algn="ctr" indent="0" marL="0">
              <a:buNone/>
            </a:pPr>
            <a:r>
              <a:rPr lang="en-US" sz="1100" i="1" dirty="0">
                <a:solidFill>
                  <a:srgbClr val="767069"/>
                </a:solidFill>
                <a:latin typeface="Calibri" pitchFamily="34" charset="0"/>
                <a:ea typeface="Calibri" pitchFamily="34" charset="-122"/>
                <a:cs typeface="Calibri" pitchFamily="34" charset="-120"/>
              </a:rPr>
              <a:t>Treat Earth as ancestor, not asset</a:t>
            </a:r>
            <a:endParaRPr lang="en-US" sz="1100" dirty="0"/>
          </a:p>
        </p:txBody>
      </p:sp>
      <p:sp>
        <p:nvSpPr>
          <p:cNvPr id="19" name="Shape 17"/>
          <p:cNvSpPr/>
          <p:nvPr/>
        </p:nvSpPr>
        <p:spPr>
          <a:xfrm>
            <a:off x="5157216" y="1783080"/>
            <a:ext cx="2212848" cy="3886200"/>
          </a:xfrm>
          <a:prstGeom prst="roundRect">
            <a:avLst>
              <a:gd name="adj" fmla="val 330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20" name="Shape 18"/>
          <p:cNvSpPr/>
          <p:nvPr/>
        </p:nvSpPr>
        <p:spPr>
          <a:xfrm>
            <a:off x="5157216" y="1783080"/>
            <a:ext cx="2212848" cy="457200"/>
          </a:xfrm>
          <a:prstGeom prst="rect">
            <a:avLst/>
          </a:prstGeom>
          <a:solidFill>
            <a:srgbClr val="C8382C"/>
          </a:solidFill>
          <a:ln w="12700">
            <a:solidFill>
              <a:srgbClr val="C8382C"/>
            </a:solidFill>
            <a:prstDash val="solid"/>
          </a:ln>
        </p:spPr>
      </p:sp>
      <p:sp>
        <p:nvSpPr>
          <p:cNvPr id="21" name="Text 19"/>
          <p:cNvSpPr/>
          <p:nvPr/>
        </p:nvSpPr>
        <p:spPr>
          <a:xfrm>
            <a:off x="5157216" y="1783080"/>
            <a:ext cx="2212848" cy="457200"/>
          </a:xfrm>
          <a:prstGeom prst="rect">
            <a:avLst/>
          </a:prstGeom>
          <a:noFill/>
          <a:ln/>
        </p:spPr>
        <p:txBody>
          <a:bodyPr wrap="square" lIns="0" tIns="0" rIns="0" bIns="0" rtlCol="0" anchor="ctr"/>
          <a:lstStyle/>
          <a:p>
            <a:pPr algn="ctr" indent="0" marL="0">
              <a:buNone/>
            </a:pPr>
            <a:r>
              <a:rPr lang="en-US" sz="1200" b="1" spc="300" kern="0" dirty="0">
                <a:solidFill>
                  <a:srgbClr val="F5EAD9"/>
                </a:solidFill>
                <a:latin typeface="Calibri" pitchFamily="34" charset="0"/>
                <a:ea typeface="Calibri" pitchFamily="34" charset="-122"/>
                <a:cs typeface="Calibri" pitchFamily="34" charset="-120"/>
              </a:rPr>
              <a:t>PILLAR III</a:t>
            </a:r>
            <a:endParaRPr lang="en-US" sz="1200" dirty="0"/>
          </a:p>
        </p:txBody>
      </p:sp>
      <p:sp>
        <p:nvSpPr>
          <p:cNvPr id="22" name="Text 20"/>
          <p:cNvSpPr/>
          <p:nvPr/>
        </p:nvSpPr>
        <p:spPr>
          <a:xfrm>
            <a:off x="5157216" y="2377440"/>
            <a:ext cx="2212848" cy="1188720"/>
          </a:xfrm>
          <a:prstGeom prst="rect">
            <a:avLst/>
          </a:prstGeom>
          <a:noFill/>
          <a:ln/>
        </p:spPr>
        <p:txBody>
          <a:bodyPr wrap="square" lIns="0" tIns="0" rIns="0" bIns="0" rtlCol="0" anchor="ctr"/>
          <a:lstStyle/>
          <a:p>
            <a:pPr algn="ctr" indent="0" marL="0">
              <a:buNone/>
            </a:pPr>
            <a:r>
              <a:rPr lang="en-US" sz="8000" b="1" dirty="0">
                <a:solidFill>
                  <a:srgbClr val="C8382C"/>
                </a:solidFill>
                <a:latin typeface="Georgia" pitchFamily="34" charset="0"/>
                <a:ea typeface="Georgia" pitchFamily="34" charset="-122"/>
                <a:cs typeface="Georgia" pitchFamily="34" charset="-120"/>
              </a:rPr>
              <a:t>心</a:t>
            </a:r>
            <a:endParaRPr lang="en-US" sz="8000" dirty="0"/>
          </a:p>
        </p:txBody>
      </p:sp>
      <p:sp>
        <p:nvSpPr>
          <p:cNvPr id="23" name="Text 21"/>
          <p:cNvSpPr/>
          <p:nvPr/>
        </p:nvSpPr>
        <p:spPr>
          <a:xfrm>
            <a:off x="5157216" y="3611880"/>
            <a:ext cx="2212848" cy="274320"/>
          </a:xfrm>
          <a:prstGeom prst="rect">
            <a:avLst/>
          </a:prstGeom>
          <a:noFill/>
          <a:ln/>
        </p:spPr>
        <p:txBody>
          <a:bodyPr wrap="square" lIns="0" tIns="0" rIns="0" bIns="0" rtlCol="0" anchor="ctr"/>
          <a:lstStyle/>
          <a:p>
            <a:pPr algn="ctr" indent="0" marL="0">
              <a:buNone/>
            </a:pPr>
            <a:r>
              <a:rPr lang="en-US" sz="1100" b="1" spc="300" kern="0" dirty="0">
                <a:solidFill>
                  <a:srgbClr val="C9A86A"/>
                </a:solidFill>
                <a:latin typeface="Calibri" pitchFamily="34" charset="0"/>
                <a:ea typeface="Calibri" pitchFamily="34" charset="-122"/>
                <a:cs typeface="Calibri" pitchFamily="34" charset="-120"/>
              </a:rPr>
              <a:t>TÂM</a:t>
            </a:r>
            <a:endParaRPr lang="en-US" sz="1100" dirty="0"/>
          </a:p>
        </p:txBody>
      </p:sp>
      <p:sp>
        <p:nvSpPr>
          <p:cNvPr id="24" name="Text 22"/>
          <p:cNvSpPr/>
          <p:nvPr/>
        </p:nvSpPr>
        <p:spPr>
          <a:xfrm>
            <a:off x="5294376" y="3977640"/>
            <a:ext cx="1938528" cy="822960"/>
          </a:xfrm>
          <a:prstGeom prst="rect">
            <a:avLst/>
          </a:prstGeom>
          <a:noFill/>
          <a:ln/>
        </p:spPr>
        <p:txBody>
          <a:bodyPr wrap="square" lIns="0" tIns="0" rIns="0" bIns="0" rtlCol="0" anchor="ctr"/>
          <a:lstStyle/>
          <a:p>
            <a:pPr algn="ctr" indent="0" marL="0">
              <a:buNone/>
            </a:pPr>
            <a:r>
              <a:rPr lang="en-US" sz="1400" b="1" dirty="0">
                <a:solidFill>
                  <a:srgbClr val="1B2A4E"/>
                </a:solidFill>
                <a:latin typeface="Georgia" pitchFamily="34" charset="0"/>
                <a:ea typeface="Georgia" pitchFamily="34" charset="-122"/>
                <a:cs typeface="Georgia" pitchFamily="34" charset="-120"/>
              </a:rPr>
              <a:t>Dignity of People</a:t>
            </a:r>
            <a:endParaRPr lang="en-US" sz="1400" dirty="0"/>
          </a:p>
        </p:txBody>
      </p:sp>
      <p:sp>
        <p:nvSpPr>
          <p:cNvPr id="25" name="Text 23"/>
          <p:cNvSpPr/>
          <p:nvPr/>
        </p:nvSpPr>
        <p:spPr>
          <a:xfrm>
            <a:off x="5294376" y="4892040"/>
            <a:ext cx="1938528" cy="731520"/>
          </a:xfrm>
          <a:prstGeom prst="rect">
            <a:avLst/>
          </a:prstGeom>
          <a:noFill/>
          <a:ln/>
        </p:spPr>
        <p:txBody>
          <a:bodyPr wrap="square" lIns="0" tIns="0" rIns="0" bIns="0" rtlCol="0" anchor="ctr"/>
          <a:lstStyle/>
          <a:p>
            <a:pPr algn="ctr" indent="0" marL="0">
              <a:buNone/>
            </a:pPr>
            <a:r>
              <a:rPr lang="en-US" sz="1100" i="1" dirty="0">
                <a:solidFill>
                  <a:srgbClr val="767069"/>
                </a:solidFill>
                <a:latin typeface="Calibri" pitchFamily="34" charset="0"/>
                <a:ea typeface="Calibri" pitchFamily="34" charset="-122"/>
                <a:cs typeface="Calibri" pitchFamily="34" charset="-120"/>
              </a:rPr>
              <a:t>Every worker, supplier, neighbor</a:t>
            </a:r>
            <a:endParaRPr lang="en-US" sz="1100" dirty="0"/>
          </a:p>
        </p:txBody>
      </p:sp>
      <p:sp>
        <p:nvSpPr>
          <p:cNvPr id="26" name="Shape 24"/>
          <p:cNvSpPr/>
          <p:nvPr/>
        </p:nvSpPr>
        <p:spPr>
          <a:xfrm>
            <a:off x="7461504" y="1783080"/>
            <a:ext cx="2212848" cy="3886200"/>
          </a:xfrm>
          <a:prstGeom prst="roundRect">
            <a:avLst>
              <a:gd name="adj" fmla="val 330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27" name="Shape 25"/>
          <p:cNvSpPr/>
          <p:nvPr/>
        </p:nvSpPr>
        <p:spPr>
          <a:xfrm>
            <a:off x="7461504" y="1783080"/>
            <a:ext cx="2212848" cy="457200"/>
          </a:xfrm>
          <a:prstGeom prst="rect">
            <a:avLst/>
          </a:prstGeom>
          <a:solidFill>
            <a:srgbClr val="C9A86A"/>
          </a:solidFill>
          <a:ln w="12700">
            <a:solidFill>
              <a:srgbClr val="C9A86A"/>
            </a:solidFill>
            <a:prstDash val="solid"/>
          </a:ln>
        </p:spPr>
      </p:sp>
      <p:sp>
        <p:nvSpPr>
          <p:cNvPr id="28" name="Text 26"/>
          <p:cNvSpPr/>
          <p:nvPr/>
        </p:nvSpPr>
        <p:spPr>
          <a:xfrm>
            <a:off x="7461504" y="1783080"/>
            <a:ext cx="2212848" cy="457200"/>
          </a:xfrm>
          <a:prstGeom prst="rect">
            <a:avLst/>
          </a:prstGeom>
          <a:noFill/>
          <a:ln/>
        </p:spPr>
        <p:txBody>
          <a:bodyPr wrap="square" lIns="0" tIns="0" rIns="0" bIns="0" rtlCol="0" anchor="ctr"/>
          <a:lstStyle/>
          <a:p>
            <a:pPr algn="ctr" indent="0" marL="0">
              <a:buNone/>
            </a:pPr>
            <a:r>
              <a:rPr lang="en-US" sz="1200" b="1" spc="300" kern="0" dirty="0">
                <a:solidFill>
                  <a:srgbClr val="F5EAD9"/>
                </a:solidFill>
                <a:latin typeface="Calibri" pitchFamily="34" charset="0"/>
                <a:ea typeface="Calibri" pitchFamily="34" charset="-122"/>
                <a:cs typeface="Calibri" pitchFamily="34" charset="-120"/>
              </a:rPr>
              <a:t>PILLAR IV</a:t>
            </a:r>
            <a:endParaRPr lang="en-US" sz="1200" dirty="0"/>
          </a:p>
        </p:txBody>
      </p:sp>
      <p:sp>
        <p:nvSpPr>
          <p:cNvPr id="29" name="Text 27"/>
          <p:cNvSpPr/>
          <p:nvPr/>
        </p:nvSpPr>
        <p:spPr>
          <a:xfrm>
            <a:off x="7461504" y="2377440"/>
            <a:ext cx="2212848" cy="1188720"/>
          </a:xfrm>
          <a:prstGeom prst="rect">
            <a:avLst/>
          </a:prstGeom>
          <a:noFill/>
          <a:ln/>
        </p:spPr>
        <p:txBody>
          <a:bodyPr wrap="square" lIns="0" tIns="0" rIns="0" bIns="0" rtlCol="0" anchor="ctr"/>
          <a:lstStyle/>
          <a:p>
            <a:pPr algn="ctr" indent="0" marL="0">
              <a:buNone/>
            </a:pPr>
            <a:r>
              <a:rPr lang="en-US" sz="8000" b="1" dirty="0">
                <a:solidFill>
                  <a:srgbClr val="C9A86A"/>
                </a:solidFill>
                <a:latin typeface="Georgia" pitchFamily="34" charset="0"/>
                <a:ea typeface="Georgia" pitchFamily="34" charset="-122"/>
                <a:cs typeface="Georgia" pitchFamily="34" charset="-120"/>
              </a:rPr>
              <a:t>縁</a:t>
            </a:r>
            <a:endParaRPr lang="en-US" sz="8000" dirty="0"/>
          </a:p>
        </p:txBody>
      </p:sp>
      <p:sp>
        <p:nvSpPr>
          <p:cNvPr id="30" name="Text 28"/>
          <p:cNvSpPr/>
          <p:nvPr/>
        </p:nvSpPr>
        <p:spPr>
          <a:xfrm>
            <a:off x="7461504" y="3611880"/>
            <a:ext cx="2212848" cy="274320"/>
          </a:xfrm>
          <a:prstGeom prst="rect">
            <a:avLst/>
          </a:prstGeom>
          <a:noFill/>
          <a:ln/>
        </p:spPr>
        <p:txBody>
          <a:bodyPr wrap="square" lIns="0" tIns="0" rIns="0" bIns="0" rtlCol="0" anchor="ctr"/>
          <a:lstStyle/>
          <a:p>
            <a:pPr algn="ctr" indent="0" marL="0">
              <a:buNone/>
            </a:pPr>
            <a:r>
              <a:rPr lang="en-US" sz="1100" b="1" spc="300" kern="0" dirty="0">
                <a:solidFill>
                  <a:srgbClr val="C9A86A"/>
                </a:solidFill>
                <a:latin typeface="Calibri" pitchFamily="34" charset="0"/>
                <a:ea typeface="Calibri" pitchFamily="34" charset="-122"/>
                <a:cs typeface="Calibri" pitchFamily="34" charset="-120"/>
              </a:rPr>
              <a:t>EN</a:t>
            </a:r>
            <a:endParaRPr lang="en-US" sz="1100" dirty="0"/>
          </a:p>
        </p:txBody>
      </p:sp>
      <p:sp>
        <p:nvSpPr>
          <p:cNvPr id="31" name="Text 29"/>
          <p:cNvSpPr/>
          <p:nvPr/>
        </p:nvSpPr>
        <p:spPr>
          <a:xfrm>
            <a:off x="7598664" y="3977640"/>
            <a:ext cx="1938528" cy="822960"/>
          </a:xfrm>
          <a:prstGeom prst="rect">
            <a:avLst/>
          </a:prstGeom>
          <a:noFill/>
          <a:ln/>
        </p:spPr>
        <p:txBody>
          <a:bodyPr wrap="square" lIns="0" tIns="0" rIns="0" bIns="0" rtlCol="0" anchor="ctr"/>
          <a:lstStyle/>
          <a:p>
            <a:pPr algn="ctr" indent="0" marL="0">
              <a:buNone/>
            </a:pPr>
            <a:r>
              <a:rPr lang="en-US" sz="1400" b="1" dirty="0">
                <a:solidFill>
                  <a:srgbClr val="1B2A4E"/>
                </a:solidFill>
                <a:latin typeface="Georgia" pitchFamily="34" charset="0"/>
                <a:ea typeface="Georgia" pitchFamily="34" charset="-122"/>
                <a:cs typeface="Georgia" pitchFamily="34" charset="-120"/>
              </a:rPr>
              <a:t>Service to Community</a:t>
            </a:r>
            <a:endParaRPr lang="en-US" sz="1400" dirty="0"/>
          </a:p>
        </p:txBody>
      </p:sp>
      <p:sp>
        <p:nvSpPr>
          <p:cNvPr id="32" name="Text 30"/>
          <p:cNvSpPr/>
          <p:nvPr/>
        </p:nvSpPr>
        <p:spPr>
          <a:xfrm>
            <a:off x="7598664" y="4892040"/>
            <a:ext cx="1938528" cy="731520"/>
          </a:xfrm>
          <a:prstGeom prst="rect">
            <a:avLst/>
          </a:prstGeom>
          <a:noFill/>
          <a:ln/>
        </p:spPr>
        <p:txBody>
          <a:bodyPr wrap="square" lIns="0" tIns="0" rIns="0" bIns="0" rtlCol="0" anchor="ctr"/>
          <a:lstStyle/>
          <a:p>
            <a:pPr algn="ctr" indent="0" marL="0">
              <a:buNone/>
            </a:pPr>
            <a:r>
              <a:rPr lang="en-US" sz="1100" i="1" dirty="0">
                <a:solidFill>
                  <a:srgbClr val="767069"/>
                </a:solidFill>
                <a:latin typeface="Calibri" pitchFamily="34" charset="0"/>
                <a:ea typeface="Calibri" pitchFamily="34" charset="-122"/>
                <a:cs typeface="Calibri" pitchFamily="34" charset="-120"/>
              </a:rPr>
              <a:t>Bound to the places that host you</a:t>
            </a:r>
            <a:endParaRPr lang="en-US" sz="1100" dirty="0"/>
          </a:p>
        </p:txBody>
      </p:sp>
      <p:sp>
        <p:nvSpPr>
          <p:cNvPr id="33" name="Shape 31"/>
          <p:cNvSpPr/>
          <p:nvPr/>
        </p:nvSpPr>
        <p:spPr>
          <a:xfrm>
            <a:off x="9765792" y="1783080"/>
            <a:ext cx="2212848" cy="3886200"/>
          </a:xfrm>
          <a:prstGeom prst="roundRect">
            <a:avLst>
              <a:gd name="adj" fmla="val 330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34" name="Shape 32"/>
          <p:cNvSpPr/>
          <p:nvPr/>
        </p:nvSpPr>
        <p:spPr>
          <a:xfrm>
            <a:off x="9765792" y="1783080"/>
            <a:ext cx="2212848" cy="457200"/>
          </a:xfrm>
          <a:prstGeom prst="rect">
            <a:avLst/>
          </a:prstGeom>
          <a:solidFill>
            <a:srgbClr val="1B2A4E"/>
          </a:solidFill>
          <a:ln w="12700">
            <a:solidFill>
              <a:srgbClr val="1B2A4E"/>
            </a:solidFill>
            <a:prstDash val="solid"/>
          </a:ln>
        </p:spPr>
      </p:sp>
      <p:sp>
        <p:nvSpPr>
          <p:cNvPr id="35" name="Text 33"/>
          <p:cNvSpPr/>
          <p:nvPr/>
        </p:nvSpPr>
        <p:spPr>
          <a:xfrm>
            <a:off x="9765792" y="1783080"/>
            <a:ext cx="2212848" cy="457200"/>
          </a:xfrm>
          <a:prstGeom prst="rect">
            <a:avLst/>
          </a:prstGeom>
          <a:noFill/>
          <a:ln/>
        </p:spPr>
        <p:txBody>
          <a:bodyPr wrap="square" lIns="0" tIns="0" rIns="0" bIns="0" rtlCol="0" anchor="ctr"/>
          <a:lstStyle/>
          <a:p>
            <a:pPr algn="ctr" indent="0" marL="0">
              <a:buNone/>
            </a:pPr>
            <a:r>
              <a:rPr lang="en-US" sz="1200" b="1" spc="300" kern="0" dirty="0">
                <a:solidFill>
                  <a:srgbClr val="F5EAD9"/>
                </a:solidFill>
                <a:latin typeface="Calibri" pitchFamily="34" charset="0"/>
                <a:ea typeface="Calibri" pitchFamily="34" charset="-122"/>
                <a:cs typeface="Calibri" pitchFamily="34" charset="-120"/>
              </a:rPr>
              <a:t>PILLAR V</a:t>
            </a:r>
            <a:endParaRPr lang="en-US" sz="1200" dirty="0"/>
          </a:p>
        </p:txBody>
      </p:sp>
      <p:sp>
        <p:nvSpPr>
          <p:cNvPr id="36" name="Text 34"/>
          <p:cNvSpPr/>
          <p:nvPr/>
        </p:nvSpPr>
        <p:spPr>
          <a:xfrm>
            <a:off x="9765792" y="2377440"/>
            <a:ext cx="2212848" cy="1188720"/>
          </a:xfrm>
          <a:prstGeom prst="rect">
            <a:avLst/>
          </a:prstGeom>
          <a:noFill/>
          <a:ln/>
        </p:spPr>
        <p:txBody>
          <a:bodyPr wrap="square" lIns="0" tIns="0" rIns="0" bIns="0" rtlCol="0" anchor="ctr"/>
          <a:lstStyle/>
          <a:p>
            <a:pPr algn="ctr" indent="0" marL="0">
              <a:buNone/>
            </a:pPr>
            <a:r>
              <a:rPr lang="en-US" sz="8000" b="1" dirty="0">
                <a:solidFill>
                  <a:srgbClr val="1B2A4E"/>
                </a:solidFill>
                <a:latin typeface="Georgia" pitchFamily="34" charset="0"/>
                <a:ea typeface="Georgia" pitchFamily="34" charset="-122"/>
                <a:cs typeface="Georgia" pitchFamily="34" charset="-120"/>
              </a:rPr>
              <a:t>誠</a:t>
            </a:r>
            <a:endParaRPr lang="en-US" sz="8000" dirty="0"/>
          </a:p>
        </p:txBody>
      </p:sp>
      <p:sp>
        <p:nvSpPr>
          <p:cNvPr id="37" name="Text 35"/>
          <p:cNvSpPr/>
          <p:nvPr/>
        </p:nvSpPr>
        <p:spPr>
          <a:xfrm>
            <a:off x="9765792" y="3611880"/>
            <a:ext cx="2212848" cy="274320"/>
          </a:xfrm>
          <a:prstGeom prst="rect">
            <a:avLst/>
          </a:prstGeom>
          <a:noFill/>
          <a:ln/>
        </p:spPr>
        <p:txBody>
          <a:bodyPr wrap="square" lIns="0" tIns="0" rIns="0" bIns="0" rtlCol="0" anchor="ctr"/>
          <a:lstStyle/>
          <a:p>
            <a:pPr algn="ctr" indent="0" marL="0">
              <a:buNone/>
            </a:pPr>
            <a:r>
              <a:rPr lang="en-US" sz="1100" b="1" spc="300" kern="0" dirty="0">
                <a:solidFill>
                  <a:srgbClr val="C9A86A"/>
                </a:solidFill>
                <a:latin typeface="Calibri" pitchFamily="34" charset="0"/>
                <a:ea typeface="Calibri" pitchFamily="34" charset="-122"/>
                <a:cs typeface="Calibri" pitchFamily="34" charset="-120"/>
              </a:rPr>
              <a:t>MAKOTO</a:t>
            </a:r>
            <a:endParaRPr lang="en-US" sz="1100" dirty="0"/>
          </a:p>
        </p:txBody>
      </p:sp>
      <p:sp>
        <p:nvSpPr>
          <p:cNvPr id="38" name="Text 36"/>
          <p:cNvSpPr/>
          <p:nvPr/>
        </p:nvSpPr>
        <p:spPr>
          <a:xfrm>
            <a:off x="9902952" y="3977640"/>
            <a:ext cx="1938528" cy="822960"/>
          </a:xfrm>
          <a:prstGeom prst="rect">
            <a:avLst/>
          </a:prstGeom>
          <a:noFill/>
          <a:ln/>
        </p:spPr>
        <p:txBody>
          <a:bodyPr wrap="square" lIns="0" tIns="0" rIns="0" bIns="0" rtlCol="0" anchor="ctr"/>
          <a:lstStyle/>
          <a:p>
            <a:pPr algn="ctr" indent="0" marL="0">
              <a:buNone/>
            </a:pPr>
            <a:r>
              <a:rPr lang="en-US" sz="1400" b="1" dirty="0">
                <a:solidFill>
                  <a:srgbClr val="1B2A4E"/>
                </a:solidFill>
                <a:latin typeface="Georgia" pitchFamily="34" charset="0"/>
                <a:ea typeface="Georgia" pitchFamily="34" charset="-122"/>
                <a:cs typeface="Georgia" pitchFamily="34" charset="-120"/>
              </a:rPr>
              <a:t>Transparency &amp; Accountability</a:t>
            </a:r>
            <a:endParaRPr lang="en-US" sz="1400" dirty="0"/>
          </a:p>
        </p:txBody>
      </p:sp>
      <p:sp>
        <p:nvSpPr>
          <p:cNvPr id="39" name="Text 37"/>
          <p:cNvSpPr/>
          <p:nvPr/>
        </p:nvSpPr>
        <p:spPr>
          <a:xfrm>
            <a:off x="9902952" y="4892040"/>
            <a:ext cx="1938528" cy="731520"/>
          </a:xfrm>
          <a:prstGeom prst="rect">
            <a:avLst/>
          </a:prstGeom>
          <a:noFill/>
          <a:ln/>
        </p:spPr>
        <p:txBody>
          <a:bodyPr wrap="square" lIns="0" tIns="0" rIns="0" bIns="0" rtlCol="0" anchor="ctr"/>
          <a:lstStyle/>
          <a:p>
            <a:pPr algn="ctr" indent="0" marL="0">
              <a:buNone/>
            </a:pPr>
            <a:r>
              <a:rPr lang="en-US" sz="1100" i="1" dirty="0">
                <a:solidFill>
                  <a:srgbClr val="767069"/>
                </a:solidFill>
                <a:latin typeface="Calibri" pitchFamily="34" charset="0"/>
                <a:ea typeface="Calibri" pitchFamily="34" charset="-122"/>
                <a:cs typeface="Calibri" pitchFamily="34" charset="-120"/>
              </a:rPr>
              <a:t>Sincerity that can be audited</a:t>
            </a:r>
            <a:endParaRPr lang="en-US" sz="1100" dirty="0"/>
          </a:p>
        </p:txBody>
      </p:sp>
      <p:sp>
        <p:nvSpPr>
          <p:cNvPr id="40" name="Shape 38"/>
          <p:cNvSpPr/>
          <p:nvPr/>
        </p:nvSpPr>
        <p:spPr>
          <a:xfrm>
            <a:off x="548640" y="5852160"/>
            <a:ext cx="11091672" cy="457200"/>
          </a:xfrm>
          <a:prstGeom prst="rect">
            <a:avLst/>
          </a:prstGeom>
          <a:solidFill>
            <a:srgbClr val="1B2A4E"/>
          </a:solidFill>
          <a:ln w="12700">
            <a:solidFill>
              <a:srgbClr val="1B2A4E"/>
            </a:solidFill>
            <a:prstDash val="solid"/>
          </a:ln>
        </p:spPr>
      </p:sp>
      <p:sp>
        <p:nvSpPr>
          <p:cNvPr id="41" name="Text 39"/>
          <p:cNvSpPr/>
          <p:nvPr/>
        </p:nvSpPr>
        <p:spPr>
          <a:xfrm>
            <a:off x="548640" y="5852160"/>
            <a:ext cx="11091672" cy="457200"/>
          </a:xfrm>
          <a:prstGeom prst="rect">
            <a:avLst/>
          </a:prstGeom>
          <a:noFill/>
          <a:ln/>
        </p:spPr>
        <p:txBody>
          <a:bodyPr wrap="square" lIns="0" tIns="0" rIns="0" bIns="0" rtlCol="0" anchor="ctr"/>
          <a:lstStyle/>
          <a:p>
            <a:pPr algn="ctr" indent="0" marL="0">
              <a:buNone/>
            </a:pPr>
            <a:r>
              <a:rPr lang="en-US" sz="1300" i="1" dirty="0">
                <a:solidFill>
                  <a:srgbClr val="C9A86A"/>
                </a:solidFill>
                <a:latin typeface="Georgia" pitchFamily="34" charset="0"/>
                <a:ea typeface="Georgia" pitchFamily="34" charset="-122"/>
                <a:cs typeface="Georgia" pitchFamily="34" charset="-120"/>
              </a:rPr>
              <a:t>Each pillar pairs a principle with named practices and measurable commitments — slides 8–12.</a:t>
            </a:r>
            <a:endParaRPr lang="en-US" sz="1300" dirty="0"/>
          </a:p>
        </p:txBody>
      </p:sp>
      <p:sp>
        <p:nvSpPr>
          <p:cNvPr id="42" name="Text 40"/>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767069"/>
                </a:solidFill>
                <a:latin typeface="Calibri" pitchFamily="34" charset="0"/>
                <a:ea typeface="Calibri" pitchFamily="34" charset="-122"/>
                <a:cs typeface="Calibri" pitchFamily="34" charset="-120"/>
              </a:rPr>
              <a:t>7 / 14</a:t>
            </a:r>
            <a:endParaRPr lang="en-US" sz="900" dirty="0"/>
          </a:p>
        </p:txBody>
      </p:sp>
      <p:sp>
        <p:nvSpPr>
          <p:cNvPr id="43" name="Text 41"/>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767069"/>
                </a:solidFill>
                <a:latin typeface="Georgia" pitchFamily="34" charset="0"/>
                <a:ea typeface="Georgia" pitchFamily="34" charset="-122"/>
                <a:cs typeface="Georgia" pitchFamily="34" charset="-120"/>
              </a:rPr>
              <a:t>Kokoro for the Earth  ·  Religion &amp; Sustainability  ·  Shizenkan MBA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PILLAR I  ·  心 KOKORO</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Cultural-Religious Literacy — know the places you touch</a:t>
            </a:r>
            <a:endParaRPr lang="en-US" sz="2600" dirty="0"/>
          </a:p>
        </p:txBody>
      </p:sp>
      <p:sp>
        <p:nvSpPr>
          <p:cNvPr id="5" name="Shape 3"/>
          <p:cNvSpPr/>
          <p:nvPr/>
        </p:nvSpPr>
        <p:spPr>
          <a:xfrm>
            <a:off x="548640" y="1783080"/>
            <a:ext cx="4206240" cy="4526280"/>
          </a:xfrm>
          <a:prstGeom prst="roundRect">
            <a:avLst>
              <a:gd name="adj" fmla="val 1739"/>
            </a:avLst>
          </a:prstGeom>
          <a:solidFill>
            <a:srgbClr val="1B2A4E"/>
          </a:solidFill>
          <a:ln w="19050">
            <a:solidFill>
              <a:srgbClr val="C9A86A"/>
            </a:solidFill>
            <a:prstDash val="solid"/>
          </a:ln>
          <a:effectLst>
            <a:outerShdw sx="100000" sy="100000" kx="0" ky="0" algn="bl" rotWithShape="0" blurRad="101600" dist="12700" dir="5400000">
              <a:srgbClr val="000000">
                <a:alpha val="12000"/>
              </a:srgbClr>
            </a:outerShdw>
          </a:effectLst>
        </p:spPr>
      </p:sp>
      <p:sp>
        <p:nvSpPr>
          <p:cNvPr id="6" name="Text 4"/>
          <p:cNvSpPr/>
          <p:nvPr/>
        </p:nvSpPr>
        <p:spPr>
          <a:xfrm>
            <a:off x="548640" y="1920240"/>
            <a:ext cx="4206240" cy="1371600"/>
          </a:xfrm>
          <a:prstGeom prst="rect">
            <a:avLst/>
          </a:prstGeom>
          <a:noFill/>
          <a:ln/>
        </p:spPr>
        <p:txBody>
          <a:bodyPr wrap="square" lIns="0" tIns="0" rIns="0" bIns="0" rtlCol="0" anchor="ctr"/>
          <a:lstStyle/>
          <a:p>
            <a:pPr algn="ctr" indent="0" marL="0">
              <a:buNone/>
            </a:pPr>
            <a:r>
              <a:rPr lang="en-US" sz="9000" b="1" dirty="0">
                <a:solidFill>
                  <a:srgbClr val="C8382C"/>
                </a:solidFill>
                <a:latin typeface="Georgia" pitchFamily="34" charset="0"/>
                <a:ea typeface="Georgia" pitchFamily="34" charset="-122"/>
                <a:cs typeface="Georgia" pitchFamily="34" charset="-120"/>
              </a:rPr>
              <a:t>心</a:t>
            </a:r>
            <a:endParaRPr lang="en-US" sz="9000" dirty="0"/>
          </a:p>
        </p:txBody>
      </p:sp>
      <p:sp>
        <p:nvSpPr>
          <p:cNvPr id="7" name="Text 5"/>
          <p:cNvSpPr/>
          <p:nvPr/>
        </p:nvSpPr>
        <p:spPr>
          <a:xfrm>
            <a:off x="548640" y="3246120"/>
            <a:ext cx="4206240" cy="320040"/>
          </a:xfrm>
          <a:prstGeom prst="rect">
            <a:avLst/>
          </a:prstGeom>
          <a:noFill/>
          <a:ln/>
        </p:spPr>
        <p:txBody>
          <a:bodyPr wrap="square" lIns="0" tIns="0" rIns="0" bIns="0" rtlCol="0" anchor="ctr"/>
          <a:lstStyle/>
          <a:p>
            <a:pPr algn="ctr" indent="0" marL="0">
              <a:buNone/>
            </a:pPr>
            <a:r>
              <a:rPr lang="en-US" sz="1200" b="1" spc="400" kern="0" dirty="0">
                <a:solidFill>
                  <a:srgbClr val="C9A86A"/>
                </a:solidFill>
                <a:latin typeface="Calibri" pitchFamily="34" charset="0"/>
                <a:ea typeface="Calibri" pitchFamily="34" charset="-122"/>
                <a:cs typeface="Calibri" pitchFamily="34" charset="-120"/>
              </a:rPr>
              <a:t>KOKORO</a:t>
            </a:r>
            <a:endParaRPr lang="en-US" sz="1200" dirty="0"/>
          </a:p>
        </p:txBody>
      </p:sp>
      <p:sp>
        <p:nvSpPr>
          <p:cNvPr id="8" name="Text 6"/>
          <p:cNvSpPr/>
          <p:nvPr/>
        </p:nvSpPr>
        <p:spPr>
          <a:xfrm>
            <a:off x="777240" y="3611880"/>
            <a:ext cx="3749040" cy="457200"/>
          </a:xfrm>
          <a:prstGeom prst="rect">
            <a:avLst/>
          </a:prstGeom>
          <a:noFill/>
          <a:ln/>
        </p:spPr>
        <p:txBody>
          <a:bodyPr wrap="square" lIns="0" tIns="0" rIns="0" bIns="0" rtlCol="0" anchor="ctr"/>
          <a:lstStyle/>
          <a:p>
            <a:pPr algn="ctr" indent="0" marL="0">
              <a:buNone/>
            </a:pPr>
            <a:r>
              <a:rPr lang="en-US" sz="1600" b="1" i="1" dirty="0">
                <a:solidFill>
                  <a:srgbClr val="F5EAD9"/>
                </a:solidFill>
                <a:latin typeface="Georgia" pitchFamily="34" charset="0"/>
                <a:ea typeface="Georgia" pitchFamily="34" charset="-122"/>
                <a:cs typeface="Georgia" pitchFamily="34" charset="-120"/>
              </a:rPr>
              <a:t>Know before you act</a:t>
            </a:r>
            <a:endParaRPr lang="en-US" sz="1600" dirty="0"/>
          </a:p>
        </p:txBody>
      </p:sp>
      <p:sp>
        <p:nvSpPr>
          <p:cNvPr id="9" name="Text 7"/>
          <p:cNvSpPr/>
          <p:nvPr/>
        </p:nvSpPr>
        <p:spPr>
          <a:xfrm>
            <a:off x="822960" y="4160520"/>
            <a:ext cx="3657600" cy="2011680"/>
          </a:xfrm>
          <a:prstGeom prst="rect">
            <a:avLst/>
          </a:prstGeom>
          <a:noFill/>
          <a:ln/>
        </p:spPr>
        <p:txBody>
          <a:bodyPr wrap="square" lIns="0" tIns="0" rIns="0" bIns="0" rtlCol="0" anchor="ctr"/>
          <a:lstStyle/>
          <a:p>
            <a:pPr algn="ctr" indent="0" marL="0">
              <a:buNone/>
            </a:pPr>
            <a:r>
              <a:rPr lang="en-US" sz="1200" i="1" dirty="0">
                <a:solidFill>
                  <a:srgbClr val="F5EAD9"/>
                </a:solidFill>
                <a:latin typeface="Calibri" pitchFamily="34" charset="0"/>
                <a:ea typeface="Calibri" pitchFamily="34" charset="-122"/>
                <a:cs typeface="Calibri" pitchFamily="34" charset="-120"/>
              </a:rPr>
              <a:t>Religion is a source of wisdom, not a compliance risk. Every market we enter has a moral grammar — and we learn it before we ask anything of it.</a:t>
            </a:r>
            <a:endParaRPr lang="en-US" sz="1200" dirty="0"/>
          </a:p>
        </p:txBody>
      </p:sp>
      <p:sp>
        <p:nvSpPr>
          <p:cNvPr id="10" name="Shape 8"/>
          <p:cNvSpPr/>
          <p:nvPr/>
        </p:nvSpPr>
        <p:spPr>
          <a:xfrm>
            <a:off x="4937760" y="1783080"/>
            <a:ext cx="6702552" cy="4526280"/>
          </a:xfrm>
          <a:prstGeom prst="roundRect">
            <a:avLst>
              <a:gd name="adj" fmla="val 161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1" name="Shape 9"/>
          <p:cNvSpPr/>
          <p:nvPr/>
        </p:nvSpPr>
        <p:spPr>
          <a:xfrm>
            <a:off x="4937760" y="1783080"/>
            <a:ext cx="6702552" cy="502920"/>
          </a:xfrm>
          <a:prstGeom prst="rect">
            <a:avLst/>
          </a:prstGeom>
          <a:solidFill>
            <a:srgbClr val="C8382C"/>
          </a:solidFill>
          <a:ln w="12700">
            <a:solidFill>
              <a:srgbClr val="C8382C"/>
            </a:solidFill>
            <a:prstDash val="solid"/>
          </a:ln>
        </p:spPr>
      </p:sp>
      <p:sp>
        <p:nvSpPr>
          <p:cNvPr id="12" name="Text 10"/>
          <p:cNvSpPr/>
          <p:nvPr/>
        </p:nvSpPr>
        <p:spPr>
          <a:xfrm>
            <a:off x="5212080" y="1783080"/>
            <a:ext cx="3108960" cy="50292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PRACTICE</a:t>
            </a:r>
            <a:endParaRPr lang="en-US" sz="1100" dirty="0"/>
          </a:p>
        </p:txBody>
      </p:sp>
      <p:sp>
        <p:nvSpPr>
          <p:cNvPr id="13" name="Text 11"/>
          <p:cNvSpPr/>
          <p:nvPr/>
        </p:nvSpPr>
        <p:spPr>
          <a:xfrm>
            <a:off x="8366760" y="1783080"/>
            <a:ext cx="3044952" cy="50292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MEASURABLE COMMITMENT (KPI)</a:t>
            </a:r>
            <a:endParaRPr lang="en-US" sz="1100" dirty="0"/>
          </a:p>
        </p:txBody>
      </p:sp>
      <p:sp>
        <p:nvSpPr>
          <p:cNvPr id="14" name="Text 12"/>
          <p:cNvSpPr/>
          <p:nvPr/>
        </p:nvSpPr>
        <p:spPr>
          <a:xfrm>
            <a:off x="5212080" y="2423160"/>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Literacy program (all staff)</a:t>
            </a:r>
            <a:endParaRPr lang="en-US" sz="1100" dirty="0"/>
          </a:p>
        </p:txBody>
      </p:sp>
      <p:sp>
        <p:nvSpPr>
          <p:cNvPr id="15" name="Text 13"/>
          <p:cNvSpPr/>
          <p:nvPr/>
        </p:nvSpPr>
        <p:spPr>
          <a:xfrm>
            <a:off x="8366760" y="2423160"/>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≥95% completion within 12 months of joining</a:t>
            </a:r>
            <a:endParaRPr lang="en-US" sz="1100" dirty="0"/>
          </a:p>
        </p:txBody>
      </p:sp>
      <p:sp>
        <p:nvSpPr>
          <p:cNvPr id="16" name="Shape 14"/>
          <p:cNvSpPr/>
          <p:nvPr/>
        </p:nvSpPr>
        <p:spPr>
          <a:xfrm>
            <a:off x="4983480" y="3172968"/>
            <a:ext cx="6611112" cy="749808"/>
          </a:xfrm>
          <a:prstGeom prst="rect">
            <a:avLst/>
          </a:prstGeom>
          <a:solidFill>
            <a:srgbClr val="EFEAE0"/>
          </a:solidFill>
          <a:ln w="12700">
            <a:solidFill>
              <a:srgbClr val="EFEAE0"/>
            </a:solidFill>
            <a:prstDash val="solid"/>
          </a:ln>
        </p:spPr>
      </p:sp>
      <p:sp>
        <p:nvSpPr>
          <p:cNvPr id="17" name="Text 15"/>
          <p:cNvSpPr/>
          <p:nvPr/>
        </p:nvSpPr>
        <p:spPr>
          <a:xfrm>
            <a:off x="5212080" y="3172968"/>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Religious-cultural advisors</a:t>
            </a:r>
            <a:endParaRPr lang="en-US" sz="1100" dirty="0"/>
          </a:p>
        </p:txBody>
      </p:sp>
      <p:sp>
        <p:nvSpPr>
          <p:cNvPr id="18" name="Text 16"/>
          <p:cNvSpPr/>
          <p:nvPr/>
        </p:nvSpPr>
        <p:spPr>
          <a:xfrm>
            <a:off x="8366760" y="3172968"/>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≥1 paid local advisor per host country</a:t>
            </a:r>
            <a:endParaRPr lang="en-US" sz="1100" dirty="0"/>
          </a:p>
        </p:txBody>
      </p:sp>
      <p:sp>
        <p:nvSpPr>
          <p:cNvPr id="19" name="Text 17"/>
          <p:cNvSpPr/>
          <p:nvPr/>
        </p:nvSpPr>
        <p:spPr>
          <a:xfrm>
            <a:off x="5212080" y="3922776"/>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Religious-calendar-aware ops</a:t>
            </a:r>
            <a:endParaRPr lang="en-US" sz="1100" dirty="0"/>
          </a:p>
        </p:txBody>
      </p:sp>
      <p:sp>
        <p:nvSpPr>
          <p:cNvPr id="20" name="Text 18"/>
          <p:cNvSpPr/>
          <p:nvPr/>
        </p:nvSpPr>
        <p:spPr>
          <a:xfrm>
            <a:off x="8366760" y="3922776"/>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100% major observances respected operationally</a:t>
            </a:r>
            <a:endParaRPr lang="en-US" sz="1100" dirty="0"/>
          </a:p>
        </p:txBody>
      </p:sp>
      <p:sp>
        <p:nvSpPr>
          <p:cNvPr id="21" name="Shape 19"/>
          <p:cNvSpPr/>
          <p:nvPr/>
        </p:nvSpPr>
        <p:spPr>
          <a:xfrm>
            <a:off x="4983480" y="4672584"/>
            <a:ext cx="6611112" cy="749808"/>
          </a:xfrm>
          <a:prstGeom prst="rect">
            <a:avLst/>
          </a:prstGeom>
          <a:solidFill>
            <a:srgbClr val="EFEAE0"/>
          </a:solidFill>
          <a:ln w="12700">
            <a:solidFill>
              <a:srgbClr val="EFEAE0"/>
            </a:solidFill>
            <a:prstDash val="solid"/>
          </a:ln>
        </p:spPr>
      </p:sp>
      <p:sp>
        <p:nvSpPr>
          <p:cNvPr id="22" name="Text 20"/>
          <p:cNvSpPr/>
          <p:nvPr/>
        </p:nvSpPr>
        <p:spPr>
          <a:xfrm>
            <a:off x="5212080" y="4672584"/>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Pre-launch cultural review</a:t>
            </a:r>
            <a:endParaRPr lang="en-US" sz="1100" dirty="0"/>
          </a:p>
        </p:txBody>
      </p:sp>
      <p:sp>
        <p:nvSpPr>
          <p:cNvPr id="23" name="Text 21"/>
          <p:cNvSpPr/>
          <p:nvPr/>
        </p:nvSpPr>
        <p:spPr>
          <a:xfrm>
            <a:off x="8366760" y="4672584"/>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100% products &amp; campaigns reviewed before launch</a:t>
            </a:r>
            <a:endParaRPr lang="en-US" sz="1100" dirty="0"/>
          </a:p>
        </p:txBody>
      </p:sp>
      <p:sp>
        <p:nvSpPr>
          <p:cNvPr id="24" name="Text 22"/>
          <p:cNvSpPr/>
          <p:nvPr/>
        </p:nvSpPr>
        <p:spPr>
          <a:xfrm>
            <a:off x="5212080" y="5422392"/>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Misstep audit &amp; learning loop</a:t>
            </a:r>
            <a:endParaRPr lang="en-US" sz="1100" dirty="0"/>
          </a:p>
        </p:txBody>
      </p:sp>
      <p:sp>
        <p:nvSpPr>
          <p:cNvPr id="25" name="Text 23"/>
          <p:cNvSpPr/>
          <p:nvPr/>
        </p:nvSpPr>
        <p:spPr>
          <a:xfrm>
            <a:off x="8366760" y="5422392"/>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&lt;2 incidents per 100k stakeholder interactions</a:t>
            </a:r>
            <a:endParaRPr lang="en-US" sz="1100" dirty="0"/>
          </a:p>
        </p:txBody>
      </p:sp>
      <p:sp>
        <p:nvSpPr>
          <p:cNvPr id="26" name="Text 24"/>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767069"/>
                </a:solidFill>
                <a:latin typeface="Calibri" pitchFamily="34" charset="0"/>
                <a:ea typeface="Calibri" pitchFamily="34" charset="-122"/>
                <a:cs typeface="Calibri" pitchFamily="34" charset="-120"/>
              </a:rPr>
              <a:t>8 / 14</a:t>
            </a:r>
            <a:endParaRPr lang="en-US" sz="900" dirty="0"/>
          </a:p>
        </p:txBody>
      </p:sp>
      <p:sp>
        <p:nvSpPr>
          <p:cNvPr id="27" name="Text 25"/>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767069"/>
                </a:solidFill>
                <a:latin typeface="Georgia" pitchFamily="34" charset="0"/>
                <a:ea typeface="Georgia" pitchFamily="34" charset="-122"/>
                <a:cs typeface="Georgia" pitchFamily="34" charset="-120"/>
              </a:rPr>
              <a:t>Kokoro for the Earth  ·  Religion &amp; Sustainability  ·  Shizenkan MBA 2026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PILLAR II  ·  命 INOCHI</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Stewardship of Nature — treat Earth as ancestor, not asset</a:t>
            </a:r>
            <a:endParaRPr lang="en-US" sz="2600" dirty="0"/>
          </a:p>
        </p:txBody>
      </p:sp>
      <p:sp>
        <p:nvSpPr>
          <p:cNvPr id="5" name="Shape 3"/>
          <p:cNvSpPr/>
          <p:nvPr/>
        </p:nvSpPr>
        <p:spPr>
          <a:xfrm>
            <a:off x="548640" y="1783080"/>
            <a:ext cx="4206240" cy="4526280"/>
          </a:xfrm>
          <a:prstGeom prst="roundRect">
            <a:avLst>
              <a:gd name="adj" fmla="val 1739"/>
            </a:avLst>
          </a:prstGeom>
          <a:solidFill>
            <a:srgbClr val="1B2A4E"/>
          </a:solidFill>
          <a:ln w="19050">
            <a:solidFill>
              <a:srgbClr val="C9A86A"/>
            </a:solidFill>
            <a:prstDash val="solid"/>
          </a:ln>
          <a:effectLst>
            <a:outerShdw sx="100000" sy="100000" kx="0" ky="0" algn="bl" rotWithShape="0" blurRad="101600" dist="12700" dir="5400000">
              <a:srgbClr val="000000">
                <a:alpha val="12000"/>
              </a:srgbClr>
            </a:outerShdw>
          </a:effectLst>
        </p:spPr>
      </p:sp>
      <p:sp>
        <p:nvSpPr>
          <p:cNvPr id="6" name="Text 4"/>
          <p:cNvSpPr/>
          <p:nvPr/>
        </p:nvSpPr>
        <p:spPr>
          <a:xfrm>
            <a:off x="548640" y="1920240"/>
            <a:ext cx="4206240" cy="1371600"/>
          </a:xfrm>
          <a:prstGeom prst="rect">
            <a:avLst/>
          </a:prstGeom>
          <a:noFill/>
          <a:ln/>
        </p:spPr>
        <p:txBody>
          <a:bodyPr wrap="square" lIns="0" tIns="0" rIns="0" bIns="0" rtlCol="0" anchor="ctr"/>
          <a:lstStyle/>
          <a:p>
            <a:pPr algn="ctr" indent="0" marL="0">
              <a:buNone/>
            </a:pPr>
            <a:r>
              <a:rPr lang="en-US" sz="9000" b="1" dirty="0">
                <a:solidFill>
                  <a:srgbClr val="8A9A7B"/>
                </a:solidFill>
                <a:latin typeface="Georgia" pitchFamily="34" charset="0"/>
                <a:ea typeface="Georgia" pitchFamily="34" charset="-122"/>
                <a:cs typeface="Georgia" pitchFamily="34" charset="-120"/>
              </a:rPr>
              <a:t>命</a:t>
            </a:r>
            <a:endParaRPr lang="en-US" sz="9000" dirty="0"/>
          </a:p>
        </p:txBody>
      </p:sp>
      <p:sp>
        <p:nvSpPr>
          <p:cNvPr id="7" name="Text 5"/>
          <p:cNvSpPr/>
          <p:nvPr/>
        </p:nvSpPr>
        <p:spPr>
          <a:xfrm>
            <a:off x="548640" y="3246120"/>
            <a:ext cx="4206240" cy="320040"/>
          </a:xfrm>
          <a:prstGeom prst="rect">
            <a:avLst/>
          </a:prstGeom>
          <a:noFill/>
          <a:ln/>
        </p:spPr>
        <p:txBody>
          <a:bodyPr wrap="square" lIns="0" tIns="0" rIns="0" bIns="0" rtlCol="0" anchor="ctr"/>
          <a:lstStyle/>
          <a:p>
            <a:pPr algn="ctr" indent="0" marL="0">
              <a:buNone/>
            </a:pPr>
            <a:r>
              <a:rPr lang="en-US" sz="1200" b="1" spc="400" kern="0" dirty="0">
                <a:solidFill>
                  <a:srgbClr val="C9A86A"/>
                </a:solidFill>
                <a:latin typeface="Calibri" pitchFamily="34" charset="0"/>
                <a:ea typeface="Calibri" pitchFamily="34" charset="-122"/>
                <a:cs typeface="Calibri" pitchFamily="34" charset="-120"/>
              </a:rPr>
              <a:t>INOCHI</a:t>
            </a:r>
            <a:endParaRPr lang="en-US" sz="1200" dirty="0"/>
          </a:p>
        </p:txBody>
      </p:sp>
      <p:sp>
        <p:nvSpPr>
          <p:cNvPr id="8" name="Text 6"/>
          <p:cNvSpPr/>
          <p:nvPr/>
        </p:nvSpPr>
        <p:spPr>
          <a:xfrm>
            <a:off x="777240" y="3611880"/>
            <a:ext cx="3749040" cy="457200"/>
          </a:xfrm>
          <a:prstGeom prst="rect">
            <a:avLst/>
          </a:prstGeom>
          <a:noFill/>
          <a:ln/>
        </p:spPr>
        <p:txBody>
          <a:bodyPr wrap="square" lIns="0" tIns="0" rIns="0" bIns="0" rtlCol="0" anchor="ctr"/>
          <a:lstStyle/>
          <a:p>
            <a:pPr algn="ctr" indent="0" marL="0">
              <a:buNone/>
            </a:pPr>
            <a:r>
              <a:rPr lang="en-US" sz="1600" b="1" i="1" dirty="0">
                <a:solidFill>
                  <a:srgbClr val="F5EAD9"/>
                </a:solidFill>
                <a:latin typeface="Georgia" pitchFamily="34" charset="0"/>
                <a:ea typeface="Georgia" pitchFamily="34" charset="-122"/>
                <a:cs typeface="Georgia" pitchFamily="34" charset="-120"/>
              </a:rPr>
              <a:t>Borrowed, not owned</a:t>
            </a:r>
            <a:endParaRPr lang="en-US" sz="1600" dirty="0"/>
          </a:p>
        </p:txBody>
      </p:sp>
      <p:sp>
        <p:nvSpPr>
          <p:cNvPr id="9" name="Text 7"/>
          <p:cNvSpPr/>
          <p:nvPr/>
        </p:nvSpPr>
        <p:spPr>
          <a:xfrm>
            <a:off x="822960" y="4160520"/>
            <a:ext cx="3657600" cy="2011680"/>
          </a:xfrm>
          <a:prstGeom prst="rect">
            <a:avLst/>
          </a:prstGeom>
          <a:noFill/>
          <a:ln/>
        </p:spPr>
        <p:txBody>
          <a:bodyPr wrap="square" lIns="0" tIns="0" rIns="0" bIns="0" rtlCol="0" anchor="ctr"/>
          <a:lstStyle/>
          <a:p>
            <a:pPr algn="ctr" indent="0" marL="0">
              <a:buNone/>
            </a:pPr>
            <a:r>
              <a:rPr lang="en-US" sz="1200" i="1" dirty="0">
                <a:solidFill>
                  <a:srgbClr val="F5EAD9"/>
                </a:solidFill>
                <a:latin typeface="Calibri" pitchFamily="34" charset="0"/>
                <a:ea typeface="Calibri" pitchFamily="34" charset="-122"/>
                <a:cs typeface="Calibri" pitchFamily="34" charset="-120"/>
              </a:rPr>
              <a:t>Land, water, forest, and climate are borrowed from those not yet born. Our balance sheet is incomplete until it accounts for what we owe them.</a:t>
            </a:r>
            <a:endParaRPr lang="en-US" sz="1200" dirty="0"/>
          </a:p>
        </p:txBody>
      </p:sp>
      <p:sp>
        <p:nvSpPr>
          <p:cNvPr id="10" name="Shape 8"/>
          <p:cNvSpPr/>
          <p:nvPr/>
        </p:nvSpPr>
        <p:spPr>
          <a:xfrm>
            <a:off x="4937760" y="1783080"/>
            <a:ext cx="6702552" cy="4526280"/>
          </a:xfrm>
          <a:prstGeom prst="roundRect">
            <a:avLst>
              <a:gd name="adj" fmla="val 161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1" name="Shape 9"/>
          <p:cNvSpPr/>
          <p:nvPr/>
        </p:nvSpPr>
        <p:spPr>
          <a:xfrm>
            <a:off x="4937760" y="1783080"/>
            <a:ext cx="6702552" cy="502920"/>
          </a:xfrm>
          <a:prstGeom prst="rect">
            <a:avLst/>
          </a:prstGeom>
          <a:solidFill>
            <a:srgbClr val="8A9A7B"/>
          </a:solidFill>
          <a:ln w="12700">
            <a:solidFill>
              <a:srgbClr val="8A9A7B"/>
            </a:solidFill>
            <a:prstDash val="solid"/>
          </a:ln>
        </p:spPr>
      </p:sp>
      <p:sp>
        <p:nvSpPr>
          <p:cNvPr id="12" name="Text 10"/>
          <p:cNvSpPr/>
          <p:nvPr/>
        </p:nvSpPr>
        <p:spPr>
          <a:xfrm>
            <a:off x="5212080" y="1783080"/>
            <a:ext cx="3108960" cy="50292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PRACTICE</a:t>
            </a:r>
            <a:endParaRPr lang="en-US" sz="1100" dirty="0"/>
          </a:p>
        </p:txBody>
      </p:sp>
      <p:sp>
        <p:nvSpPr>
          <p:cNvPr id="13" name="Text 11"/>
          <p:cNvSpPr/>
          <p:nvPr/>
        </p:nvSpPr>
        <p:spPr>
          <a:xfrm>
            <a:off x="8366760" y="1783080"/>
            <a:ext cx="3044952" cy="50292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MEASURABLE COMMITMENT (KPI)</a:t>
            </a:r>
            <a:endParaRPr lang="en-US" sz="1100" dirty="0"/>
          </a:p>
        </p:txBody>
      </p:sp>
      <p:sp>
        <p:nvSpPr>
          <p:cNvPr id="14" name="Text 12"/>
          <p:cNvSpPr/>
          <p:nvPr/>
        </p:nvSpPr>
        <p:spPr>
          <a:xfrm>
            <a:off x="5212080" y="2423160"/>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Emissions trajectory (Scopes 1–3)</a:t>
            </a:r>
            <a:endParaRPr lang="en-US" sz="1100" dirty="0"/>
          </a:p>
        </p:txBody>
      </p:sp>
      <p:sp>
        <p:nvSpPr>
          <p:cNvPr id="15" name="Text 13"/>
          <p:cNvSpPr/>
          <p:nvPr/>
        </p:nvSpPr>
        <p:spPr>
          <a:xfrm>
            <a:off x="8366760" y="2423160"/>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1.5°C-aligned, SBTi-validated, –50% by 2030</a:t>
            </a:r>
            <a:endParaRPr lang="en-US" sz="1100" dirty="0"/>
          </a:p>
        </p:txBody>
      </p:sp>
      <p:sp>
        <p:nvSpPr>
          <p:cNvPr id="16" name="Shape 14"/>
          <p:cNvSpPr/>
          <p:nvPr/>
        </p:nvSpPr>
        <p:spPr>
          <a:xfrm>
            <a:off x="4983480" y="3172968"/>
            <a:ext cx="6611112" cy="749808"/>
          </a:xfrm>
          <a:prstGeom prst="rect">
            <a:avLst/>
          </a:prstGeom>
          <a:solidFill>
            <a:srgbClr val="EFEAE0"/>
          </a:solidFill>
          <a:ln w="12700">
            <a:solidFill>
              <a:srgbClr val="EFEAE0"/>
            </a:solidFill>
            <a:prstDash val="solid"/>
          </a:ln>
        </p:spPr>
      </p:sp>
      <p:sp>
        <p:nvSpPr>
          <p:cNvPr id="17" name="Text 15"/>
          <p:cNvSpPr/>
          <p:nvPr/>
        </p:nvSpPr>
        <p:spPr>
          <a:xfrm>
            <a:off x="5212080" y="3172968"/>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Biodiversity net-gain</a:t>
            </a:r>
            <a:endParaRPr lang="en-US" sz="1100" dirty="0"/>
          </a:p>
        </p:txBody>
      </p:sp>
      <p:sp>
        <p:nvSpPr>
          <p:cNvPr id="18" name="Text 16"/>
          <p:cNvSpPr/>
          <p:nvPr/>
        </p:nvSpPr>
        <p:spPr>
          <a:xfrm>
            <a:off x="8366760" y="3172968"/>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≥+10% on operational footprint by 2030</a:t>
            </a:r>
            <a:endParaRPr lang="en-US" sz="1100" dirty="0"/>
          </a:p>
        </p:txBody>
      </p:sp>
      <p:sp>
        <p:nvSpPr>
          <p:cNvPr id="19" name="Text 17"/>
          <p:cNvSpPr/>
          <p:nvPr/>
        </p:nvSpPr>
        <p:spPr>
          <a:xfrm>
            <a:off x="5212080" y="3922776"/>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Water stewardship</a:t>
            </a:r>
            <a:endParaRPr lang="en-US" sz="1100" dirty="0"/>
          </a:p>
        </p:txBody>
      </p:sp>
      <p:sp>
        <p:nvSpPr>
          <p:cNvPr id="20" name="Text 18"/>
          <p:cNvSpPr/>
          <p:nvPr/>
        </p:nvSpPr>
        <p:spPr>
          <a:xfrm>
            <a:off x="8366760" y="3922776"/>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100% sites water-balanced (AWS standard) by 2030</a:t>
            </a:r>
            <a:endParaRPr lang="en-US" sz="1100" dirty="0"/>
          </a:p>
        </p:txBody>
      </p:sp>
      <p:sp>
        <p:nvSpPr>
          <p:cNvPr id="21" name="Shape 19"/>
          <p:cNvSpPr/>
          <p:nvPr/>
        </p:nvSpPr>
        <p:spPr>
          <a:xfrm>
            <a:off x="4983480" y="4672584"/>
            <a:ext cx="6611112" cy="749808"/>
          </a:xfrm>
          <a:prstGeom prst="rect">
            <a:avLst/>
          </a:prstGeom>
          <a:solidFill>
            <a:srgbClr val="EFEAE0"/>
          </a:solidFill>
          <a:ln w="12700">
            <a:solidFill>
              <a:srgbClr val="EFEAE0"/>
            </a:solidFill>
            <a:prstDash val="solid"/>
          </a:ln>
        </p:spPr>
      </p:sp>
      <p:sp>
        <p:nvSpPr>
          <p:cNvPr id="22" name="Text 20"/>
          <p:cNvSpPr/>
          <p:nvPr/>
        </p:nvSpPr>
        <p:spPr>
          <a:xfrm>
            <a:off x="5212080" y="4672584"/>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Free, Prior, Informed Consent (FPIC)</a:t>
            </a:r>
            <a:endParaRPr lang="en-US" sz="1100" dirty="0"/>
          </a:p>
        </p:txBody>
      </p:sp>
      <p:sp>
        <p:nvSpPr>
          <p:cNvPr id="23" name="Text 21"/>
          <p:cNvSpPr/>
          <p:nvPr/>
        </p:nvSpPr>
        <p:spPr>
          <a:xfrm>
            <a:off x="8366760" y="4672584"/>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100% compliance, indigenous-adjacent ops</a:t>
            </a:r>
            <a:endParaRPr lang="en-US" sz="1100" dirty="0"/>
          </a:p>
        </p:txBody>
      </p:sp>
      <p:sp>
        <p:nvSpPr>
          <p:cNvPr id="24" name="Text 22"/>
          <p:cNvSpPr/>
          <p:nvPr/>
        </p:nvSpPr>
        <p:spPr>
          <a:xfrm>
            <a:off x="5212080" y="5422392"/>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Circular materials</a:t>
            </a:r>
            <a:endParaRPr lang="en-US" sz="1100" dirty="0"/>
          </a:p>
        </p:txBody>
      </p:sp>
      <p:sp>
        <p:nvSpPr>
          <p:cNvPr id="25" name="Text 23"/>
          <p:cNvSpPr/>
          <p:nvPr/>
        </p:nvSpPr>
        <p:spPr>
          <a:xfrm>
            <a:off x="8366760" y="5422392"/>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≥80% renewable / recycled inputs by 2030</a:t>
            </a:r>
            <a:endParaRPr lang="en-US" sz="1100" dirty="0"/>
          </a:p>
        </p:txBody>
      </p:sp>
      <p:sp>
        <p:nvSpPr>
          <p:cNvPr id="26" name="Text 24"/>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767069"/>
                </a:solidFill>
                <a:latin typeface="Calibri" pitchFamily="34" charset="0"/>
                <a:ea typeface="Calibri" pitchFamily="34" charset="-122"/>
                <a:cs typeface="Calibri" pitchFamily="34" charset="-120"/>
              </a:rPr>
              <a:t>9 / 14</a:t>
            </a:r>
            <a:endParaRPr lang="en-US" sz="900" dirty="0"/>
          </a:p>
        </p:txBody>
      </p:sp>
      <p:sp>
        <p:nvSpPr>
          <p:cNvPr id="27" name="Text 25"/>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767069"/>
                </a:solidFill>
                <a:latin typeface="Georgia" pitchFamily="34" charset="0"/>
                <a:ea typeface="Georgia" pitchFamily="34" charset="-122"/>
                <a:cs typeface="Georgia" pitchFamily="34" charset="-120"/>
              </a:rPr>
              <a:t>Kokoro for the Earth  ·  Religion &amp; Sustainability  ·  Shizenkan MBA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PILLAR III  ·  心 TÂM</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Dignity of People — every worker, every supplier, every neighbor</a:t>
            </a:r>
            <a:endParaRPr lang="en-US" sz="2600" dirty="0"/>
          </a:p>
        </p:txBody>
      </p:sp>
      <p:sp>
        <p:nvSpPr>
          <p:cNvPr id="5" name="Shape 3"/>
          <p:cNvSpPr/>
          <p:nvPr/>
        </p:nvSpPr>
        <p:spPr>
          <a:xfrm>
            <a:off x="548640" y="1783080"/>
            <a:ext cx="4206240" cy="4526280"/>
          </a:xfrm>
          <a:prstGeom prst="roundRect">
            <a:avLst>
              <a:gd name="adj" fmla="val 1739"/>
            </a:avLst>
          </a:prstGeom>
          <a:solidFill>
            <a:srgbClr val="1B2A4E"/>
          </a:solidFill>
          <a:ln w="19050">
            <a:solidFill>
              <a:srgbClr val="C9A86A"/>
            </a:solidFill>
            <a:prstDash val="solid"/>
          </a:ln>
          <a:effectLst>
            <a:outerShdw sx="100000" sy="100000" kx="0" ky="0" algn="bl" rotWithShape="0" blurRad="101600" dist="12700" dir="5400000">
              <a:srgbClr val="000000">
                <a:alpha val="12000"/>
              </a:srgbClr>
            </a:outerShdw>
          </a:effectLst>
        </p:spPr>
      </p:sp>
      <p:sp>
        <p:nvSpPr>
          <p:cNvPr id="6" name="Text 4"/>
          <p:cNvSpPr/>
          <p:nvPr/>
        </p:nvSpPr>
        <p:spPr>
          <a:xfrm>
            <a:off x="548640" y="1920240"/>
            <a:ext cx="4206240" cy="1371600"/>
          </a:xfrm>
          <a:prstGeom prst="rect">
            <a:avLst/>
          </a:prstGeom>
          <a:noFill/>
          <a:ln/>
        </p:spPr>
        <p:txBody>
          <a:bodyPr wrap="square" lIns="0" tIns="0" rIns="0" bIns="0" rtlCol="0" anchor="ctr"/>
          <a:lstStyle/>
          <a:p>
            <a:pPr algn="ctr" indent="0" marL="0">
              <a:buNone/>
            </a:pPr>
            <a:r>
              <a:rPr lang="en-US" sz="9000" b="1" dirty="0">
                <a:solidFill>
                  <a:srgbClr val="C8382C"/>
                </a:solidFill>
                <a:latin typeface="Georgia" pitchFamily="34" charset="0"/>
                <a:ea typeface="Georgia" pitchFamily="34" charset="-122"/>
                <a:cs typeface="Georgia" pitchFamily="34" charset="-120"/>
              </a:rPr>
              <a:t>心</a:t>
            </a:r>
            <a:endParaRPr lang="en-US" sz="9000" dirty="0"/>
          </a:p>
        </p:txBody>
      </p:sp>
      <p:sp>
        <p:nvSpPr>
          <p:cNvPr id="7" name="Text 5"/>
          <p:cNvSpPr/>
          <p:nvPr/>
        </p:nvSpPr>
        <p:spPr>
          <a:xfrm>
            <a:off x="548640" y="3246120"/>
            <a:ext cx="4206240" cy="320040"/>
          </a:xfrm>
          <a:prstGeom prst="rect">
            <a:avLst/>
          </a:prstGeom>
          <a:noFill/>
          <a:ln/>
        </p:spPr>
        <p:txBody>
          <a:bodyPr wrap="square" lIns="0" tIns="0" rIns="0" bIns="0" rtlCol="0" anchor="ctr"/>
          <a:lstStyle/>
          <a:p>
            <a:pPr algn="ctr" indent="0" marL="0">
              <a:buNone/>
            </a:pPr>
            <a:r>
              <a:rPr lang="en-US" sz="1200" b="1" spc="400" kern="0" dirty="0">
                <a:solidFill>
                  <a:srgbClr val="C9A86A"/>
                </a:solidFill>
                <a:latin typeface="Calibri" pitchFamily="34" charset="0"/>
                <a:ea typeface="Calibri" pitchFamily="34" charset="-122"/>
                <a:cs typeface="Calibri" pitchFamily="34" charset="-120"/>
              </a:rPr>
              <a:t>TÂM</a:t>
            </a:r>
            <a:endParaRPr lang="en-US" sz="1200" dirty="0"/>
          </a:p>
        </p:txBody>
      </p:sp>
      <p:sp>
        <p:nvSpPr>
          <p:cNvPr id="8" name="Text 6"/>
          <p:cNvSpPr/>
          <p:nvPr/>
        </p:nvSpPr>
        <p:spPr>
          <a:xfrm>
            <a:off x="777240" y="3611880"/>
            <a:ext cx="3749040" cy="457200"/>
          </a:xfrm>
          <a:prstGeom prst="rect">
            <a:avLst/>
          </a:prstGeom>
          <a:noFill/>
          <a:ln/>
        </p:spPr>
        <p:txBody>
          <a:bodyPr wrap="square" lIns="0" tIns="0" rIns="0" bIns="0" rtlCol="0" anchor="ctr"/>
          <a:lstStyle/>
          <a:p>
            <a:pPr algn="ctr" indent="0" marL="0">
              <a:buNone/>
            </a:pPr>
            <a:r>
              <a:rPr lang="en-US" sz="1600" b="1" i="1" dirty="0">
                <a:solidFill>
                  <a:srgbClr val="F5EAD9"/>
                </a:solidFill>
                <a:latin typeface="Georgia" pitchFamily="34" charset="0"/>
                <a:ea typeface="Georgia" pitchFamily="34" charset="-122"/>
                <a:cs typeface="Georgia" pitchFamily="34" charset="-120"/>
              </a:rPr>
              <a:t>Owed, not earned</a:t>
            </a:r>
            <a:endParaRPr lang="en-US" sz="1600" dirty="0"/>
          </a:p>
        </p:txBody>
      </p:sp>
      <p:sp>
        <p:nvSpPr>
          <p:cNvPr id="9" name="Text 7"/>
          <p:cNvSpPr/>
          <p:nvPr/>
        </p:nvSpPr>
        <p:spPr>
          <a:xfrm>
            <a:off x="822960" y="4160520"/>
            <a:ext cx="3657600" cy="2011680"/>
          </a:xfrm>
          <a:prstGeom prst="rect">
            <a:avLst/>
          </a:prstGeom>
          <a:noFill/>
          <a:ln/>
        </p:spPr>
        <p:txBody>
          <a:bodyPr wrap="square" lIns="0" tIns="0" rIns="0" bIns="0" rtlCol="0" anchor="ctr"/>
          <a:lstStyle/>
          <a:p>
            <a:pPr algn="ctr" indent="0" marL="0">
              <a:buNone/>
            </a:pPr>
            <a:r>
              <a:rPr lang="en-US" sz="1200" i="1" dirty="0">
                <a:solidFill>
                  <a:srgbClr val="F5EAD9"/>
                </a:solidFill>
                <a:latin typeface="Calibri" pitchFamily="34" charset="0"/>
                <a:ea typeface="Calibri" pitchFamily="34" charset="-122"/>
                <a:cs typeface="Calibri" pitchFamily="34" charset="-120"/>
              </a:rPr>
              <a:t>Dignity is not a benefit we grant. It is the precondition of any relationship we are entitled to have — with an employee, a supplier, a customer, a community.</a:t>
            </a:r>
            <a:endParaRPr lang="en-US" sz="1200" dirty="0"/>
          </a:p>
        </p:txBody>
      </p:sp>
      <p:sp>
        <p:nvSpPr>
          <p:cNvPr id="10" name="Shape 8"/>
          <p:cNvSpPr/>
          <p:nvPr/>
        </p:nvSpPr>
        <p:spPr>
          <a:xfrm>
            <a:off x="4937760" y="1783080"/>
            <a:ext cx="6702552" cy="4526280"/>
          </a:xfrm>
          <a:prstGeom prst="roundRect">
            <a:avLst>
              <a:gd name="adj" fmla="val 161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1" name="Shape 9"/>
          <p:cNvSpPr/>
          <p:nvPr/>
        </p:nvSpPr>
        <p:spPr>
          <a:xfrm>
            <a:off x="4937760" y="1783080"/>
            <a:ext cx="6702552" cy="502920"/>
          </a:xfrm>
          <a:prstGeom prst="rect">
            <a:avLst/>
          </a:prstGeom>
          <a:solidFill>
            <a:srgbClr val="C8382C"/>
          </a:solidFill>
          <a:ln w="12700">
            <a:solidFill>
              <a:srgbClr val="C8382C"/>
            </a:solidFill>
            <a:prstDash val="solid"/>
          </a:ln>
        </p:spPr>
      </p:sp>
      <p:sp>
        <p:nvSpPr>
          <p:cNvPr id="12" name="Text 10"/>
          <p:cNvSpPr/>
          <p:nvPr/>
        </p:nvSpPr>
        <p:spPr>
          <a:xfrm>
            <a:off x="5212080" y="1783080"/>
            <a:ext cx="3108960" cy="50292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PRACTICE</a:t>
            </a:r>
            <a:endParaRPr lang="en-US" sz="1100" dirty="0"/>
          </a:p>
        </p:txBody>
      </p:sp>
      <p:sp>
        <p:nvSpPr>
          <p:cNvPr id="13" name="Text 11"/>
          <p:cNvSpPr/>
          <p:nvPr/>
        </p:nvSpPr>
        <p:spPr>
          <a:xfrm>
            <a:off x="8366760" y="1783080"/>
            <a:ext cx="3044952" cy="50292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MEASURABLE COMMITMENT (KPI)</a:t>
            </a:r>
            <a:endParaRPr lang="en-US" sz="1100" dirty="0"/>
          </a:p>
        </p:txBody>
      </p:sp>
      <p:sp>
        <p:nvSpPr>
          <p:cNvPr id="14" name="Text 12"/>
          <p:cNvSpPr/>
          <p:nvPr/>
        </p:nvSpPr>
        <p:spPr>
          <a:xfrm>
            <a:off x="5212080" y="2423160"/>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Living wage coverage</a:t>
            </a:r>
            <a:endParaRPr lang="en-US" sz="1100" dirty="0"/>
          </a:p>
        </p:txBody>
      </p:sp>
      <p:sp>
        <p:nvSpPr>
          <p:cNvPr id="15" name="Text 13"/>
          <p:cNvSpPr/>
          <p:nvPr/>
        </p:nvSpPr>
        <p:spPr>
          <a:xfrm>
            <a:off x="8366760" y="2423160"/>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100% direct staff + tier-1 suppliers by 2028</a:t>
            </a:r>
            <a:endParaRPr lang="en-US" sz="1100" dirty="0"/>
          </a:p>
        </p:txBody>
      </p:sp>
      <p:sp>
        <p:nvSpPr>
          <p:cNvPr id="16" name="Shape 14"/>
          <p:cNvSpPr/>
          <p:nvPr/>
        </p:nvSpPr>
        <p:spPr>
          <a:xfrm>
            <a:off x="4983480" y="3172968"/>
            <a:ext cx="6611112" cy="749808"/>
          </a:xfrm>
          <a:prstGeom prst="rect">
            <a:avLst/>
          </a:prstGeom>
          <a:solidFill>
            <a:srgbClr val="EFEAE0"/>
          </a:solidFill>
          <a:ln w="12700">
            <a:solidFill>
              <a:srgbClr val="EFEAE0"/>
            </a:solidFill>
            <a:prstDash val="solid"/>
          </a:ln>
        </p:spPr>
      </p:sp>
      <p:sp>
        <p:nvSpPr>
          <p:cNvPr id="17" name="Text 15"/>
          <p:cNvSpPr/>
          <p:nvPr/>
        </p:nvSpPr>
        <p:spPr>
          <a:xfrm>
            <a:off x="5212080" y="3172968"/>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Modern-slavery diligence</a:t>
            </a:r>
            <a:endParaRPr lang="en-US" sz="1100" dirty="0"/>
          </a:p>
        </p:txBody>
      </p:sp>
      <p:sp>
        <p:nvSpPr>
          <p:cNvPr id="18" name="Text 16"/>
          <p:cNvSpPr/>
          <p:nvPr/>
        </p:nvSpPr>
        <p:spPr>
          <a:xfrm>
            <a:off x="8366760" y="3172968"/>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100% tier-1 suppliers audited annually</a:t>
            </a:r>
            <a:endParaRPr lang="en-US" sz="1100" dirty="0"/>
          </a:p>
        </p:txBody>
      </p:sp>
      <p:sp>
        <p:nvSpPr>
          <p:cNvPr id="19" name="Text 17"/>
          <p:cNvSpPr/>
          <p:nvPr/>
        </p:nvSpPr>
        <p:spPr>
          <a:xfrm>
            <a:off x="5212080" y="3922776"/>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Psychological safety</a:t>
            </a:r>
            <a:endParaRPr lang="en-US" sz="1100" dirty="0"/>
          </a:p>
        </p:txBody>
      </p:sp>
      <p:sp>
        <p:nvSpPr>
          <p:cNvPr id="20" name="Text 18"/>
          <p:cNvSpPr/>
          <p:nvPr/>
        </p:nvSpPr>
        <p:spPr>
          <a:xfrm>
            <a:off x="8366760" y="3922776"/>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Employee dignity index ≥ 80th percentile</a:t>
            </a:r>
            <a:endParaRPr lang="en-US" sz="1100" dirty="0"/>
          </a:p>
        </p:txBody>
      </p:sp>
      <p:sp>
        <p:nvSpPr>
          <p:cNvPr id="21" name="Shape 19"/>
          <p:cNvSpPr/>
          <p:nvPr/>
        </p:nvSpPr>
        <p:spPr>
          <a:xfrm>
            <a:off x="4983480" y="4672584"/>
            <a:ext cx="6611112" cy="749808"/>
          </a:xfrm>
          <a:prstGeom prst="rect">
            <a:avLst/>
          </a:prstGeom>
          <a:solidFill>
            <a:srgbClr val="EFEAE0"/>
          </a:solidFill>
          <a:ln w="12700">
            <a:solidFill>
              <a:srgbClr val="EFEAE0"/>
            </a:solidFill>
            <a:prstDash val="solid"/>
          </a:ln>
        </p:spPr>
      </p:sp>
      <p:sp>
        <p:nvSpPr>
          <p:cNvPr id="22" name="Text 20"/>
          <p:cNvSpPr/>
          <p:nvPr/>
        </p:nvSpPr>
        <p:spPr>
          <a:xfrm>
            <a:off x="5212080" y="4672584"/>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Religious accommodation</a:t>
            </a:r>
            <a:endParaRPr lang="en-US" sz="1100" dirty="0"/>
          </a:p>
        </p:txBody>
      </p:sp>
      <p:sp>
        <p:nvSpPr>
          <p:cNvPr id="23" name="Text 21"/>
          <p:cNvSpPr/>
          <p:nvPr/>
        </p:nvSpPr>
        <p:spPr>
          <a:xfrm>
            <a:off x="8366760" y="4672584"/>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Median request resolution &lt; 48 hours</a:t>
            </a:r>
            <a:endParaRPr lang="en-US" sz="1100" dirty="0"/>
          </a:p>
        </p:txBody>
      </p:sp>
      <p:sp>
        <p:nvSpPr>
          <p:cNvPr id="24" name="Text 22"/>
          <p:cNvSpPr/>
          <p:nvPr/>
        </p:nvSpPr>
        <p:spPr>
          <a:xfrm>
            <a:off x="5212080" y="5422392"/>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Inclusive design testing</a:t>
            </a:r>
            <a:endParaRPr lang="en-US" sz="1100" dirty="0"/>
          </a:p>
        </p:txBody>
      </p:sp>
      <p:sp>
        <p:nvSpPr>
          <p:cNvPr id="25" name="Text 23"/>
          <p:cNvSpPr/>
          <p:nvPr/>
        </p:nvSpPr>
        <p:spPr>
          <a:xfrm>
            <a:off x="8366760" y="5422392"/>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≥3 cultural-religious user groups per product</a:t>
            </a:r>
            <a:endParaRPr lang="en-US" sz="1100" dirty="0"/>
          </a:p>
        </p:txBody>
      </p:sp>
      <p:sp>
        <p:nvSpPr>
          <p:cNvPr id="26" name="Text 24"/>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767069"/>
                </a:solidFill>
                <a:latin typeface="Calibri" pitchFamily="34" charset="0"/>
                <a:ea typeface="Calibri" pitchFamily="34" charset="-122"/>
                <a:cs typeface="Calibri" pitchFamily="34" charset="-120"/>
              </a:rPr>
              <a:t>10 / 14</a:t>
            </a:r>
            <a:endParaRPr lang="en-US" sz="900" dirty="0"/>
          </a:p>
        </p:txBody>
      </p:sp>
      <p:sp>
        <p:nvSpPr>
          <p:cNvPr id="27" name="Text 25"/>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767069"/>
                </a:solidFill>
                <a:latin typeface="Georgia" pitchFamily="34" charset="0"/>
                <a:ea typeface="Georgia" pitchFamily="34" charset="-122"/>
                <a:cs typeface="Georgia" pitchFamily="34" charset="-120"/>
              </a:rPr>
              <a:t>Kokoro for the Earth  ·  Religion &amp; Sustainability  ·  Shizenkan MBA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PILLAR IV  ·  縁 EN</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Service to Community — bound to the places that host you</a:t>
            </a:r>
            <a:endParaRPr lang="en-US" sz="2600" dirty="0"/>
          </a:p>
        </p:txBody>
      </p:sp>
      <p:sp>
        <p:nvSpPr>
          <p:cNvPr id="5" name="Shape 3"/>
          <p:cNvSpPr/>
          <p:nvPr/>
        </p:nvSpPr>
        <p:spPr>
          <a:xfrm>
            <a:off x="548640" y="1783080"/>
            <a:ext cx="4206240" cy="4526280"/>
          </a:xfrm>
          <a:prstGeom prst="roundRect">
            <a:avLst>
              <a:gd name="adj" fmla="val 1739"/>
            </a:avLst>
          </a:prstGeom>
          <a:solidFill>
            <a:srgbClr val="1B2A4E"/>
          </a:solidFill>
          <a:ln w="19050">
            <a:solidFill>
              <a:srgbClr val="C9A86A"/>
            </a:solidFill>
            <a:prstDash val="solid"/>
          </a:ln>
          <a:effectLst>
            <a:outerShdw sx="100000" sy="100000" kx="0" ky="0" algn="bl" rotWithShape="0" blurRad="101600" dist="12700" dir="5400000">
              <a:srgbClr val="000000">
                <a:alpha val="12000"/>
              </a:srgbClr>
            </a:outerShdw>
          </a:effectLst>
        </p:spPr>
      </p:sp>
      <p:sp>
        <p:nvSpPr>
          <p:cNvPr id="6" name="Text 4"/>
          <p:cNvSpPr/>
          <p:nvPr/>
        </p:nvSpPr>
        <p:spPr>
          <a:xfrm>
            <a:off x="548640" y="1920240"/>
            <a:ext cx="4206240" cy="1371600"/>
          </a:xfrm>
          <a:prstGeom prst="rect">
            <a:avLst/>
          </a:prstGeom>
          <a:noFill/>
          <a:ln/>
        </p:spPr>
        <p:txBody>
          <a:bodyPr wrap="square" lIns="0" tIns="0" rIns="0" bIns="0" rtlCol="0" anchor="ctr"/>
          <a:lstStyle/>
          <a:p>
            <a:pPr algn="ctr" indent="0" marL="0">
              <a:buNone/>
            </a:pPr>
            <a:r>
              <a:rPr lang="en-US" sz="9000" b="1" dirty="0">
                <a:solidFill>
                  <a:srgbClr val="C9A86A"/>
                </a:solidFill>
                <a:latin typeface="Georgia" pitchFamily="34" charset="0"/>
                <a:ea typeface="Georgia" pitchFamily="34" charset="-122"/>
                <a:cs typeface="Georgia" pitchFamily="34" charset="-120"/>
              </a:rPr>
              <a:t>縁</a:t>
            </a:r>
            <a:endParaRPr lang="en-US" sz="9000" dirty="0"/>
          </a:p>
        </p:txBody>
      </p:sp>
      <p:sp>
        <p:nvSpPr>
          <p:cNvPr id="7" name="Text 5"/>
          <p:cNvSpPr/>
          <p:nvPr/>
        </p:nvSpPr>
        <p:spPr>
          <a:xfrm>
            <a:off x="548640" y="3246120"/>
            <a:ext cx="4206240" cy="320040"/>
          </a:xfrm>
          <a:prstGeom prst="rect">
            <a:avLst/>
          </a:prstGeom>
          <a:noFill/>
          <a:ln/>
        </p:spPr>
        <p:txBody>
          <a:bodyPr wrap="square" lIns="0" tIns="0" rIns="0" bIns="0" rtlCol="0" anchor="ctr"/>
          <a:lstStyle/>
          <a:p>
            <a:pPr algn="ctr" indent="0" marL="0">
              <a:buNone/>
            </a:pPr>
            <a:r>
              <a:rPr lang="en-US" sz="1200" b="1" spc="400" kern="0" dirty="0">
                <a:solidFill>
                  <a:srgbClr val="C9A86A"/>
                </a:solidFill>
                <a:latin typeface="Calibri" pitchFamily="34" charset="0"/>
                <a:ea typeface="Calibri" pitchFamily="34" charset="-122"/>
                <a:cs typeface="Calibri" pitchFamily="34" charset="-120"/>
              </a:rPr>
              <a:t>EN</a:t>
            </a:r>
            <a:endParaRPr lang="en-US" sz="1200" dirty="0"/>
          </a:p>
        </p:txBody>
      </p:sp>
      <p:sp>
        <p:nvSpPr>
          <p:cNvPr id="8" name="Text 6"/>
          <p:cNvSpPr/>
          <p:nvPr/>
        </p:nvSpPr>
        <p:spPr>
          <a:xfrm>
            <a:off x="777240" y="3611880"/>
            <a:ext cx="3749040" cy="457200"/>
          </a:xfrm>
          <a:prstGeom prst="rect">
            <a:avLst/>
          </a:prstGeom>
          <a:noFill/>
          <a:ln/>
        </p:spPr>
        <p:txBody>
          <a:bodyPr wrap="square" lIns="0" tIns="0" rIns="0" bIns="0" rtlCol="0" anchor="ctr"/>
          <a:lstStyle/>
          <a:p>
            <a:pPr algn="ctr" indent="0" marL="0">
              <a:buNone/>
            </a:pPr>
            <a:r>
              <a:rPr lang="en-US" sz="1600" b="1" i="1" dirty="0">
                <a:solidFill>
                  <a:srgbClr val="F5EAD9"/>
                </a:solidFill>
                <a:latin typeface="Georgia" pitchFamily="34" charset="0"/>
                <a:ea typeface="Georgia" pitchFamily="34" charset="-122"/>
                <a:cs typeface="Georgia" pitchFamily="34" charset="-120"/>
              </a:rPr>
              <a:t>Bound, not contracted</a:t>
            </a:r>
            <a:endParaRPr lang="en-US" sz="1600" dirty="0"/>
          </a:p>
        </p:txBody>
      </p:sp>
      <p:sp>
        <p:nvSpPr>
          <p:cNvPr id="9" name="Text 7"/>
          <p:cNvSpPr/>
          <p:nvPr/>
        </p:nvSpPr>
        <p:spPr>
          <a:xfrm>
            <a:off x="822960" y="4160520"/>
            <a:ext cx="3657600" cy="2011680"/>
          </a:xfrm>
          <a:prstGeom prst="rect">
            <a:avLst/>
          </a:prstGeom>
          <a:noFill/>
          <a:ln/>
        </p:spPr>
        <p:txBody>
          <a:bodyPr wrap="square" lIns="0" tIns="0" rIns="0" bIns="0" rtlCol="0" anchor="ctr"/>
          <a:lstStyle/>
          <a:p>
            <a:pPr algn="ctr" indent="0" marL="0">
              <a:buNone/>
            </a:pPr>
            <a:r>
              <a:rPr lang="en-US" sz="1200" i="1" dirty="0">
                <a:solidFill>
                  <a:srgbClr val="F5EAD9"/>
                </a:solidFill>
                <a:latin typeface="Calibri" pitchFamily="34" charset="0"/>
                <a:ea typeface="Calibri" pitchFamily="34" charset="-122"/>
                <a:cs typeface="Calibri" pitchFamily="34" charset="-120"/>
              </a:rPr>
              <a:t>En — the bond — is not a marketing budget. The communities that host our work are owed long-term commitment, not project-cycle attention.</a:t>
            </a:r>
            <a:endParaRPr lang="en-US" sz="1200" dirty="0"/>
          </a:p>
        </p:txBody>
      </p:sp>
      <p:sp>
        <p:nvSpPr>
          <p:cNvPr id="10" name="Shape 8"/>
          <p:cNvSpPr/>
          <p:nvPr/>
        </p:nvSpPr>
        <p:spPr>
          <a:xfrm>
            <a:off x="4937760" y="1783080"/>
            <a:ext cx="6702552" cy="4526280"/>
          </a:xfrm>
          <a:prstGeom prst="roundRect">
            <a:avLst>
              <a:gd name="adj" fmla="val 161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1" name="Shape 9"/>
          <p:cNvSpPr/>
          <p:nvPr/>
        </p:nvSpPr>
        <p:spPr>
          <a:xfrm>
            <a:off x="4937760" y="1783080"/>
            <a:ext cx="6702552" cy="502920"/>
          </a:xfrm>
          <a:prstGeom prst="rect">
            <a:avLst/>
          </a:prstGeom>
          <a:solidFill>
            <a:srgbClr val="C9A86A"/>
          </a:solidFill>
          <a:ln w="12700">
            <a:solidFill>
              <a:srgbClr val="C9A86A"/>
            </a:solidFill>
            <a:prstDash val="solid"/>
          </a:ln>
        </p:spPr>
      </p:sp>
      <p:sp>
        <p:nvSpPr>
          <p:cNvPr id="12" name="Text 10"/>
          <p:cNvSpPr/>
          <p:nvPr/>
        </p:nvSpPr>
        <p:spPr>
          <a:xfrm>
            <a:off x="5212080" y="1783080"/>
            <a:ext cx="3108960" cy="50292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PRACTICE</a:t>
            </a:r>
            <a:endParaRPr lang="en-US" sz="1100" dirty="0"/>
          </a:p>
        </p:txBody>
      </p:sp>
      <p:sp>
        <p:nvSpPr>
          <p:cNvPr id="13" name="Text 11"/>
          <p:cNvSpPr/>
          <p:nvPr/>
        </p:nvSpPr>
        <p:spPr>
          <a:xfrm>
            <a:off x="8366760" y="1783080"/>
            <a:ext cx="3044952" cy="50292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MEASURABLE COMMITMENT (KPI)</a:t>
            </a:r>
            <a:endParaRPr lang="en-US" sz="1100" dirty="0"/>
          </a:p>
        </p:txBody>
      </p:sp>
      <p:sp>
        <p:nvSpPr>
          <p:cNvPr id="14" name="Text 12"/>
          <p:cNvSpPr/>
          <p:nvPr/>
        </p:nvSpPr>
        <p:spPr>
          <a:xfrm>
            <a:off x="5212080" y="2423160"/>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Local hiring</a:t>
            </a:r>
            <a:endParaRPr lang="en-US" sz="1100" dirty="0"/>
          </a:p>
        </p:txBody>
      </p:sp>
      <p:sp>
        <p:nvSpPr>
          <p:cNvPr id="15" name="Text 13"/>
          <p:cNvSpPr/>
          <p:nvPr/>
        </p:nvSpPr>
        <p:spPr>
          <a:xfrm>
            <a:off x="8366760" y="2423160"/>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≥60% workforce hired locally per host country</a:t>
            </a:r>
            <a:endParaRPr lang="en-US" sz="1100" dirty="0"/>
          </a:p>
        </p:txBody>
      </p:sp>
      <p:sp>
        <p:nvSpPr>
          <p:cNvPr id="16" name="Shape 14"/>
          <p:cNvSpPr/>
          <p:nvPr/>
        </p:nvSpPr>
        <p:spPr>
          <a:xfrm>
            <a:off x="4983480" y="3172968"/>
            <a:ext cx="6611112" cy="749808"/>
          </a:xfrm>
          <a:prstGeom prst="rect">
            <a:avLst/>
          </a:prstGeom>
          <a:solidFill>
            <a:srgbClr val="EFEAE0"/>
          </a:solidFill>
          <a:ln w="12700">
            <a:solidFill>
              <a:srgbClr val="EFEAE0"/>
            </a:solidFill>
            <a:prstDash val="solid"/>
          </a:ln>
        </p:spPr>
      </p:sp>
      <p:sp>
        <p:nvSpPr>
          <p:cNvPr id="17" name="Text 15"/>
          <p:cNvSpPr/>
          <p:nvPr/>
        </p:nvSpPr>
        <p:spPr>
          <a:xfrm>
            <a:off x="5212080" y="3172968"/>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Profit sharing with host communities</a:t>
            </a:r>
            <a:endParaRPr lang="en-US" sz="1100" dirty="0"/>
          </a:p>
        </p:txBody>
      </p:sp>
      <p:sp>
        <p:nvSpPr>
          <p:cNvPr id="18" name="Text 16"/>
          <p:cNvSpPr/>
          <p:nvPr/>
        </p:nvSpPr>
        <p:spPr>
          <a:xfrm>
            <a:off x="8366760" y="3172968"/>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≥1% revenue reinvested in host markets</a:t>
            </a:r>
            <a:endParaRPr lang="en-US" sz="1100" dirty="0"/>
          </a:p>
        </p:txBody>
      </p:sp>
      <p:sp>
        <p:nvSpPr>
          <p:cNvPr id="19" name="Text 17"/>
          <p:cNvSpPr/>
          <p:nvPr/>
        </p:nvSpPr>
        <p:spPr>
          <a:xfrm>
            <a:off x="5212080" y="3922776"/>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Cultural heritage partnerships</a:t>
            </a:r>
            <a:endParaRPr lang="en-US" sz="1100" dirty="0"/>
          </a:p>
        </p:txBody>
      </p:sp>
      <p:sp>
        <p:nvSpPr>
          <p:cNvPr id="20" name="Text 18"/>
          <p:cNvSpPr/>
          <p:nvPr/>
        </p:nvSpPr>
        <p:spPr>
          <a:xfrm>
            <a:off x="8366760" y="3922776"/>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≥1 active heritage project per host country</a:t>
            </a:r>
            <a:endParaRPr lang="en-US" sz="1100" dirty="0"/>
          </a:p>
        </p:txBody>
      </p:sp>
      <p:sp>
        <p:nvSpPr>
          <p:cNvPr id="21" name="Shape 19"/>
          <p:cNvSpPr/>
          <p:nvPr/>
        </p:nvSpPr>
        <p:spPr>
          <a:xfrm>
            <a:off x="4983480" y="4672584"/>
            <a:ext cx="6611112" cy="749808"/>
          </a:xfrm>
          <a:prstGeom prst="rect">
            <a:avLst/>
          </a:prstGeom>
          <a:solidFill>
            <a:srgbClr val="EFEAE0"/>
          </a:solidFill>
          <a:ln w="12700">
            <a:solidFill>
              <a:srgbClr val="EFEAE0"/>
            </a:solidFill>
            <a:prstDash val="solid"/>
          </a:ln>
        </p:spPr>
      </p:sp>
      <p:sp>
        <p:nvSpPr>
          <p:cNvPr id="22" name="Text 20"/>
          <p:cNvSpPr/>
          <p:nvPr/>
        </p:nvSpPr>
        <p:spPr>
          <a:xfrm>
            <a:off x="5212080" y="4672584"/>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Crisis-response solidarity</a:t>
            </a:r>
            <a:endParaRPr lang="en-US" sz="1100" dirty="0"/>
          </a:p>
        </p:txBody>
      </p:sp>
      <p:sp>
        <p:nvSpPr>
          <p:cNvPr id="23" name="Text 21"/>
          <p:cNvSpPr/>
          <p:nvPr/>
        </p:nvSpPr>
        <p:spPr>
          <a:xfrm>
            <a:off x="8366760" y="4672584"/>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Pre-committed regional response budget</a:t>
            </a:r>
            <a:endParaRPr lang="en-US" sz="1100" dirty="0"/>
          </a:p>
        </p:txBody>
      </p:sp>
      <p:sp>
        <p:nvSpPr>
          <p:cNvPr id="24" name="Text 22"/>
          <p:cNvSpPr/>
          <p:nvPr/>
        </p:nvSpPr>
        <p:spPr>
          <a:xfrm>
            <a:off x="5212080" y="5422392"/>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Community council</a:t>
            </a:r>
            <a:endParaRPr lang="en-US" sz="1100" dirty="0"/>
          </a:p>
        </p:txBody>
      </p:sp>
      <p:sp>
        <p:nvSpPr>
          <p:cNvPr id="25" name="Text 23"/>
          <p:cNvSpPr/>
          <p:nvPr/>
        </p:nvSpPr>
        <p:spPr>
          <a:xfrm>
            <a:off x="8366760" y="5422392"/>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Annual binding council in every host market</a:t>
            </a:r>
            <a:endParaRPr lang="en-US" sz="1100" dirty="0"/>
          </a:p>
        </p:txBody>
      </p:sp>
      <p:sp>
        <p:nvSpPr>
          <p:cNvPr id="26" name="Text 24"/>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767069"/>
                </a:solidFill>
                <a:latin typeface="Calibri" pitchFamily="34" charset="0"/>
                <a:ea typeface="Calibri" pitchFamily="34" charset="-122"/>
                <a:cs typeface="Calibri" pitchFamily="34" charset="-120"/>
              </a:rPr>
              <a:t>11 / 14</a:t>
            </a:r>
            <a:endParaRPr lang="en-US" sz="900" dirty="0"/>
          </a:p>
        </p:txBody>
      </p:sp>
      <p:sp>
        <p:nvSpPr>
          <p:cNvPr id="27" name="Text 25"/>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767069"/>
                </a:solidFill>
                <a:latin typeface="Georgia" pitchFamily="34" charset="0"/>
                <a:ea typeface="Georgia" pitchFamily="34" charset="-122"/>
                <a:cs typeface="Georgia" pitchFamily="34" charset="-120"/>
              </a:rPr>
              <a:t>Kokoro for the Earth  ·  Religion &amp; Sustainability  ·  Shizenkan MBA 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PILLAR V  ·  誠 MAKOTO</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Transparency &amp; Accountability — sincerity that can be audited</a:t>
            </a:r>
            <a:endParaRPr lang="en-US" sz="2600" dirty="0"/>
          </a:p>
        </p:txBody>
      </p:sp>
      <p:sp>
        <p:nvSpPr>
          <p:cNvPr id="5" name="Shape 3"/>
          <p:cNvSpPr/>
          <p:nvPr/>
        </p:nvSpPr>
        <p:spPr>
          <a:xfrm>
            <a:off x="548640" y="1783080"/>
            <a:ext cx="4206240" cy="4526280"/>
          </a:xfrm>
          <a:prstGeom prst="roundRect">
            <a:avLst>
              <a:gd name="adj" fmla="val 1739"/>
            </a:avLst>
          </a:prstGeom>
          <a:solidFill>
            <a:srgbClr val="1B2A4E"/>
          </a:solidFill>
          <a:ln w="19050">
            <a:solidFill>
              <a:srgbClr val="C9A86A"/>
            </a:solidFill>
            <a:prstDash val="solid"/>
          </a:ln>
          <a:effectLst>
            <a:outerShdw sx="100000" sy="100000" kx="0" ky="0" algn="bl" rotWithShape="0" blurRad="101600" dist="12700" dir="5400000">
              <a:srgbClr val="000000">
                <a:alpha val="12000"/>
              </a:srgbClr>
            </a:outerShdw>
          </a:effectLst>
        </p:spPr>
      </p:sp>
      <p:sp>
        <p:nvSpPr>
          <p:cNvPr id="6" name="Text 4"/>
          <p:cNvSpPr/>
          <p:nvPr/>
        </p:nvSpPr>
        <p:spPr>
          <a:xfrm>
            <a:off x="548640" y="1920240"/>
            <a:ext cx="4206240" cy="1371600"/>
          </a:xfrm>
          <a:prstGeom prst="rect">
            <a:avLst/>
          </a:prstGeom>
          <a:noFill/>
          <a:ln/>
        </p:spPr>
        <p:txBody>
          <a:bodyPr wrap="square" lIns="0" tIns="0" rIns="0" bIns="0" rtlCol="0" anchor="ctr"/>
          <a:lstStyle/>
          <a:p>
            <a:pPr algn="ctr" indent="0" marL="0">
              <a:buNone/>
            </a:pPr>
            <a:r>
              <a:rPr lang="en-US" sz="9000" b="1" dirty="0">
                <a:solidFill>
                  <a:srgbClr val="1B2A4E"/>
                </a:solidFill>
                <a:latin typeface="Georgia" pitchFamily="34" charset="0"/>
                <a:ea typeface="Georgia" pitchFamily="34" charset="-122"/>
                <a:cs typeface="Georgia" pitchFamily="34" charset="-120"/>
              </a:rPr>
              <a:t>誠</a:t>
            </a:r>
            <a:endParaRPr lang="en-US" sz="9000" dirty="0"/>
          </a:p>
        </p:txBody>
      </p:sp>
      <p:sp>
        <p:nvSpPr>
          <p:cNvPr id="7" name="Text 5"/>
          <p:cNvSpPr/>
          <p:nvPr/>
        </p:nvSpPr>
        <p:spPr>
          <a:xfrm>
            <a:off x="548640" y="3246120"/>
            <a:ext cx="4206240" cy="320040"/>
          </a:xfrm>
          <a:prstGeom prst="rect">
            <a:avLst/>
          </a:prstGeom>
          <a:noFill/>
          <a:ln/>
        </p:spPr>
        <p:txBody>
          <a:bodyPr wrap="square" lIns="0" tIns="0" rIns="0" bIns="0" rtlCol="0" anchor="ctr"/>
          <a:lstStyle/>
          <a:p>
            <a:pPr algn="ctr" indent="0" marL="0">
              <a:buNone/>
            </a:pPr>
            <a:r>
              <a:rPr lang="en-US" sz="1200" b="1" spc="400" kern="0" dirty="0">
                <a:solidFill>
                  <a:srgbClr val="C9A86A"/>
                </a:solidFill>
                <a:latin typeface="Calibri" pitchFamily="34" charset="0"/>
                <a:ea typeface="Calibri" pitchFamily="34" charset="-122"/>
                <a:cs typeface="Calibri" pitchFamily="34" charset="-120"/>
              </a:rPr>
              <a:t>MAKOTO</a:t>
            </a:r>
            <a:endParaRPr lang="en-US" sz="1200" dirty="0"/>
          </a:p>
        </p:txBody>
      </p:sp>
      <p:sp>
        <p:nvSpPr>
          <p:cNvPr id="8" name="Text 6"/>
          <p:cNvSpPr/>
          <p:nvPr/>
        </p:nvSpPr>
        <p:spPr>
          <a:xfrm>
            <a:off x="777240" y="3611880"/>
            <a:ext cx="3749040" cy="457200"/>
          </a:xfrm>
          <a:prstGeom prst="rect">
            <a:avLst/>
          </a:prstGeom>
          <a:noFill/>
          <a:ln/>
        </p:spPr>
        <p:txBody>
          <a:bodyPr wrap="square" lIns="0" tIns="0" rIns="0" bIns="0" rtlCol="0" anchor="ctr"/>
          <a:lstStyle/>
          <a:p>
            <a:pPr algn="ctr" indent="0" marL="0">
              <a:buNone/>
            </a:pPr>
            <a:r>
              <a:rPr lang="en-US" sz="1600" b="1" i="1" dirty="0">
                <a:solidFill>
                  <a:srgbClr val="F5EAD9"/>
                </a:solidFill>
                <a:latin typeface="Georgia" pitchFamily="34" charset="0"/>
                <a:ea typeface="Georgia" pitchFamily="34" charset="-122"/>
                <a:cs typeface="Georgia" pitchFamily="34" charset="-120"/>
              </a:rPr>
              <a:t>Audited, not asserted</a:t>
            </a:r>
            <a:endParaRPr lang="en-US" sz="1600" dirty="0"/>
          </a:p>
        </p:txBody>
      </p:sp>
      <p:sp>
        <p:nvSpPr>
          <p:cNvPr id="9" name="Text 7"/>
          <p:cNvSpPr/>
          <p:nvPr/>
        </p:nvSpPr>
        <p:spPr>
          <a:xfrm>
            <a:off x="822960" y="4160520"/>
            <a:ext cx="3657600" cy="2011680"/>
          </a:xfrm>
          <a:prstGeom prst="rect">
            <a:avLst/>
          </a:prstGeom>
          <a:noFill/>
          <a:ln/>
        </p:spPr>
        <p:txBody>
          <a:bodyPr wrap="square" lIns="0" tIns="0" rIns="0" bIns="0" rtlCol="0" anchor="ctr"/>
          <a:lstStyle/>
          <a:p>
            <a:pPr algn="ctr" indent="0" marL="0">
              <a:buNone/>
            </a:pPr>
            <a:r>
              <a:rPr lang="en-US" sz="1200" i="1" dirty="0">
                <a:solidFill>
                  <a:srgbClr val="F5EAD9"/>
                </a:solidFill>
                <a:latin typeface="Calibri" pitchFamily="34" charset="0"/>
                <a:ea typeface="Calibri" pitchFamily="34" charset="-122"/>
                <a:cs typeface="Calibri" pitchFamily="34" charset="-120"/>
              </a:rPr>
              <a:t>Makoto is sincerity made checkable. Public commitments, independent assurance, board ownership — so trust is earned by verification, not by promise.</a:t>
            </a:r>
            <a:endParaRPr lang="en-US" sz="1200" dirty="0"/>
          </a:p>
        </p:txBody>
      </p:sp>
      <p:sp>
        <p:nvSpPr>
          <p:cNvPr id="10" name="Shape 8"/>
          <p:cNvSpPr/>
          <p:nvPr/>
        </p:nvSpPr>
        <p:spPr>
          <a:xfrm>
            <a:off x="4937760" y="1783080"/>
            <a:ext cx="6702552" cy="4526280"/>
          </a:xfrm>
          <a:prstGeom prst="roundRect">
            <a:avLst>
              <a:gd name="adj" fmla="val 1616"/>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1" name="Shape 9"/>
          <p:cNvSpPr/>
          <p:nvPr/>
        </p:nvSpPr>
        <p:spPr>
          <a:xfrm>
            <a:off x="4937760" y="1783080"/>
            <a:ext cx="6702552" cy="502920"/>
          </a:xfrm>
          <a:prstGeom prst="rect">
            <a:avLst/>
          </a:prstGeom>
          <a:solidFill>
            <a:srgbClr val="1B2A4E"/>
          </a:solidFill>
          <a:ln w="12700">
            <a:solidFill>
              <a:srgbClr val="1B2A4E"/>
            </a:solidFill>
            <a:prstDash val="solid"/>
          </a:ln>
        </p:spPr>
      </p:sp>
      <p:sp>
        <p:nvSpPr>
          <p:cNvPr id="12" name="Text 10"/>
          <p:cNvSpPr/>
          <p:nvPr/>
        </p:nvSpPr>
        <p:spPr>
          <a:xfrm>
            <a:off x="5212080" y="1783080"/>
            <a:ext cx="3108960" cy="50292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PRACTICE</a:t>
            </a:r>
            <a:endParaRPr lang="en-US" sz="1100" dirty="0"/>
          </a:p>
        </p:txBody>
      </p:sp>
      <p:sp>
        <p:nvSpPr>
          <p:cNvPr id="13" name="Text 11"/>
          <p:cNvSpPr/>
          <p:nvPr/>
        </p:nvSpPr>
        <p:spPr>
          <a:xfrm>
            <a:off x="8366760" y="1783080"/>
            <a:ext cx="3044952" cy="502920"/>
          </a:xfrm>
          <a:prstGeom prst="rect">
            <a:avLst/>
          </a:prstGeom>
          <a:noFill/>
          <a:ln/>
        </p:spPr>
        <p:txBody>
          <a:bodyPr wrap="square" lIns="0" tIns="0" rIns="0" bIns="0" rtlCol="0" anchor="ctr"/>
          <a:lstStyle/>
          <a:p>
            <a:pPr indent="0" marL="0">
              <a:buNone/>
            </a:pPr>
            <a:r>
              <a:rPr lang="en-US" sz="1100" b="1" spc="300" kern="0" dirty="0">
                <a:solidFill>
                  <a:srgbClr val="F5EAD9"/>
                </a:solidFill>
                <a:latin typeface="Calibri" pitchFamily="34" charset="0"/>
                <a:ea typeface="Calibri" pitchFamily="34" charset="-122"/>
                <a:cs typeface="Calibri" pitchFamily="34" charset="-120"/>
              </a:rPr>
              <a:t>MEASURABLE COMMITMENT (KPI)</a:t>
            </a:r>
            <a:endParaRPr lang="en-US" sz="1100" dirty="0"/>
          </a:p>
        </p:txBody>
      </p:sp>
      <p:sp>
        <p:nvSpPr>
          <p:cNvPr id="14" name="Text 12"/>
          <p:cNvSpPr/>
          <p:nvPr/>
        </p:nvSpPr>
        <p:spPr>
          <a:xfrm>
            <a:off x="5212080" y="2423160"/>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Integrated reporting (financial + ESG + cultural)</a:t>
            </a:r>
            <a:endParaRPr lang="en-US" sz="1100" dirty="0"/>
          </a:p>
        </p:txBody>
      </p:sp>
      <p:sp>
        <p:nvSpPr>
          <p:cNvPr id="15" name="Text 13"/>
          <p:cNvSpPr/>
          <p:nvPr/>
        </p:nvSpPr>
        <p:spPr>
          <a:xfrm>
            <a:off x="8366760" y="2423160"/>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Annual, GRI + IFRS S2 aligned</a:t>
            </a:r>
            <a:endParaRPr lang="en-US" sz="1100" dirty="0"/>
          </a:p>
        </p:txBody>
      </p:sp>
      <p:sp>
        <p:nvSpPr>
          <p:cNvPr id="16" name="Shape 14"/>
          <p:cNvSpPr/>
          <p:nvPr/>
        </p:nvSpPr>
        <p:spPr>
          <a:xfrm>
            <a:off x="4983480" y="3172968"/>
            <a:ext cx="6611112" cy="749808"/>
          </a:xfrm>
          <a:prstGeom prst="rect">
            <a:avLst/>
          </a:prstGeom>
          <a:solidFill>
            <a:srgbClr val="EFEAE0"/>
          </a:solidFill>
          <a:ln w="12700">
            <a:solidFill>
              <a:srgbClr val="EFEAE0"/>
            </a:solidFill>
            <a:prstDash val="solid"/>
          </a:ln>
        </p:spPr>
      </p:sp>
      <p:sp>
        <p:nvSpPr>
          <p:cNvPr id="17" name="Text 15"/>
          <p:cNvSpPr/>
          <p:nvPr/>
        </p:nvSpPr>
        <p:spPr>
          <a:xfrm>
            <a:off x="5212080" y="3172968"/>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Third-party assurance</a:t>
            </a:r>
            <a:endParaRPr lang="en-US" sz="1100" dirty="0"/>
          </a:p>
        </p:txBody>
      </p:sp>
      <p:sp>
        <p:nvSpPr>
          <p:cNvPr id="18" name="Text 16"/>
          <p:cNvSpPr/>
          <p:nvPr/>
        </p:nvSpPr>
        <p:spPr>
          <a:xfrm>
            <a:off x="8366760" y="3172968"/>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100% Kokoro KPI targets externally assured</a:t>
            </a:r>
            <a:endParaRPr lang="en-US" sz="1100" dirty="0"/>
          </a:p>
        </p:txBody>
      </p:sp>
      <p:sp>
        <p:nvSpPr>
          <p:cNvPr id="19" name="Text 17"/>
          <p:cNvSpPr/>
          <p:nvPr/>
        </p:nvSpPr>
        <p:spPr>
          <a:xfrm>
            <a:off x="5212080" y="3922776"/>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Public Kokoro dashboard</a:t>
            </a:r>
            <a:endParaRPr lang="en-US" sz="1100" dirty="0"/>
          </a:p>
        </p:txBody>
      </p:sp>
      <p:sp>
        <p:nvSpPr>
          <p:cNvPr id="20" name="Text 18"/>
          <p:cNvSpPr/>
          <p:nvPr/>
        </p:nvSpPr>
        <p:spPr>
          <a:xfrm>
            <a:off x="8366760" y="3922776"/>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Live, refreshed quarterly, open access</a:t>
            </a:r>
            <a:endParaRPr lang="en-US" sz="1100" dirty="0"/>
          </a:p>
        </p:txBody>
      </p:sp>
      <p:sp>
        <p:nvSpPr>
          <p:cNvPr id="21" name="Shape 19"/>
          <p:cNvSpPr/>
          <p:nvPr/>
        </p:nvSpPr>
        <p:spPr>
          <a:xfrm>
            <a:off x="4983480" y="4672584"/>
            <a:ext cx="6611112" cy="749808"/>
          </a:xfrm>
          <a:prstGeom prst="rect">
            <a:avLst/>
          </a:prstGeom>
          <a:solidFill>
            <a:srgbClr val="EFEAE0"/>
          </a:solidFill>
          <a:ln w="12700">
            <a:solidFill>
              <a:srgbClr val="EFEAE0"/>
            </a:solidFill>
            <a:prstDash val="solid"/>
          </a:ln>
        </p:spPr>
      </p:sp>
      <p:sp>
        <p:nvSpPr>
          <p:cNvPr id="22" name="Text 20"/>
          <p:cNvSpPr/>
          <p:nvPr/>
        </p:nvSpPr>
        <p:spPr>
          <a:xfrm>
            <a:off x="5212080" y="4672584"/>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Board oversight</a:t>
            </a:r>
            <a:endParaRPr lang="en-US" sz="1100" dirty="0"/>
          </a:p>
        </p:txBody>
      </p:sp>
      <p:sp>
        <p:nvSpPr>
          <p:cNvPr id="23" name="Text 21"/>
          <p:cNvSpPr/>
          <p:nvPr/>
        </p:nvSpPr>
        <p:spPr>
          <a:xfrm>
            <a:off x="8366760" y="4672584"/>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≥20% of board meeting time on Kokoro Framework</a:t>
            </a:r>
            <a:endParaRPr lang="en-US" sz="1100" dirty="0"/>
          </a:p>
        </p:txBody>
      </p:sp>
      <p:sp>
        <p:nvSpPr>
          <p:cNvPr id="24" name="Text 22"/>
          <p:cNvSpPr/>
          <p:nvPr/>
        </p:nvSpPr>
        <p:spPr>
          <a:xfrm>
            <a:off x="5212080" y="5422392"/>
            <a:ext cx="3108960" cy="749808"/>
          </a:xfrm>
          <a:prstGeom prst="rect">
            <a:avLst/>
          </a:prstGeom>
          <a:noFill/>
          <a:ln/>
        </p:spPr>
        <p:txBody>
          <a:bodyPr wrap="square" lIns="0" tIns="0" rIns="0" bIns="0" rtlCol="0" anchor="ctr"/>
          <a:lstStyle/>
          <a:p>
            <a:pPr indent="0" marL="0">
              <a:buNone/>
            </a:pPr>
            <a:r>
              <a:rPr lang="en-US" sz="1100" b="1" dirty="0">
                <a:solidFill>
                  <a:srgbClr val="1B2A4E"/>
                </a:solidFill>
                <a:latin typeface="Calibri" pitchFamily="34" charset="0"/>
                <a:ea typeface="Calibri" pitchFamily="34" charset="-122"/>
                <a:cs typeface="Calibri" pitchFamily="34" charset="-120"/>
              </a:rPr>
              <a:t>Whistleblower channel</a:t>
            </a:r>
            <a:endParaRPr lang="en-US" sz="1100" dirty="0"/>
          </a:p>
        </p:txBody>
      </p:sp>
      <p:sp>
        <p:nvSpPr>
          <p:cNvPr id="25" name="Text 23"/>
          <p:cNvSpPr/>
          <p:nvPr/>
        </p:nvSpPr>
        <p:spPr>
          <a:xfrm>
            <a:off x="8366760" y="5422392"/>
            <a:ext cx="3044952" cy="749808"/>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Anonymous, multilingual, response &lt; 72 hours</a:t>
            </a:r>
            <a:endParaRPr lang="en-US" sz="1100" dirty="0"/>
          </a:p>
        </p:txBody>
      </p:sp>
      <p:sp>
        <p:nvSpPr>
          <p:cNvPr id="26" name="Text 24"/>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767069"/>
                </a:solidFill>
                <a:latin typeface="Calibri" pitchFamily="34" charset="0"/>
                <a:ea typeface="Calibri" pitchFamily="34" charset="-122"/>
                <a:cs typeface="Calibri" pitchFamily="34" charset="-120"/>
              </a:rPr>
              <a:t>12 / 14</a:t>
            </a:r>
            <a:endParaRPr lang="en-US" sz="900" dirty="0"/>
          </a:p>
        </p:txBody>
      </p:sp>
      <p:sp>
        <p:nvSpPr>
          <p:cNvPr id="27" name="Text 25"/>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767069"/>
                </a:solidFill>
                <a:latin typeface="Georgia" pitchFamily="34" charset="0"/>
                <a:ea typeface="Georgia" pitchFamily="34" charset="-122"/>
                <a:cs typeface="Georgia" pitchFamily="34" charset="-120"/>
              </a:rPr>
              <a:t>Kokoro for the Earth  ·  Religion &amp; Sustainability  ·  Shizenkan MBA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5E8"/>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8382C"/>
          </a:solidFill>
          <a:ln w="12700">
            <a:solidFill>
              <a:srgbClr val="C8382C"/>
            </a:solidFill>
            <a:prstDash val="solid"/>
          </a:ln>
        </p:spPr>
      </p:sp>
      <p:sp>
        <p:nvSpPr>
          <p:cNvPr id="3" name="Text 1"/>
          <p:cNvSpPr/>
          <p:nvPr/>
        </p:nvSpPr>
        <p:spPr>
          <a:xfrm>
            <a:off x="548640" y="274320"/>
            <a:ext cx="10972800" cy="274320"/>
          </a:xfrm>
          <a:prstGeom prst="rect">
            <a:avLst/>
          </a:prstGeom>
          <a:noFill/>
          <a:ln/>
        </p:spPr>
        <p:txBody>
          <a:bodyPr wrap="square" lIns="0" tIns="0" rIns="0" bIns="0" rtlCol="0" anchor="ctr"/>
          <a:lstStyle/>
          <a:p>
            <a:pPr indent="0" marL="0">
              <a:buNone/>
            </a:pPr>
            <a:r>
              <a:rPr lang="en-US" sz="1100" b="1" spc="400" kern="0" dirty="0">
                <a:solidFill>
                  <a:srgbClr val="C8382C"/>
                </a:solidFill>
                <a:latin typeface="Calibri" pitchFamily="34" charset="0"/>
                <a:ea typeface="Calibri" pitchFamily="34" charset="-122"/>
                <a:cs typeface="Calibri" pitchFamily="34" charset="-120"/>
              </a:rPr>
              <a:t>07 · ROADMAP</a:t>
            </a:r>
            <a:endParaRPr lang="en-US" sz="1100" dirty="0"/>
          </a:p>
        </p:txBody>
      </p:sp>
      <p:sp>
        <p:nvSpPr>
          <p:cNvPr id="4" name="Text 2"/>
          <p:cNvSpPr/>
          <p:nvPr/>
        </p:nvSpPr>
        <p:spPr>
          <a:xfrm>
            <a:off x="548640" y="576072"/>
            <a:ext cx="11155680" cy="777240"/>
          </a:xfrm>
          <a:prstGeom prst="rect">
            <a:avLst/>
          </a:prstGeom>
          <a:noFill/>
          <a:ln/>
        </p:spPr>
        <p:txBody>
          <a:bodyPr wrap="square" lIns="0" tIns="0" rIns="0" bIns="0" rtlCol="0" anchor="ctr"/>
          <a:lstStyle/>
          <a:p>
            <a:pPr indent="0" marL="0">
              <a:buNone/>
            </a:pPr>
            <a:r>
              <a:rPr lang="en-US" sz="2600" b="1" dirty="0">
                <a:solidFill>
                  <a:srgbClr val="1B2A4E"/>
                </a:solidFill>
                <a:latin typeface="Georgia" pitchFamily="34" charset="0"/>
                <a:ea typeface="Georgia" pitchFamily="34" charset="-122"/>
                <a:cs typeface="Georgia" pitchFamily="34" charset="-120"/>
              </a:rPr>
              <a:t>Three horizons — from foundation to regenerative</a:t>
            </a:r>
            <a:endParaRPr lang="en-US" sz="2600" dirty="0"/>
          </a:p>
        </p:txBody>
      </p:sp>
      <p:sp>
        <p:nvSpPr>
          <p:cNvPr id="5" name="Shape 3"/>
          <p:cNvSpPr/>
          <p:nvPr/>
        </p:nvSpPr>
        <p:spPr>
          <a:xfrm>
            <a:off x="548640" y="1783080"/>
            <a:ext cx="3657600" cy="4160520"/>
          </a:xfrm>
          <a:prstGeom prst="roundRect">
            <a:avLst>
              <a:gd name="adj" fmla="val 2000"/>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6" name="Shape 4"/>
          <p:cNvSpPr/>
          <p:nvPr/>
        </p:nvSpPr>
        <p:spPr>
          <a:xfrm>
            <a:off x="548640" y="1783080"/>
            <a:ext cx="3657600" cy="457200"/>
          </a:xfrm>
          <a:prstGeom prst="rect">
            <a:avLst/>
          </a:prstGeom>
          <a:solidFill>
            <a:srgbClr val="C8382C"/>
          </a:solidFill>
          <a:ln w="12700">
            <a:solidFill>
              <a:srgbClr val="C8382C"/>
            </a:solidFill>
            <a:prstDash val="solid"/>
          </a:ln>
        </p:spPr>
      </p:sp>
      <p:sp>
        <p:nvSpPr>
          <p:cNvPr id="7" name="Text 5"/>
          <p:cNvSpPr/>
          <p:nvPr/>
        </p:nvSpPr>
        <p:spPr>
          <a:xfrm>
            <a:off x="731520" y="1783080"/>
            <a:ext cx="3291840" cy="457200"/>
          </a:xfrm>
          <a:prstGeom prst="rect">
            <a:avLst/>
          </a:prstGeom>
          <a:noFill/>
          <a:ln/>
        </p:spPr>
        <p:txBody>
          <a:bodyPr wrap="square" lIns="0" tIns="0" rIns="0" bIns="0" rtlCol="0" anchor="ctr"/>
          <a:lstStyle/>
          <a:p>
            <a:pPr indent="0" marL="0">
              <a:buNone/>
            </a:pPr>
            <a:r>
              <a:rPr lang="en-US" sz="1000" b="1" spc="300" kern="0" dirty="0">
                <a:solidFill>
                  <a:srgbClr val="F5EAD9"/>
                </a:solidFill>
                <a:latin typeface="Calibri" pitchFamily="34" charset="0"/>
                <a:ea typeface="Calibri" pitchFamily="34" charset="-122"/>
                <a:cs typeface="Calibri" pitchFamily="34" charset="-120"/>
              </a:rPr>
              <a:t>HORIZON 1  ·  0–12 MONTHS</a:t>
            </a:r>
            <a:endParaRPr lang="en-US" sz="1000" dirty="0"/>
          </a:p>
        </p:txBody>
      </p:sp>
      <p:sp>
        <p:nvSpPr>
          <p:cNvPr id="8" name="Text 6"/>
          <p:cNvSpPr/>
          <p:nvPr/>
        </p:nvSpPr>
        <p:spPr>
          <a:xfrm>
            <a:off x="822960" y="2331720"/>
            <a:ext cx="3108960" cy="777240"/>
          </a:xfrm>
          <a:prstGeom prst="rect">
            <a:avLst/>
          </a:prstGeom>
          <a:noFill/>
          <a:ln/>
        </p:spPr>
        <p:txBody>
          <a:bodyPr wrap="square" lIns="0" tIns="0" rIns="0" bIns="0" rtlCol="0" anchor="ctr"/>
          <a:lstStyle/>
          <a:p>
            <a:pPr indent="0" marL="0">
              <a:buNone/>
            </a:pPr>
            <a:r>
              <a:rPr lang="en-US" sz="3600" b="1" i="1" dirty="0">
                <a:solidFill>
                  <a:srgbClr val="C8382C"/>
                </a:solidFill>
                <a:latin typeface="Georgia" pitchFamily="34" charset="0"/>
                <a:ea typeface="Georgia" pitchFamily="34" charset="-122"/>
                <a:cs typeface="Georgia" pitchFamily="34" charset="-120"/>
              </a:rPr>
              <a:t>Learn.</a:t>
            </a:r>
            <a:endParaRPr lang="en-US" sz="3600" dirty="0"/>
          </a:p>
        </p:txBody>
      </p:sp>
      <p:sp>
        <p:nvSpPr>
          <p:cNvPr id="9" name="Text 7"/>
          <p:cNvSpPr/>
          <p:nvPr/>
        </p:nvSpPr>
        <p:spPr>
          <a:xfrm>
            <a:off x="822960" y="3108960"/>
            <a:ext cx="3108960" cy="365760"/>
          </a:xfrm>
          <a:prstGeom prst="rect">
            <a:avLst/>
          </a:prstGeom>
          <a:noFill/>
          <a:ln/>
        </p:spPr>
        <p:txBody>
          <a:bodyPr wrap="square" lIns="0" tIns="0" rIns="0" bIns="0" rtlCol="0" anchor="ctr"/>
          <a:lstStyle/>
          <a:p>
            <a:pPr indent="0" marL="0">
              <a:buNone/>
            </a:pPr>
            <a:r>
              <a:rPr lang="en-US" sz="1200" b="1" spc="300" kern="0" dirty="0">
                <a:solidFill>
                  <a:srgbClr val="767069"/>
                </a:solidFill>
                <a:latin typeface="Calibri" pitchFamily="34" charset="0"/>
                <a:ea typeface="Calibri" pitchFamily="34" charset="-122"/>
                <a:cs typeface="Calibri" pitchFamily="34" charset="-120"/>
              </a:rPr>
              <a:t>Foundation</a:t>
            </a:r>
            <a:endParaRPr lang="en-US" sz="1200" dirty="0"/>
          </a:p>
        </p:txBody>
      </p:sp>
      <p:sp>
        <p:nvSpPr>
          <p:cNvPr id="10" name="Text 8"/>
          <p:cNvSpPr/>
          <p:nvPr/>
        </p:nvSpPr>
        <p:spPr>
          <a:xfrm>
            <a:off x="822960" y="3566160"/>
            <a:ext cx="3200400" cy="54864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  Cultural-religious literacy baseline for all staff</a:t>
            </a:r>
            <a:endParaRPr lang="en-US" sz="1100" dirty="0"/>
          </a:p>
        </p:txBody>
      </p:sp>
      <p:sp>
        <p:nvSpPr>
          <p:cNvPr id="11" name="Text 9"/>
          <p:cNvSpPr/>
          <p:nvPr/>
        </p:nvSpPr>
        <p:spPr>
          <a:xfrm>
            <a:off x="822960" y="4160520"/>
            <a:ext cx="3200400" cy="54864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  Religious-cultural advisors hired in priority markets</a:t>
            </a:r>
            <a:endParaRPr lang="en-US" sz="1100" dirty="0"/>
          </a:p>
        </p:txBody>
      </p:sp>
      <p:sp>
        <p:nvSpPr>
          <p:cNvPr id="12" name="Text 10"/>
          <p:cNvSpPr/>
          <p:nvPr/>
        </p:nvSpPr>
        <p:spPr>
          <a:xfrm>
            <a:off x="822960" y="4754880"/>
            <a:ext cx="3200400" cy="54864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  Materiality + baseline measurement on all five pillars</a:t>
            </a:r>
            <a:endParaRPr lang="en-US" sz="1100" dirty="0"/>
          </a:p>
        </p:txBody>
      </p:sp>
      <p:sp>
        <p:nvSpPr>
          <p:cNvPr id="13" name="Text 11"/>
          <p:cNvSpPr/>
          <p:nvPr/>
        </p:nvSpPr>
        <p:spPr>
          <a:xfrm>
            <a:off x="822960" y="5349240"/>
            <a:ext cx="3200400" cy="54864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  Public commitment letter + first integrated report</a:t>
            </a:r>
            <a:endParaRPr lang="en-US" sz="1100" dirty="0"/>
          </a:p>
        </p:txBody>
      </p:sp>
      <p:sp>
        <p:nvSpPr>
          <p:cNvPr id="14" name="Shape 12"/>
          <p:cNvSpPr/>
          <p:nvPr/>
        </p:nvSpPr>
        <p:spPr>
          <a:xfrm>
            <a:off x="4325112" y="1783080"/>
            <a:ext cx="3657600" cy="4160520"/>
          </a:xfrm>
          <a:prstGeom prst="roundRect">
            <a:avLst>
              <a:gd name="adj" fmla="val 2000"/>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15" name="Shape 13"/>
          <p:cNvSpPr/>
          <p:nvPr/>
        </p:nvSpPr>
        <p:spPr>
          <a:xfrm>
            <a:off x="4325112" y="1783080"/>
            <a:ext cx="3657600" cy="457200"/>
          </a:xfrm>
          <a:prstGeom prst="rect">
            <a:avLst/>
          </a:prstGeom>
          <a:solidFill>
            <a:srgbClr val="C9A86A"/>
          </a:solidFill>
          <a:ln w="12700">
            <a:solidFill>
              <a:srgbClr val="C9A86A"/>
            </a:solidFill>
            <a:prstDash val="solid"/>
          </a:ln>
        </p:spPr>
      </p:sp>
      <p:sp>
        <p:nvSpPr>
          <p:cNvPr id="16" name="Text 14"/>
          <p:cNvSpPr/>
          <p:nvPr/>
        </p:nvSpPr>
        <p:spPr>
          <a:xfrm>
            <a:off x="4507992" y="1783080"/>
            <a:ext cx="3291840" cy="457200"/>
          </a:xfrm>
          <a:prstGeom prst="rect">
            <a:avLst/>
          </a:prstGeom>
          <a:noFill/>
          <a:ln/>
        </p:spPr>
        <p:txBody>
          <a:bodyPr wrap="square" lIns="0" tIns="0" rIns="0" bIns="0" rtlCol="0" anchor="ctr"/>
          <a:lstStyle/>
          <a:p>
            <a:pPr indent="0" marL="0">
              <a:buNone/>
            </a:pPr>
            <a:r>
              <a:rPr lang="en-US" sz="1000" b="1" spc="300" kern="0" dirty="0">
                <a:solidFill>
                  <a:srgbClr val="F5EAD9"/>
                </a:solidFill>
                <a:latin typeface="Calibri" pitchFamily="34" charset="0"/>
                <a:ea typeface="Calibri" pitchFamily="34" charset="-122"/>
                <a:cs typeface="Calibri" pitchFamily="34" charset="-120"/>
              </a:rPr>
              <a:t>HORIZON 2  ·  12–36 MONTHS</a:t>
            </a:r>
            <a:endParaRPr lang="en-US" sz="1000" dirty="0"/>
          </a:p>
        </p:txBody>
      </p:sp>
      <p:sp>
        <p:nvSpPr>
          <p:cNvPr id="17" name="Text 15"/>
          <p:cNvSpPr/>
          <p:nvPr/>
        </p:nvSpPr>
        <p:spPr>
          <a:xfrm>
            <a:off x="4599432" y="2331720"/>
            <a:ext cx="3108960" cy="777240"/>
          </a:xfrm>
          <a:prstGeom prst="rect">
            <a:avLst/>
          </a:prstGeom>
          <a:noFill/>
          <a:ln/>
        </p:spPr>
        <p:txBody>
          <a:bodyPr wrap="square" lIns="0" tIns="0" rIns="0" bIns="0" rtlCol="0" anchor="ctr"/>
          <a:lstStyle/>
          <a:p>
            <a:pPr indent="0" marL="0">
              <a:buNone/>
            </a:pPr>
            <a:r>
              <a:rPr lang="en-US" sz="3600" b="1" i="1" dirty="0">
                <a:solidFill>
                  <a:srgbClr val="C9A86A"/>
                </a:solidFill>
                <a:latin typeface="Georgia" pitchFamily="34" charset="0"/>
                <a:ea typeface="Georgia" pitchFamily="34" charset="-122"/>
                <a:cs typeface="Georgia" pitchFamily="34" charset="-120"/>
              </a:rPr>
              <a:t>Act.</a:t>
            </a:r>
            <a:endParaRPr lang="en-US" sz="3600" dirty="0"/>
          </a:p>
        </p:txBody>
      </p:sp>
      <p:sp>
        <p:nvSpPr>
          <p:cNvPr id="18" name="Text 16"/>
          <p:cNvSpPr/>
          <p:nvPr/>
        </p:nvSpPr>
        <p:spPr>
          <a:xfrm>
            <a:off x="4599432" y="3108960"/>
            <a:ext cx="3108960" cy="365760"/>
          </a:xfrm>
          <a:prstGeom prst="rect">
            <a:avLst/>
          </a:prstGeom>
          <a:noFill/>
          <a:ln/>
        </p:spPr>
        <p:txBody>
          <a:bodyPr wrap="square" lIns="0" tIns="0" rIns="0" bIns="0" rtlCol="0" anchor="ctr"/>
          <a:lstStyle/>
          <a:p>
            <a:pPr indent="0" marL="0">
              <a:buNone/>
            </a:pPr>
            <a:r>
              <a:rPr lang="en-US" sz="1200" b="1" spc="300" kern="0" dirty="0">
                <a:solidFill>
                  <a:srgbClr val="767069"/>
                </a:solidFill>
                <a:latin typeface="Calibri" pitchFamily="34" charset="0"/>
                <a:ea typeface="Calibri" pitchFamily="34" charset="-122"/>
                <a:cs typeface="Calibri" pitchFamily="34" charset="-120"/>
              </a:rPr>
              <a:t>Activation</a:t>
            </a:r>
            <a:endParaRPr lang="en-US" sz="1200" dirty="0"/>
          </a:p>
        </p:txBody>
      </p:sp>
      <p:sp>
        <p:nvSpPr>
          <p:cNvPr id="19" name="Text 17"/>
          <p:cNvSpPr/>
          <p:nvPr/>
        </p:nvSpPr>
        <p:spPr>
          <a:xfrm>
            <a:off x="4599432" y="3566160"/>
            <a:ext cx="3200400" cy="54864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  Pillars II–V active with SBTi-validated targets</a:t>
            </a:r>
            <a:endParaRPr lang="en-US" sz="1100" dirty="0"/>
          </a:p>
        </p:txBody>
      </p:sp>
      <p:sp>
        <p:nvSpPr>
          <p:cNvPr id="20" name="Text 18"/>
          <p:cNvSpPr/>
          <p:nvPr/>
        </p:nvSpPr>
        <p:spPr>
          <a:xfrm>
            <a:off x="4599432" y="4160520"/>
            <a:ext cx="3200400" cy="54864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  FPIC + living-wage compliance across supply chain</a:t>
            </a:r>
            <a:endParaRPr lang="en-US" sz="1100" dirty="0"/>
          </a:p>
        </p:txBody>
      </p:sp>
      <p:sp>
        <p:nvSpPr>
          <p:cNvPr id="21" name="Text 19"/>
          <p:cNvSpPr/>
          <p:nvPr/>
        </p:nvSpPr>
        <p:spPr>
          <a:xfrm>
            <a:off x="4599432" y="4754880"/>
            <a:ext cx="3200400" cy="54864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  Annual community councils in every host market</a:t>
            </a:r>
            <a:endParaRPr lang="en-US" sz="1100" dirty="0"/>
          </a:p>
        </p:txBody>
      </p:sp>
      <p:sp>
        <p:nvSpPr>
          <p:cNvPr id="22" name="Text 20"/>
          <p:cNvSpPr/>
          <p:nvPr/>
        </p:nvSpPr>
        <p:spPr>
          <a:xfrm>
            <a:off x="4599432" y="5349240"/>
            <a:ext cx="3200400" cy="54864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  Third-party assurance on 100% public KPIs</a:t>
            </a:r>
            <a:endParaRPr lang="en-US" sz="1100" dirty="0"/>
          </a:p>
        </p:txBody>
      </p:sp>
      <p:sp>
        <p:nvSpPr>
          <p:cNvPr id="23" name="Shape 21"/>
          <p:cNvSpPr/>
          <p:nvPr/>
        </p:nvSpPr>
        <p:spPr>
          <a:xfrm>
            <a:off x="8101584" y="1783080"/>
            <a:ext cx="3657600" cy="4160520"/>
          </a:xfrm>
          <a:prstGeom prst="roundRect">
            <a:avLst>
              <a:gd name="adj" fmla="val 2000"/>
            </a:avLst>
          </a:prstGeom>
          <a:solidFill>
            <a:srgbClr val="FFFFFF"/>
          </a:solidFill>
          <a:ln w="12700">
            <a:solidFill>
              <a:srgbClr val="D6CFC1"/>
            </a:solidFill>
            <a:prstDash val="solid"/>
          </a:ln>
          <a:effectLst>
            <a:outerShdw sx="100000" sy="100000" kx="0" ky="0" algn="bl" rotWithShape="0" blurRad="101600" dist="12700" dir="5400000">
              <a:srgbClr val="000000">
                <a:alpha val="12000"/>
              </a:srgbClr>
            </a:outerShdw>
          </a:effectLst>
        </p:spPr>
      </p:sp>
      <p:sp>
        <p:nvSpPr>
          <p:cNvPr id="24" name="Shape 22"/>
          <p:cNvSpPr/>
          <p:nvPr/>
        </p:nvSpPr>
        <p:spPr>
          <a:xfrm>
            <a:off x="8101584" y="1783080"/>
            <a:ext cx="3657600" cy="457200"/>
          </a:xfrm>
          <a:prstGeom prst="rect">
            <a:avLst/>
          </a:prstGeom>
          <a:solidFill>
            <a:srgbClr val="8A9A7B"/>
          </a:solidFill>
          <a:ln w="12700">
            <a:solidFill>
              <a:srgbClr val="8A9A7B"/>
            </a:solidFill>
            <a:prstDash val="solid"/>
          </a:ln>
        </p:spPr>
      </p:sp>
      <p:sp>
        <p:nvSpPr>
          <p:cNvPr id="25" name="Text 23"/>
          <p:cNvSpPr/>
          <p:nvPr/>
        </p:nvSpPr>
        <p:spPr>
          <a:xfrm>
            <a:off x="8284464" y="1783080"/>
            <a:ext cx="3291840" cy="457200"/>
          </a:xfrm>
          <a:prstGeom prst="rect">
            <a:avLst/>
          </a:prstGeom>
          <a:noFill/>
          <a:ln/>
        </p:spPr>
        <p:txBody>
          <a:bodyPr wrap="square" lIns="0" tIns="0" rIns="0" bIns="0" rtlCol="0" anchor="ctr"/>
          <a:lstStyle/>
          <a:p>
            <a:pPr indent="0" marL="0">
              <a:buNone/>
            </a:pPr>
            <a:r>
              <a:rPr lang="en-US" sz="1000" b="1" spc="300" kern="0" dirty="0">
                <a:solidFill>
                  <a:srgbClr val="F5EAD9"/>
                </a:solidFill>
                <a:latin typeface="Calibri" pitchFamily="34" charset="0"/>
                <a:ea typeface="Calibri" pitchFamily="34" charset="-122"/>
                <a:cs typeface="Calibri" pitchFamily="34" charset="-120"/>
              </a:rPr>
              <a:t>HORIZON 3  ·  36+ MONTHS</a:t>
            </a:r>
            <a:endParaRPr lang="en-US" sz="1000" dirty="0"/>
          </a:p>
        </p:txBody>
      </p:sp>
      <p:sp>
        <p:nvSpPr>
          <p:cNvPr id="26" name="Text 24"/>
          <p:cNvSpPr/>
          <p:nvPr/>
        </p:nvSpPr>
        <p:spPr>
          <a:xfrm>
            <a:off x="8375904" y="2331720"/>
            <a:ext cx="3108960" cy="777240"/>
          </a:xfrm>
          <a:prstGeom prst="rect">
            <a:avLst/>
          </a:prstGeom>
          <a:noFill/>
          <a:ln/>
        </p:spPr>
        <p:txBody>
          <a:bodyPr wrap="square" lIns="0" tIns="0" rIns="0" bIns="0" rtlCol="0" anchor="ctr"/>
          <a:lstStyle/>
          <a:p>
            <a:pPr indent="0" marL="0">
              <a:buNone/>
            </a:pPr>
            <a:r>
              <a:rPr lang="en-US" sz="3600" b="1" i="1" dirty="0">
                <a:solidFill>
                  <a:srgbClr val="8A9A7B"/>
                </a:solidFill>
                <a:latin typeface="Georgia" pitchFamily="34" charset="0"/>
                <a:ea typeface="Georgia" pitchFamily="34" charset="-122"/>
                <a:cs typeface="Georgia" pitchFamily="34" charset="-120"/>
              </a:rPr>
              <a:t>Restore.</a:t>
            </a:r>
            <a:endParaRPr lang="en-US" sz="3600" dirty="0"/>
          </a:p>
        </p:txBody>
      </p:sp>
      <p:sp>
        <p:nvSpPr>
          <p:cNvPr id="27" name="Text 25"/>
          <p:cNvSpPr/>
          <p:nvPr/>
        </p:nvSpPr>
        <p:spPr>
          <a:xfrm>
            <a:off x="8375904" y="3108960"/>
            <a:ext cx="3108960" cy="365760"/>
          </a:xfrm>
          <a:prstGeom prst="rect">
            <a:avLst/>
          </a:prstGeom>
          <a:noFill/>
          <a:ln/>
        </p:spPr>
        <p:txBody>
          <a:bodyPr wrap="square" lIns="0" tIns="0" rIns="0" bIns="0" rtlCol="0" anchor="ctr"/>
          <a:lstStyle/>
          <a:p>
            <a:pPr indent="0" marL="0">
              <a:buNone/>
            </a:pPr>
            <a:r>
              <a:rPr lang="en-US" sz="1200" b="1" spc="300" kern="0" dirty="0">
                <a:solidFill>
                  <a:srgbClr val="767069"/>
                </a:solidFill>
                <a:latin typeface="Calibri" pitchFamily="34" charset="0"/>
                <a:ea typeface="Calibri" pitchFamily="34" charset="-122"/>
                <a:cs typeface="Calibri" pitchFamily="34" charset="-120"/>
              </a:rPr>
              <a:t>Regenerative</a:t>
            </a:r>
            <a:endParaRPr lang="en-US" sz="1200" dirty="0"/>
          </a:p>
        </p:txBody>
      </p:sp>
      <p:sp>
        <p:nvSpPr>
          <p:cNvPr id="28" name="Text 26"/>
          <p:cNvSpPr/>
          <p:nvPr/>
        </p:nvSpPr>
        <p:spPr>
          <a:xfrm>
            <a:off x="8375904" y="3566160"/>
            <a:ext cx="3200400" cy="54864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  Net-positive across Inochi (nature) by year 5</a:t>
            </a:r>
            <a:endParaRPr lang="en-US" sz="1100" dirty="0"/>
          </a:p>
        </p:txBody>
      </p:sp>
      <p:sp>
        <p:nvSpPr>
          <p:cNvPr id="29" name="Text 27"/>
          <p:cNvSpPr/>
          <p:nvPr/>
        </p:nvSpPr>
        <p:spPr>
          <a:xfrm>
            <a:off x="8375904" y="4160520"/>
            <a:ext cx="3200400" cy="54864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  Recognized trustee in host markets — measured by trust index</a:t>
            </a:r>
            <a:endParaRPr lang="en-US" sz="1100" dirty="0"/>
          </a:p>
        </p:txBody>
      </p:sp>
      <p:sp>
        <p:nvSpPr>
          <p:cNvPr id="30" name="Text 28"/>
          <p:cNvSpPr/>
          <p:nvPr/>
        </p:nvSpPr>
        <p:spPr>
          <a:xfrm>
            <a:off x="8375904" y="4754880"/>
            <a:ext cx="3200400" cy="54864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  Kokoro literacy embedded in leadership selection</a:t>
            </a:r>
            <a:endParaRPr lang="en-US" sz="1100" dirty="0"/>
          </a:p>
        </p:txBody>
      </p:sp>
      <p:sp>
        <p:nvSpPr>
          <p:cNvPr id="31" name="Text 29"/>
          <p:cNvSpPr/>
          <p:nvPr/>
        </p:nvSpPr>
        <p:spPr>
          <a:xfrm>
            <a:off x="8375904" y="5349240"/>
            <a:ext cx="3200400" cy="548640"/>
          </a:xfrm>
          <a:prstGeom prst="rect">
            <a:avLst/>
          </a:prstGeom>
          <a:noFill/>
          <a:ln/>
        </p:spPr>
        <p:txBody>
          <a:bodyPr wrap="square" lIns="0" tIns="0" rIns="0" bIns="0" rtlCol="0" anchor="ctr"/>
          <a:lstStyle/>
          <a:p>
            <a:pPr indent="0" marL="0">
              <a:buNone/>
            </a:pPr>
            <a:r>
              <a:rPr lang="en-US" sz="1100" dirty="0">
                <a:solidFill>
                  <a:srgbClr val="2A2A2A"/>
                </a:solidFill>
                <a:latin typeface="Calibri" pitchFamily="34" charset="0"/>
                <a:ea typeface="Calibri" pitchFamily="34" charset="-122"/>
                <a:cs typeface="Calibri" pitchFamily="34" charset="-120"/>
              </a:rPr>
              <a:t>•  Framework open-sourced; cohort of partner organizations</a:t>
            </a:r>
            <a:endParaRPr lang="en-US" sz="1100" dirty="0"/>
          </a:p>
        </p:txBody>
      </p:sp>
      <p:sp>
        <p:nvSpPr>
          <p:cNvPr id="32" name="Shape 30"/>
          <p:cNvSpPr/>
          <p:nvPr/>
        </p:nvSpPr>
        <p:spPr>
          <a:xfrm>
            <a:off x="548640" y="6035040"/>
            <a:ext cx="11091672" cy="365760"/>
          </a:xfrm>
          <a:prstGeom prst="rect">
            <a:avLst/>
          </a:prstGeom>
          <a:solidFill>
            <a:srgbClr val="1B2A4E"/>
          </a:solidFill>
          <a:ln w="12700">
            <a:solidFill>
              <a:srgbClr val="1B2A4E"/>
            </a:solidFill>
            <a:prstDash val="solid"/>
          </a:ln>
        </p:spPr>
      </p:sp>
      <p:sp>
        <p:nvSpPr>
          <p:cNvPr id="33" name="Text 31"/>
          <p:cNvSpPr/>
          <p:nvPr/>
        </p:nvSpPr>
        <p:spPr>
          <a:xfrm>
            <a:off x="548640" y="6035040"/>
            <a:ext cx="11091672" cy="365760"/>
          </a:xfrm>
          <a:prstGeom prst="rect">
            <a:avLst/>
          </a:prstGeom>
          <a:noFill/>
          <a:ln/>
        </p:spPr>
        <p:txBody>
          <a:bodyPr wrap="square" lIns="0" tIns="0" rIns="0" bIns="0" rtlCol="0" anchor="ctr"/>
          <a:lstStyle/>
          <a:p>
            <a:pPr algn="ctr" indent="0" marL="0">
              <a:buNone/>
            </a:pPr>
            <a:r>
              <a:rPr lang="en-US" sz="1000" b="1" spc="200" kern="0" dirty="0">
                <a:solidFill>
                  <a:srgbClr val="C9A86A"/>
                </a:solidFill>
                <a:latin typeface="Calibri" pitchFamily="34" charset="0"/>
                <a:ea typeface="Calibri" pitchFamily="34" charset="-122"/>
                <a:cs typeface="Calibri" pitchFamily="34" charset="-120"/>
              </a:rPr>
              <a:t>KPI BACKBONE  ·  Literacy completion  ·  tCO₂e trajectory  ·  Living-wage coverage  ·  Local hire %  ·  KPI assurance %</a:t>
            </a:r>
            <a:endParaRPr lang="en-US" sz="1000" dirty="0"/>
          </a:p>
        </p:txBody>
      </p:sp>
      <p:sp>
        <p:nvSpPr>
          <p:cNvPr id="34" name="Text 32"/>
          <p:cNvSpPr/>
          <p:nvPr/>
        </p:nvSpPr>
        <p:spPr>
          <a:xfrm>
            <a:off x="11277295" y="6492240"/>
            <a:ext cx="731520" cy="274320"/>
          </a:xfrm>
          <a:prstGeom prst="rect">
            <a:avLst/>
          </a:prstGeom>
          <a:noFill/>
          <a:ln/>
        </p:spPr>
        <p:txBody>
          <a:bodyPr wrap="square" lIns="0" tIns="0" rIns="0" bIns="0" rtlCol="0" anchor="ctr"/>
          <a:lstStyle/>
          <a:p>
            <a:pPr algn="r" indent="0" marL="0">
              <a:buNone/>
            </a:pPr>
            <a:r>
              <a:rPr lang="en-US" sz="900" dirty="0">
                <a:solidFill>
                  <a:srgbClr val="767069"/>
                </a:solidFill>
                <a:latin typeface="Calibri" pitchFamily="34" charset="0"/>
                <a:ea typeface="Calibri" pitchFamily="34" charset="-122"/>
                <a:cs typeface="Calibri" pitchFamily="34" charset="-120"/>
              </a:rPr>
              <a:t>13 / 14</a:t>
            </a:r>
            <a:endParaRPr lang="en-US" sz="900" dirty="0"/>
          </a:p>
        </p:txBody>
      </p:sp>
      <p:sp>
        <p:nvSpPr>
          <p:cNvPr id="35" name="Text 33"/>
          <p:cNvSpPr/>
          <p:nvPr/>
        </p:nvSpPr>
        <p:spPr>
          <a:xfrm>
            <a:off x="548640" y="6492240"/>
            <a:ext cx="8229600" cy="274320"/>
          </a:xfrm>
          <a:prstGeom prst="rect">
            <a:avLst/>
          </a:prstGeom>
          <a:noFill/>
          <a:ln/>
        </p:spPr>
        <p:txBody>
          <a:bodyPr wrap="square" lIns="0" tIns="0" rIns="0" bIns="0" rtlCol="0" anchor="ctr"/>
          <a:lstStyle/>
          <a:p>
            <a:pPr indent="0" marL="0">
              <a:buNone/>
            </a:pPr>
            <a:r>
              <a:rPr lang="en-US" sz="900" i="1" dirty="0">
                <a:solidFill>
                  <a:srgbClr val="767069"/>
                </a:solidFill>
                <a:latin typeface="Georgia" pitchFamily="34" charset="0"/>
                <a:ea typeface="Georgia" pitchFamily="34" charset="-122"/>
                <a:cs typeface="Georgia" pitchFamily="34" charset="-120"/>
              </a:rPr>
              <a:t>Kokoro for the Earth  ·  Religion &amp; Sustainability  ·  Shizenkan MBA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E"/>
        </a:solidFill>
      </p:bgPr>
    </p:bg>
    <p:spTree>
      <p:nvGrpSpPr>
        <p:cNvPr id="1" name=""/>
        <p:cNvGrpSpPr/>
        <p:nvPr/>
      </p:nvGrpSpPr>
      <p:grpSpPr>
        <a:xfrm>
          <a:off x="0" y="0"/>
          <a:ext cx="0" cy="0"/>
          <a:chOff x="0" y="0"/>
          <a:chExt cx="0" cy="0"/>
        </a:xfrm>
      </p:grpSpPr>
      <p:sp>
        <p:nvSpPr>
          <p:cNvPr id="2" name="Shape 0"/>
          <p:cNvSpPr/>
          <p:nvPr/>
        </p:nvSpPr>
        <p:spPr>
          <a:xfrm>
            <a:off x="0" y="0"/>
            <a:ext cx="12191695" cy="292608"/>
          </a:xfrm>
          <a:prstGeom prst="rect">
            <a:avLst/>
          </a:prstGeom>
          <a:solidFill>
            <a:srgbClr val="C8382C"/>
          </a:solidFill>
          <a:ln w="12700">
            <a:solidFill>
              <a:srgbClr val="C8382C"/>
            </a:solidFill>
            <a:prstDash val="solid"/>
          </a:ln>
        </p:spPr>
      </p:sp>
      <p:sp>
        <p:nvSpPr>
          <p:cNvPr id="3" name="Shape 1"/>
          <p:cNvSpPr/>
          <p:nvPr/>
        </p:nvSpPr>
        <p:spPr>
          <a:xfrm>
            <a:off x="0" y="6583680"/>
            <a:ext cx="12191695" cy="274320"/>
          </a:xfrm>
          <a:prstGeom prst="rect">
            <a:avLst/>
          </a:prstGeom>
          <a:solidFill>
            <a:srgbClr val="C9A86A"/>
          </a:solidFill>
          <a:ln w="12700">
            <a:solidFill>
              <a:srgbClr val="C9A86A"/>
            </a:solidFill>
            <a:prstDash val="solid"/>
          </a:ln>
        </p:spPr>
      </p:sp>
      <p:sp>
        <p:nvSpPr>
          <p:cNvPr id="4" name="Text 2"/>
          <p:cNvSpPr/>
          <p:nvPr/>
        </p:nvSpPr>
        <p:spPr>
          <a:xfrm>
            <a:off x="731520" y="914400"/>
            <a:ext cx="9144000" cy="320040"/>
          </a:xfrm>
          <a:prstGeom prst="rect">
            <a:avLst/>
          </a:prstGeom>
          <a:noFill/>
          <a:ln/>
        </p:spPr>
        <p:txBody>
          <a:bodyPr wrap="square" lIns="0" tIns="0" rIns="0" bIns="0" rtlCol="0" anchor="ctr"/>
          <a:lstStyle/>
          <a:p>
            <a:pPr indent="0" marL="0">
              <a:buNone/>
            </a:pPr>
            <a:r>
              <a:rPr lang="en-US" sz="1300" b="1" spc="800" kern="0" dirty="0">
                <a:solidFill>
                  <a:srgbClr val="C9A86A"/>
                </a:solidFill>
                <a:latin typeface="Calibri" pitchFamily="34" charset="0"/>
                <a:ea typeface="Calibri" pitchFamily="34" charset="-122"/>
                <a:cs typeface="Calibri" pitchFamily="34" charset="-120"/>
              </a:rPr>
              <a:t>CLOSING</a:t>
            </a:r>
            <a:endParaRPr lang="en-US" sz="1300" dirty="0"/>
          </a:p>
        </p:txBody>
      </p:sp>
      <p:sp>
        <p:nvSpPr>
          <p:cNvPr id="5" name="Text 3"/>
          <p:cNvSpPr/>
          <p:nvPr/>
        </p:nvSpPr>
        <p:spPr>
          <a:xfrm>
            <a:off x="731520" y="1371600"/>
            <a:ext cx="10972800" cy="685800"/>
          </a:xfrm>
          <a:prstGeom prst="rect">
            <a:avLst/>
          </a:prstGeom>
          <a:noFill/>
          <a:ln/>
        </p:spPr>
        <p:txBody>
          <a:bodyPr wrap="square" lIns="0" tIns="0" rIns="0" bIns="0" rtlCol="0" anchor="ctr"/>
          <a:lstStyle/>
          <a:p>
            <a:pPr indent="0" marL="0">
              <a:buNone/>
            </a:pPr>
            <a:r>
              <a:rPr lang="en-US" sz="3200" b="1" i="1" dirty="0">
                <a:solidFill>
                  <a:srgbClr val="F5EAD9"/>
                </a:solidFill>
                <a:latin typeface="Georgia" pitchFamily="34" charset="0"/>
                <a:ea typeface="Georgia" pitchFamily="34" charset="-122"/>
                <a:cs typeface="Georgia" pitchFamily="34" charset="-120"/>
              </a:rPr>
              <a:t>The heart that translates a message</a:t>
            </a:r>
            <a:endParaRPr lang="en-US" sz="3200" dirty="0"/>
          </a:p>
        </p:txBody>
      </p:sp>
      <p:sp>
        <p:nvSpPr>
          <p:cNvPr id="6" name="Text 4"/>
          <p:cNvSpPr/>
          <p:nvPr/>
        </p:nvSpPr>
        <p:spPr>
          <a:xfrm>
            <a:off x="731520" y="2057400"/>
            <a:ext cx="10972800" cy="685800"/>
          </a:xfrm>
          <a:prstGeom prst="rect">
            <a:avLst/>
          </a:prstGeom>
          <a:noFill/>
          <a:ln/>
        </p:spPr>
        <p:txBody>
          <a:bodyPr wrap="square" lIns="0" tIns="0" rIns="0" bIns="0" rtlCol="0" anchor="ctr"/>
          <a:lstStyle/>
          <a:p>
            <a:pPr indent="0" marL="0">
              <a:buNone/>
            </a:pPr>
            <a:r>
              <a:rPr lang="en-US" sz="3200" b="1" i="1" dirty="0">
                <a:solidFill>
                  <a:srgbClr val="C9A86A"/>
                </a:solidFill>
                <a:latin typeface="Georgia" pitchFamily="34" charset="0"/>
                <a:ea typeface="Georgia" pitchFamily="34" charset="-122"/>
                <a:cs typeface="Georgia" pitchFamily="34" charset="-120"/>
              </a:rPr>
              <a:t>is the same heart that translates a duty to the world.</a:t>
            </a:r>
            <a:endParaRPr lang="en-US" sz="3200" dirty="0"/>
          </a:p>
        </p:txBody>
      </p:sp>
      <p:sp>
        <p:nvSpPr>
          <p:cNvPr id="7" name="Shape 5"/>
          <p:cNvSpPr/>
          <p:nvPr/>
        </p:nvSpPr>
        <p:spPr>
          <a:xfrm>
            <a:off x="731520" y="3520440"/>
            <a:ext cx="3621024" cy="1828800"/>
          </a:xfrm>
          <a:prstGeom prst="roundRect">
            <a:avLst>
              <a:gd name="adj" fmla="val 3000"/>
            </a:avLst>
          </a:prstGeom>
          <a:solidFill>
            <a:srgbClr val="1F2D52"/>
          </a:solidFill>
          <a:ln w="12700">
            <a:solidFill>
              <a:srgbClr val="C9A86A"/>
            </a:solidFill>
            <a:prstDash val="solid"/>
          </a:ln>
        </p:spPr>
      </p:sp>
      <p:sp>
        <p:nvSpPr>
          <p:cNvPr id="8" name="Text 6"/>
          <p:cNvSpPr/>
          <p:nvPr/>
        </p:nvSpPr>
        <p:spPr>
          <a:xfrm>
            <a:off x="1005840" y="3749040"/>
            <a:ext cx="3072384" cy="320040"/>
          </a:xfrm>
          <a:prstGeom prst="rect">
            <a:avLst/>
          </a:prstGeom>
          <a:noFill/>
          <a:ln/>
        </p:spPr>
        <p:txBody>
          <a:bodyPr wrap="square" lIns="0" tIns="0" rIns="0" bIns="0" rtlCol="0" anchor="ctr"/>
          <a:lstStyle/>
          <a:p>
            <a:pPr indent="0" marL="0">
              <a:buNone/>
            </a:pPr>
            <a:r>
              <a:rPr lang="en-US" sz="1100" b="1" spc="400" kern="0" dirty="0">
                <a:solidFill>
                  <a:srgbClr val="C9A86A"/>
                </a:solidFill>
                <a:latin typeface="Calibri" pitchFamily="34" charset="0"/>
                <a:ea typeface="Calibri" pitchFamily="34" charset="-122"/>
                <a:cs typeface="Calibri" pitchFamily="34" charset="-120"/>
              </a:rPr>
              <a:t>LEARN</a:t>
            </a:r>
            <a:endParaRPr lang="en-US" sz="1100" dirty="0"/>
          </a:p>
        </p:txBody>
      </p:sp>
      <p:sp>
        <p:nvSpPr>
          <p:cNvPr id="9" name="Text 7"/>
          <p:cNvSpPr/>
          <p:nvPr/>
        </p:nvSpPr>
        <p:spPr>
          <a:xfrm>
            <a:off x="1005840" y="4114800"/>
            <a:ext cx="3072384" cy="1051560"/>
          </a:xfrm>
          <a:prstGeom prst="rect">
            <a:avLst/>
          </a:prstGeom>
          <a:noFill/>
          <a:ln/>
        </p:spPr>
        <p:txBody>
          <a:bodyPr wrap="square" lIns="0" tIns="0" rIns="0" bIns="0" rtlCol="0" anchor="ctr"/>
          <a:lstStyle/>
          <a:p>
            <a:pPr indent="0" marL="0">
              <a:buNone/>
            </a:pPr>
            <a:r>
              <a:rPr lang="en-US" sz="1400" i="1" dirty="0">
                <a:solidFill>
                  <a:srgbClr val="F5EAD9"/>
                </a:solidFill>
                <a:latin typeface="Georgia" pitchFamily="34" charset="0"/>
                <a:ea typeface="Georgia" pitchFamily="34" charset="-122"/>
                <a:cs typeface="Georgia" pitchFamily="34" charset="-120"/>
              </a:rPr>
              <a:t>Religion is a source of wisdom, not a risk to manage.</a:t>
            </a:r>
            <a:endParaRPr lang="en-US" sz="1400" dirty="0"/>
          </a:p>
        </p:txBody>
      </p:sp>
      <p:sp>
        <p:nvSpPr>
          <p:cNvPr id="10" name="Shape 8"/>
          <p:cNvSpPr/>
          <p:nvPr/>
        </p:nvSpPr>
        <p:spPr>
          <a:xfrm>
            <a:off x="4462272" y="3520440"/>
            <a:ext cx="3621024" cy="1828800"/>
          </a:xfrm>
          <a:prstGeom prst="roundRect">
            <a:avLst>
              <a:gd name="adj" fmla="val 3000"/>
            </a:avLst>
          </a:prstGeom>
          <a:solidFill>
            <a:srgbClr val="1F2D52"/>
          </a:solidFill>
          <a:ln w="12700">
            <a:solidFill>
              <a:srgbClr val="C9A86A"/>
            </a:solidFill>
            <a:prstDash val="solid"/>
          </a:ln>
        </p:spPr>
      </p:sp>
      <p:sp>
        <p:nvSpPr>
          <p:cNvPr id="11" name="Text 9"/>
          <p:cNvSpPr/>
          <p:nvPr/>
        </p:nvSpPr>
        <p:spPr>
          <a:xfrm>
            <a:off x="4736592" y="3749040"/>
            <a:ext cx="3072384" cy="320040"/>
          </a:xfrm>
          <a:prstGeom prst="rect">
            <a:avLst/>
          </a:prstGeom>
          <a:noFill/>
          <a:ln/>
        </p:spPr>
        <p:txBody>
          <a:bodyPr wrap="square" lIns="0" tIns="0" rIns="0" bIns="0" rtlCol="0" anchor="ctr"/>
          <a:lstStyle/>
          <a:p>
            <a:pPr indent="0" marL="0">
              <a:buNone/>
            </a:pPr>
            <a:r>
              <a:rPr lang="en-US" sz="1100" b="1" spc="400" kern="0" dirty="0">
                <a:solidFill>
                  <a:srgbClr val="C9A86A"/>
                </a:solidFill>
                <a:latin typeface="Calibri" pitchFamily="34" charset="0"/>
                <a:ea typeface="Calibri" pitchFamily="34" charset="-122"/>
                <a:cs typeface="Calibri" pitchFamily="34" charset="-120"/>
              </a:rPr>
              <a:t>ACT</a:t>
            </a:r>
            <a:endParaRPr lang="en-US" sz="1100" dirty="0"/>
          </a:p>
        </p:txBody>
      </p:sp>
      <p:sp>
        <p:nvSpPr>
          <p:cNvPr id="12" name="Text 10"/>
          <p:cNvSpPr/>
          <p:nvPr/>
        </p:nvSpPr>
        <p:spPr>
          <a:xfrm>
            <a:off x="4736592" y="4114800"/>
            <a:ext cx="3072384" cy="1051560"/>
          </a:xfrm>
          <a:prstGeom prst="rect">
            <a:avLst/>
          </a:prstGeom>
          <a:noFill/>
          <a:ln/>
        </p:spPr>
        <p:txBody>
          <a:bodyPr wrap="square" lIns="0" tIns="0" rIns="0" bIns="0" rtlCol="0" anchor="ctr"/>
          <a:lstStyle/>
          <a:p>
            <a:pPr indent="0" marL="0">
              <a:buNone/>
            </a:pPr>
            <a:r>
              <a:rPr lang="en-US" sz="1400" i="1" dirty="0">
                <a:solidFill>
                  <a:srgbClr val="F5EAD9"/>
                </a:solidFill>
                <a:latin typeface="Georgia" pitchFamily="34" charset="0"/>
                <a:ea typeface="Georgia" pitchFamily="34" charset="-122"/>
                <a:cs typeface="Georgia" pitchFamily="34" charset="-120"/>
              </a:rPr>
              <a:t>Stewardship of nature and dignity of people, audited and assured.</a:t>
            </a:r>
            <a:endParaRPr lang="en-US" sz="1400" dirty="0"/>
          </a:p>
        </p:txBody>
      </p:sp>
      <p:sp>
        <p:nvSpPr>
          <p:cNvPr id="13" name="Shape 11"/>
          <p:cNvSpPr/>
          <p:nvPr/>
        </p:nvSpPr>
        <p:spPr>
          <a:xfrm>
            <a:off x="8193024" y="3520440"/>
            <a:ext cx="3621024" cy="1828800"/>
          </a:xfrm>
          <a:prstGeom prst="roundRect">
            <a:avLst>
              <a:gd name="adj" fmla="val 3000"/>
            </a:avLst>
          </a:prstGeom>
          <a:solidFill>
            <a:srgbClr val="1F2D52"/>
          </a:solidFill>
          <a:ln w="12700">
            <a:solidFill>
              <a:srgbClr val="C9A86A"/>
            </a:solidFill>
            <a:prstDash val="solid"/>
          </a:ln>
        </p:spPr>
      </p:sp>
      <p:sp>
        <p:nvSpPr>
          <p:cNvPr id="14" name="Text 12"/>
          <p:cNvSpPr/>
          <p:nvPr/>
        </p:nvSpPr>
        <p:spPr>
          <a:xfrm>
            <a:off x="8467344" y="3749040"/>
            <a:ext cx="3072384" cy="320040"/>
          </a:xfrm>
          <a:prstGeom prst="rect">
            <a:avLst/>
          </a:prstGeom>
          <a:noFill/>
          <a:ln/>
        </p:spPr>
        <p:txBody>
          <a:bodyPr wrap="square" lIns="0" tIns="0" rIns="0" bIns="0" rtlCol="0" anchor="ctr"/>
          <a:lstStyle/>
          <a:p>
            <a:pPr indent="0" marL="0">
              <a:buNone/>
            </a:pPr>
            <a:r>
              <a:rPr lang="en-US" sz="1100" b="1" spc="400" kern="0" dirty="0">
                <a:solidFill>
                  <a:srgbClr val="C9A86A"/>
                </a:solidFill>
                <a:latin typeface="Calibri" pitchFamily="34" charset="0"/>
                <a:ea typeface="Calibri" pitchFamily="34" charset="-122"/>
                <a:cs typeface="Calibri" pitchFamily="34" charset="-120"/>
              </a:rPr>
              <a:t>ENDURE</a:t>
            </a:r>
            <a:endParaRPr lang="en-US" sz="1100" dirty="0"/>
          </a:p>
        </p:txBody>
      </p:sp>
      <p:sp>
        <p:nvSpPr>
          <p:cNvPr id="15" name="Text 13"/>
          <p:cNvSpPr/>
          <p:nvPr/>
        </p:nvSpPr>
        <p:spPr>
          <a:xfrm>
            <a:off x="8467344" y="4114800"/>
            <a:ext cx="3072384" cy="1051560"/>
          </a:xfrm>
          <a:prstGeom prst="rect">
            <a:avLst/>
          </a:prstGeom>
          <a:noFill/>
          <a:ln/>
        </p:spPr>
        <p:txBody>
          <a:bodyPr wrap="square" lIns="0" tIns="0" rIns="0" bIns="0" rtlCol="0" anchor="ctr"/>
          <a:lstStyle/>
          <a:p>
            <a:pPr indent="0" marL="0">
              <a:buNone/>
            </a:pPr>
            <a:r>
              <a:rPr lang="en-US" sz="1400" i="1" dirty="0">
                <a:solidFill>
                  <a:srgbClr val="F5EAD9"/>
                </a:solidFill>
                <a:latin typeface="Georgia" pitchFamily="34" charset="0"/>
                <a:ea typeface="Georgia" pitchFamily="34" charset="-122"/>
                <a:cs typeface="Georgia" pitchFamily="34" charset="-120"/>
              </a:rPr>
              <a:t>Trust earned over horizons. Software fades. Kokoro endures.</a:t>
            </a:r>
            <a:endParaRPr lang="en-US" sz="1400" dirty="0"/>
          </a:p>
        </p:txBody>
      </p:sp>
      <p:sp>
        <p:nvSpPr>
          <p:cNvPr id="16" name="Text 14"/>
          <p:cNvSpPr/>
          <p:nvPr/>
        </p:nvSpPr>
        <p:spPr>
          <a:xfrm>
            <a:off x="731520" y="5623560"/>
            <a:ext cx="10515600" cy="365760"/>
          </a:xfrm>
          <a:prstGeom prst="rect">
            <a:avLst/>
          </a:prstGeom>
          <a:noFill/>
          <a:ln/>
        </p:spPr>
        <p:txBody>
          <a:bodyPr wrap="square" lIns="0" tIns="0" rIns="0" bIns="0" rtlCol="0" anchor="ctr"/>
          <a:lstStyle/>
          <a:p>
            <a:pPr indent="0" marL="0">
              <a:buNone/>
            </a:pPr>
            <a:r>
              <a:rPr lang="en-US" sz="1200" b="1" spc="500" kern="0" dirty="0">
                <a:solidFill>
                  <a:srgbClr val="C9A86A"/>
                </a:solidFill>
                <a:latin typeface="Calibri" pitchFamily="34" charset="0"/>
                <a:ea typeface="Calibri" pitchFamily="34" charset="-122"/>
                <a:cs typeface="Calibri" pitchFamily="34" charset="-120"/>
              </a:rPr>
              <a:t>NEXT  ·  COURSE DISCUSSION  ·  PILOT WITH VNEXT JAPAN</a:t>
            </a:r>
            <a:endParaRPr lang="en-US" sz="1200" dirty="0"/>
          </a:p>
        </p:txBody>
      </p:sp>
      <p:sp>
        <p:nvSpPr>
          <p:cNvPr id="17" name="Text 15"/>
          <p:cNvSpPr/>
          <p:nvPr/>
        </p:nvSpPr>
        <p:spPr>
          <a:xfrm>
            <a:off x="731520" y="6035040"/>
            <a:ext cx="10515600" cy="274320"/>
          </a:xfrm>
          <a:prstGeom prst="rect">
            <a:avLst/>
          </a:prstGeom>
          <a:noFill/>
          <a:ln/>
        </p:spPr>
        <p:txBody>
          <a:bodyPr wrap="square" lIns="0" tIns="0" rIns="0" bIns="0" rtlCol="0" anchor="ctr"/>
          <a:lstStyle/>
          <a:p>
            <a:pPr indent="0" marL="0">
              <a:buNone/>
            </a:pPr>
            <a:r>
              <a:rPr lang="en-US" sz="1000" dirty="0">
                <a:solidFill>
                  <a:srgbClr val="F5EAD9"/>
                </a:solidFill>
                <a:latin typeface="Calibri" pitchFamily="34" charset="0"/>
                <a:ea typeface="Calibri" pitchFamily="34" charset="-122"/>
                <a:cs typeface="Calibri" pitchFamily="34" charset="-120"/>
              </a:rPr>
              <a:t>Kokoro for the Earth  ·  Tâm × 心  ·  Companion Paper  ·  MrX  ·  Vnext Japan  ·  Shizenkan MBA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Kokoro for the Earth — Religion, Culture, and the Sustainable Organization</dc:title>
  <dc:subject>PptxGenJS Presentation</dc:subject>
  <dc:creator>MrX · Vnext Japan · Shizenkan MBA 2026</dc:creator>
  <cp:lastModifiedBy>MrX · Vnext Japan · Shizenkan MBA 2026</cp:lastModifiedBy>
  <cp:revision>1</cp:revision>
  <dcterms:created xsi:type="dcterms:W3CDTF">2026-05-18T04:15:20Z</dcterms:created>
  <dcterms:modified xsi:type="dcterms:W3CDTF">2026-05-18T04:15:20Z</dcterms:modified>
</cp:coreProperties>
</file>