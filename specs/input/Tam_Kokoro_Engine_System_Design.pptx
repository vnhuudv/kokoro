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Engine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engine works  ·  components  ·  architecture  ·  screens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469880" y="2331720"/>
            <a:ext cx="640080" cy="64008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2011680"/>
            <a:ext cx="292608" cy="292608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85248" y="2157984"/>
            <a:ext cx="804672" cy="493776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2651760"/>
            <a:ext cx="292608" cy="292608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85248" y="2798064"/>
            <a:ext cx="804672" cy="-146304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0" y="3291840"/>
            <a:ext cx="292608" cy="292608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85248" y="3438144"/>
            <a:ext cx="804672" cy="-786384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94592" y="2011680"/>
            <a:ext cx="292608" cy="292608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36224" y="2798064"/>
            <a:ext cx="658368" cy="-64008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94592" y="2651760"/>
            <a:ext cx="292608" cy="292608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36224" y="2798064"/>
            <a:ext cx="658368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94592" y="3291840"/>
            <a:ext cx="292608" cy="292608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36224" y="2798064"/>
            <a:ext cx="658368" cy="64008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 × 心  ·  The Shared Heart Project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MrX  ·  Vice President, Vnext Japan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engine does, in one picture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C8382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 communication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threads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messages (Slack, Teams)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Meeting transcripts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drafts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3474720"/>
            <a:ext cx="640080" cy="0"/>
          </a:xfrm>
          <a:prstGeom prst="line">
            <a:avLst/>
          </a:prstGeom>
          <a:noFill/>
          <a:ln w="25400">
            <a:solidFill>
              <a:srgbClr val="7670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182880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1B2A4E"/>
          </a:solidFill>
          <a:ln w="1905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Layer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Detect register &amp; intent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Surface cultural assumption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Suggest culturally fluent reply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Coach the human, not replace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474720"/>
            <a:ext cx="640080" cy="0"/>
          </a:xfrm>
          <a:prstGeom prst="line">
            <a:avLst/>
          </a:prstGeom>
          <a:noFill/>
          <a:ln w="25400">
            <a:solidFill>
              <a:srgbClr val="7670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48472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8A9A7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8472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48472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fluency in context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77072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annotations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77072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clarifications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77072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Reply suggestions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77072" y="4206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Cultural coaching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EFE4C8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the expression — preserve the intention. Teach the human, then fade.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flow — one message, six stages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783080" cy="50292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captures the draft message in the user's tool (Gmail, Slack, Teams).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1691640"/>
            <a:ext cx="1783080" cy="5029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395728" y="21945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87168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32888" y="278892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redacted on-device. Only abstracted text leaves the client.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2816" y="1691640"/>
            <a:ext cx="1783080" cy="50292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42816" y="21945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34256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9976" y="278892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detects register, sentiment, cultural assumption, ambiguity.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1691640"/>
            <a:ext cx="1783080" cy="50292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089904" y="21945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1344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278892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culturally adapted phrasing while preserving the sender's intent.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36992" y="1691640"/>
            <a:ext cx="1783080" cy="5029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936992" y="21945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2843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74152" y="278892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inline annotations + suggestions to the user — not a replacement.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1691640"/>
            <a:ext cx="1783080" cy="50292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1737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84080" y="21945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755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21240" y="278892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+ native-speaker review refine the model and case library.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31720" y="1943100"/>
            <a:ext cx="6400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78808" y="1943100"/>
            <a:ext cx="6400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25896" y="1943100"/>
            <a:ext cx="6400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72984" y="1943100"/>
            <a:ext cx="6400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20072" y="1943100"/>
            <a:ext cx="6400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75620" y="4800600"/>
            <a:ext cx="0" cy="457200"/>
          </a:xfrm>
          <a:prstGeom prst="line">
            <a:avLst/>
          </a:prstGeom>
          <a:noFill/>
          <a:ln w="22225">
            <a:solidFill>
              <a:srgbClr val="C8382C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440180" y="5257800"/>
            <a:ext cx="9235440" cy="0"/>
          </a:xfrm>
          <a:prstGeom prst="line">
            <a:avLst/>
          </a:prstGeom>
          <a:noFill/>
          <a:ln w="22225">
            <a:solidFill>
              <a:srgbClr val="C8382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440180" y="4800600"/>
            <a:ext cx="0" cy="457200"/>
          </a:xfrm>
          <a:prstGeom prst="line">
            <a:avLst/>
          </a:prstGeom>
          <a:noFill/>
          <a:ln w="22225">
            <a:solidFill>
              <a:srgbClr val="C8382C"/>
            </a:solidFill>
            <a:prstDash val="dash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loop  ·  the system gets better with every cycle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COMPONENT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major components and how they connect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90672" y="1691640"/>
            <a:ext cx="2194560" cy="365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9824" y="1691640"/>
            <a:ext cx="2926080" cy="36576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40496" y="1691640"/>
            <a:ext cx="2377440" cy="36576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2377440" cy="36576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194560"/>
            <a:ext cx="54864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57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395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admin &amp; coaching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2880360"/>
            <a:ext cx="54864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437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0815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(React Native)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3566160"/>
            <a:ext cx="54864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29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Plugin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767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Outlook, Notion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4251960"/>
            <a:ext cx="54864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153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Plugins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453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Zoom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" y="4937760"/>
            <a:ext cx="54864" cy="45720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011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Hooks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1389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IMAP / Gmail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90672" y="2057400"/>
            <a:ext cx="219456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194560"/>
            <a:ext cx="54864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21579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+ WS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19272" y="23957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rate-limit, routing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2880360"/>
            <a:ext cx="54864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2843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3081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SSO / OAuth 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3566160"/>
            <a:ext cx="54864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5295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Mgr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19272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context window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4251960"/>
            <a:ext cx="54864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4215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&amp; Cost Ctrl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19272" y="44531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per workspace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9824" y="2057400"/>
            <a:ext cx="2926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59552" y="2194560"/>
            <a:ext cx="54864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78424" y="21579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Translation Engine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78424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6-stage pipeline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59552" y="2880360"/>
            <a:ext cx="54864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78424" y="2843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Register-aware LLM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78424" y="3081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+ cultural fine-tunes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59552" y="3566160"/>
            <a:ext cx="54864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3529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Engine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78424" y="3767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cultural cues on text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59552" y="4251960"/>
            <a:ext cx="54864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78424" y="4215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Filter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78424" y="4453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PII redaction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59552" y="4937760"/>
            <a:ext cx="54864" cy="4572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4901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Learner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78424" y="5138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review loop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40496" y="2057400"/>
            <a:ext cx="2377440" cy="36576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650224" y="2194560"/>
            <a:ext cx="54864" cy="45720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69096" y="2157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Pair DB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769096" y="2395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↔ JP register mappings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650224" y="2880360"/>
            <a:ext cx="54864" cy="45720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69096" y="28437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Library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769096" y="30815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teaching cases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650224" y="3566160"/>
            <a:ext cx="54864" cy="45720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69096" y="3529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Profiles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769096" y="3767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fluency state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650224" y="4251960"/>
            <a:ext cx="54864" cy="45720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69096" y="42153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Logs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769096" y="4453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retention-bound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by design — each component owns one concern. The pipeline orchestrates them.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 CORE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Cultural Translation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17720" y="292608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1B2A4E"/>
          </a:solidFill>
          <a:ln w="1905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1772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Translation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Controller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3291840" cy="914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on-device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3291840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Detector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· neutral · informal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74920"/>
            <a:ext cx="3291840" cy="9144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Extractor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5715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sender actually means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48472" y="16916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8472" y="1691640"/>
            <a:ext cx="3291840" cy="914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Gateway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13064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· failover · cost ctrl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48472" y="338328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48472" y="3383280"/>
            <a:ext cx="3291840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3064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Renderer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13064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cues · suggestions · coaching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48472" y="507492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48472" y="5074920"/>
            <a:ext cx="3291840" cy="9144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Learner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13064" y="5715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review loop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29100" y="2423160"/>
            <a:ext cx="0" cy="338328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946136" y="2423160"/>
            <a:ext cx="0" cy="338328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840480" y="2423160"/>
            <a:ext cx="388620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840480" y="4114800"/>
            <a:ext cx="388620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840480" y="5806440"/>
            <a:ext cx="388620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946136" y="2423160"/>
            <a:ext cx="402336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946136" y="4114800"/>
            <a:ext cx="402336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946136" y="5806440"/>
            <a:ext cx="402336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229100" y="3657600"/>
            <a:ext cx="388620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543800" y="3657600"/>
            <a:ext cx="402336" cy="0"/>
          </a:xfrm>
          <a:prstGeom prst="line">
            <a:avLst/>
          </a:prstGeom>
          <a:noFill/>
          <a:ln w="15875">
            <a:solidFill>
              <a:srgbClr val="B8B0A2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ARCHITECTURE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architecture — five tiers, clear contracts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84124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Plugins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691640"/>
            <a:ext cx="81198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2020824"/>
            <a:ext cx="109728" cy="109728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9385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88024" y="2020824"/>
            <a:ext cx="109728" cy="109728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2616" y="19385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iOS/Android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72728" y="2020824"/>
            <a:ext cx="109728" cy="109728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7320" y="19385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chat plugins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2926080" cy="84124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&amp; API Tier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· Auth · Routing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2606040"/>
            <a:ext cx="81198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2935224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28529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gateway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88024" y="2935224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2616" y="28529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SSO / OAuth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72728" y="2935224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7320" y="28529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rate limit · cost guard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926080" cy="841248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·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3520440"/>
            <a:ext cx="81198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849624"/>
            <a:ext cx="109728" cy="109728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37673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88024" y="3849624"/>
            <a:ext cx="109728" cy="109728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2616" y="37673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context manager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72728" y="3849624"/>
            <a:ext cx="109728" cy="109728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37320" y="37673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runtime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2926080" cy="84124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44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 Tier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Pipelines · Tools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20440" y="4434840"/>
            <a:ext cx="81198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4764024"/>
            <a:ext cx="109728" cy="109728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67912" y="46817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(multi-vendor)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8024" y="4764024"/>
            <a:ext cx="109728" cy="109728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2616" y="46817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fine-tuning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72728" y="4764024"/>
            <a:ext cx="109728" cy="109728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37320" y="46817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+ feedback workers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349240"/>
            <a:ext cx="2926080" cy="84124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31520" y="5806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Search · Streams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20440" y="5349240"/>
            <a:ext cx="81198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03320" y="5678424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67912" y="55961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pair DB · case library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88024" y="5678424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2616" y="55961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+ preferences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72728" y="5678424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7320" y="5596128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telemetry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PROCESSING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single message moves through the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508760" cy="36576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captures draft + metadata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874520"/>
            <a:ext cx="1188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1691640"/>
            <a:ext cx="1508760" cy="365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67712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86584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secret redaction (on-device)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32304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76472" y="1874520"/>
            <a:ext cx="1188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344" y="1691640"/>
            <a:ext cx="1508760" cy="36576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95344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14216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· split into utterances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59936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9936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04104" y="1874520"/>
            <a:ext cx="1188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22976" y="1691640"/>
            <a:ext cx="1508760" cy="36576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22976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41848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sentiment · cultural cue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87568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31736" y="1874520"/>
            <a:ext cx="1188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1691640"/>
            <a:ext cx="1508760" cy="365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50608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69480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w/ cultural fine-tune prompts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59368" y="1874520"/>
            <a:ext cx="1188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78240" y="1691640"/>
            <a:ext cx="1508760" cy="36576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778240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897112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inline cues + suggestions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42832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42832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287000" y="1874520"/>
            <a:ext cx="11887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05872" y="1691640"/>
            <a:ext cx="1508760" cy="36576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05872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405872" y="2057400"/>
            <a:ext cx="1508760" cy="32918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524744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case → library + telemetry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570464" y="4892040"/>
            <a:ext cx="1179576" cy="274320"/>
          </a:xfrm>
          <a:prstGeom prst="rect">
            <a:avLst/>
          </a:prstGeom>
          <a:solidFill>
            <a:srgbClr val="FAF5E8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70464" y="48920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~40ms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623560"/>
            <a:ext cx="3605784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" y="5623560"/>
            <a:ext cx="73152" cy="7772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5715000"/>
            <a:ext cx="328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P50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7240" y="59893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1.0 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291584" y="5623560"/>
            <a:ext cx="3605784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291584" y="5623560"/>
            <a:ext cx="73152" cy="7772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20184" y="5715000"/>
            <a:ext cx="328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FALLBACK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20184" y="59893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partial annotations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034528" y="5623560"/>
            <a:ext cx="3605784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034528" y="5623560"/>
            <a:ext cx="73152" cy="77724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63128" y="5715000"/>
            <a:ext cx="328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SLA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63128" y="59893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raw text leaves device unencrypted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PRIVACY &amp;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privacy-first — data minimization at every tier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838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OS keychain · TLS pin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228600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AF5E8"/>
          </a:solidFill>
          <a:ln w="19050">
            <a:solidFill>
              <a:srgbClr val="C9A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95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BOUNDARY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encryption · key rotation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74320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FAF5E8"/>
          </a:solidFill>
          <a:ln w="19050">
            <a:solidFill>
              <a:srgbClr val="8A9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BOUNDARY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payloads · ephemeral compute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2004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B2A4E"/>
          </a:solidFill>
          <a:ln w="19050">
            <a:solidFill>
              <a:srgbClr val="1B2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BOUNDARY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data in fine-tunes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297680" cy="4023360"/>
          </a:xfrm>
          <a:prstGeom prst="roundRect">
            <a:avLst>
              <a:gd name="adj" fmla="val 1364"/>
            </a:avLst>
          </a:prstGeom>
          <a:solidFill>
            <a:srgbClr val="1B2A4E"/>
          </a:solidFill>
          <a:ln w="1270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2468880"/>
            <a:ext cx="164592" cy="16459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only what is needed for the task.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3017520"/>
            <a:ext cx="164592" cy="16459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sensitive steps on-device when possible.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3566160"/>
            <a:ext cx="164592" cy="16459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identifiers before any model call.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4114800"/>
            <a:ext cx="164592" cy="16459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keys; no cross-customer reuse.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4663440"/>
            <a:ext cx="164592" cy="16459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logged, retention-bounded, exportable.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5212080"/>
            <a:ext cx="164592" cy="16459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User-first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revocable, transparent to the user.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solidFill>
            <a:srgbClr val="EFE4C8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isn't a feature added later — it's the inner architecture.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technologies — pragmatic and proven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87496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87496" cy="10972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262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+ TypeScript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98648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 (iOS / Android)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91256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· shadcn/ui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483864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· Storybook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0728" y="1691640"/>
            <a:ext cx="3587496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0728" y="1691640"/>
            <a:ext cx="3587496" cy="10972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9328" y="1965960"/>
            <a:ext cx="502920" cy="50292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932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9408" y="1984248"/>
            <a:ext cx="262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5048" y="2606040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(NestJS) · Python (FastAPI)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5048" y="2898648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· Redis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5048" y="3191256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for event streams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5048" y="3483864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GraphQL + REST gateway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2816" y="1691640"/>
            <a:ext cx="3587496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52816" y="1691640"/>
            <a:ext cx="3587496" cy="109728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81416" y="1965960"/>
            <a:ext cx="502920" cy="50292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141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21496" y="1984248"/>
            <a:ext cx="262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7136" y="2606040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· GPT · Gemini (failover)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7136" y="2898648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 orchestration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7136" y="3191256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Cultural fine-tuning (LoRA)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7136" y="3483864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DB · pgvector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014216"/>
            <a:ext cx="3587496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014216"/>
            <a:ext cx="3587496" cy="10972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288536"/>
            <a:ext cx="502920" cy="50292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▣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17320" y="4306824"/>
            <a:ext cx="262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" y="4928616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(Tokyo region)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221224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 (EKS)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5513832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· GitHub Actions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Datadog · Sentry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00728" y="4014216"/>
            <a:ext cx="3587496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00728" y="4014216"/>
            <a:ext cx="3587496" cy="10972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9328" y="4288536"/>
            <a:ext cx="502920" cy="50292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9328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♢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169408" y="4306824"/>
            <a:ext cx="262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5048" y="4928616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Auth0 / OIDC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5048" y="5221224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KMS · per-tenant keys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5048" y="5513832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2 · ISO 27001 path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5048" y="5806440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PrivacyOps tooling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52816" y="4014216"/>
            <a:ext cx="3587496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052816" y="4014216"/>
            <a:ext cx="3587496" cy="10972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81416" y="4288536"/>
            <a:ext cx="502920" cy="50292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81416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❑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921496" y="4306824"/>
            <a:ext cx="262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327136" y="4928616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/ Teams apps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327136" y="5221224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Gmail / Outlook add-ins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7136" y="5513832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Chrome / Edge extensions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327136" y="5806440"/>
            <a:ext cx="313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Zoom App SDK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SCREEN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cultural annotation — Slack / Teams plugin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8580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76706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6858000" cy="32004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137160" cy="13716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828800"/>
            <a:ext cx="137160" cy="13716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828800"/>
            <a:ext cx="137160" cy="13716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801368"/>
            <a:ext cx="50292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8013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slack.com / vnext-jp / #project-sakura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371600" cy="425196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project-sakura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vn-team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jp-clients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eng-platform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random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1945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 project-sakura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2606040"/>
            <a:ext cx="5166360" cy="0"/>
          </a:xfrm>
          <a:prstGeom prst="line">
            <a:avLst/>
          </a:prstGeom>
          <a:noFill/>
          <a:ln w="9525">
            <a:solidFill>
              <a:srgbClr val="D6CF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2743200"/>
            <a:ext cx="365760" cy="36576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Yamada-san  ·  10:14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017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ご検討いただけますと幸いです。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383280"/>
            <a:ext cx="4480560" cy="731520"/>
          </a:xfrm>
          <a:prstGeom prst="roundRect">
            <a:avLst>
              <a:gd name="adj" fmla="val 6250"/>
            </a:avLst>
          </a:prstGeom>
          <a:solidFill>
            <a:srgbClr val="EFE4C8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3456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 CULTURAL ANNOTATION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80360" y="3703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formal request — translates to: "Could you please consider this?" The intent is firmer than the soft surface.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0280" y="4480560"/>
            <a:ext cx="365760" cy="36576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Huu Dung  ·  drafting…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4754880"/>
            <a:ext cx="448056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C838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846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"Sure, I'll get to it soon."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5166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CULTURALLY ADAPTED SUGGESTIONS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80360" y="5440680"/>
            <a:ext cx="4023360" cy="274320"/>
          </a:xfrm>
          <a:prstGeom prst="roundRect">
            <a:avLst>
              <a:gd name="adj" fmla="val 13333"/>
            </a:avLst>
          </a:prstGeom>
          <a:solidFill>
            <a:srgbClr val="FAF5E8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5440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"承知しました。本日中に対応いたします。"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80360" y="57607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Yamada-san's register · commits to a timeline (jp-formal expectation)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0" y="1737360"/>
            <a:ext cx="3959352" cy="457200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909560" y="196596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SCREEN DOES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228600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cultural translation, in the conversation.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09560" y="3236976"/>
            <a:ext cx="54864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32004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annotations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344728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intent beneath the surface phrase — without removing the original.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9560" y="3803904"/>
            <a:ext cx="54864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37673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Suggestion chips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401421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culturally adapted phrasing in one click — never auto-replace.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4370832"/>
            <a:ext cx="54864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433425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match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58114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match the counterpart's tone (formal / neutral / casual).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09560" y="4937760"/>
            <a:ext cx="54864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490118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 micro-text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0" y="51480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explanation under each suggestion — teaching, not prescribing.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09560" y="5504688"/>
            <a:ext cx="54864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546811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46720" y="57150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runs in-tenant; no message body leaves the workspace unencrypted.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SCREEN DESIGN (CONT.)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clarification — before you hit send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76706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137160" cy="13716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828800"/>
            <a:ext cx="137160" cy="13716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828800"/>
            <a:ext cx="137160" cy="13716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801368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8013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mail.google.com / new message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280160" cy="425196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32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825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40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yamada@partner-co.jp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514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Project Sakura — milestone update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2834640"/>
            <a:ext cx="5669280" cy="0"/>
          </a:xfrm>
          <a:prstGeom prst="line">
            <a:avLst/>
          </a:prstGeom>
          <a:noFill/>
          <a:ln w="9525">
            <a:solidFill>
              <a:srgbClr val="D6C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971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Yamada-san,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246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going to be late on the milestone. Sorry. Will catch up next week.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393192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C8382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03120" y="3931920"/>
            <a:ext cx="5577840" cy="36576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CULTURAL CHECK BEFORE YOU SEND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4434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"We're going to be late" — to a Japanese formal recipient — may read as casual and under-apologetic.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4983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31720" y="5230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update + plan to recover.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4983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5230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JP-formal: lead with apology + show specific recovery plan.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5943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7670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5943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anyway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59436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5943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rewrite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92440" y="1737360"/>
            <a:ext cx="3547872" cy="4572000"/>
          </a:xfrm>
          <a:prstGeom prst="roundRect">
            <a:avLst>
              <a:gd name="adj" fmla="val 1546"/>
            </a:avLst>
          </a:prstGeom>
          <a:solidFill>
            <a:srgbClr val="1B2A4E"/>
          </a:solidFill>
          <a:ln w="1270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21040" y="196596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PRE-SEND CHECK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21040" y="228600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mismatches before they cost trust.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21040" y="32004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3520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Tone mismatch (casual ↔ formal)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66760" y="390448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Apology missing where culture expects it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66760" y="428853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disagreement that may break face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66760" y="467258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Implicit assumption requiring confirmation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66760" y="505663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/ commitment phrasing risk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21040" y="5806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interruptible. Never auto-rewrites without consent.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SCREEN DESIGN (CONT.)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coaching panel — explain, don't just fix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76706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11091672" cy="32004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137160" cy="13716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828800"/>
            <a:ext cx="137160" cy="13716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828800"/>
            <a:ext cx="137160" cy="13716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801368"/>
            <a:ext cx="92628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801368"/>
            <a:ext cx="9079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app.tamkokoro.io / coaching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6766560" cy="3931920"/>
          </a:xfrm>
          <a:prstGeom prst="roundRect">
            <a:avLst>
              <a:gd name="adj" fmla="val 930"/>
            </a:avLst>
          </a:prstGeom>
          <a:solidFill>
            <a:srgbClr val="EFEAE0"/>
          </a:solidFill>
          <a:ln w="6350">
            <a:solidFill>
              <a:srgbClr val="D6C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2743200"/>
            <a:ext cx="6400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2D9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7889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Huu Dung (Vietnamese · informal):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problem, we'll fix it. Done by tomorrow."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611880"/>
            <a:ext cx="6400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0332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 WHAT THE ENGINE SEES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0233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· friendly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224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42245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Reassurance + commitment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4425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44256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Under-formal for JP partner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4626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MOVE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60320" y="46268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specificity + acknowledgement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0120" y="4983480"/>
            <a:ext cx="6400800" cy="914400"/>
          </a:xfrm>
          <a:prstGeom prst="roundRect">
            <a:avLst>
              <a:gd name="adj" fmla="val 5000"/>
            </a:avLst>
          </a:prstGeom>
          <a:solidFill>
            <a:srgbClr val="FAF5E8"/>
          </a:solidFill>
          <a:ln w="15875">
            <a:solidFill>
              <a:srgbClr val="C838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074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SUGGESTED REWRITE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5349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"ご連絡ありがとうございます。詳細を確認の上、明日中に修正版をお送りいたします。"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2240280"/>
            <a:ext cx="3685032" cy="3931920"/>
          </a:xfrm>
          <a:prstGeom prst="roundRect">
            <a:avLst>
              <a:gd name="adj" fmla="val 993"/>
            </a:avLst>
          </a:prstGeom>
          <a:solidFill>
            <a:srgbClr val="1B2A4E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26974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55280" y="3200400"/>
            <a:ext cx="274320" cy="27432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318211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face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345643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JP-formal expects acknowledgement first, then commitment.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55280" y="4069080"/>
            <a:ext cx="274320" cy="27432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40507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432511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"Tomorrow" alone is vague. Naming the time anchor reads as professional.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55280" y="4937760"/>
            <a:ext cx="274320" cy="27432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21040" y="49194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5193792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Future-self of the relationship benefits from the formal scaffold.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55280" y="5806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teaches, then teaches less.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SCREEN DESIGN (CONT.)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insights dashboard — fluency over time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76706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11091672" cy="32004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137160" cy="137160"/>
          </a:xfrm>
          <a:prstGeom prst="ellipse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828800"/>
            <a:ext cx="137160" cy="137160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1828800"/>
            <a:ext cx="137160" cy="13716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801368"/>
            <a:ext cx="92628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801368"/>
            <a:ext cx="9079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app.tamkokoro.io / team / insights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2535174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240280"/>
            <a:ext cx="2535174" cy="91440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404872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MISCOMM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1832" y="2624328"/>
            <a:ext cx="226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41832" y="3017520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 (M0)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7006" y="2240280"/>
            <a:ext cx="2535174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7006" y="2240280"/>
            <a:ext cx="2535174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1598" y="2404872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FLUENCY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41598" y="2624328"/>
            <a:ext cx="226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41598" y="3017520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avg · jp-formal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6772" y="2240280"/>
            <a:ext cx="2535174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6772" y="2240280"/>
            <a:ext cx="2535174" cy="9144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1364" y="2404872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IN LIBRARY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1364" y="2624328"/>
            <a:ext cx="226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41364" y="3017520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teaching cases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76538" y="2240280"/>
            <a:ext cx="2535174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876538" y="2240280"/>
            <a:ext cx="2535174" cy="9144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1130" y="2404872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41130" y="2624328"/>
            <a:ext cx="2260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4.6/5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041130" y="3017520"/>
            <a:ext cx="226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NPS-style survey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" y="3410712"/>
            <a:ext cx="5848960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5840" y="3575304"/>
            <a:ext cx="539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TREND  ·  6-MONTH PILOT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34440" y="5715000"/>
            <a:ext cx="5208880" cy="0"/>
          </a:xfrm>
          <a:prstGeom prst="line">
            <a:avLst/>
          </a:prstGeom>
          <a:noFill/>
          <a:ln w="12700">
            <a:solidFill>
              <a:srgbClr val="D6CF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4440" y="4050792"/>
            <a:ext cx="0" cy="1664208"/>
          </a:xfrm>
          <a:prstGeom prst="line">
            <a:avLst/>
          </a:prstGeom>
          <a:noFill/>
          <a:ln w="12700">
            <a:solidFill>
              <a:srgbClr val="D6CFC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4440" y="5382158"/>
            <a:ext cx="1041776" cy="-199705"/>
          </a:xfrm>
          <a:prstGeom prst="line">
            <a:avLst/>
          </a:prstGeom>
          <a:noFill/>
          <a:ln w="31750">
            <a:solidFill>
              <a:srgbClr val="C838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76216" y="5182453"/>
            <a:ext cx="1041776" cy="-216347"/>
          </a:xfrm>
          <a:prstGeom prst="line">
            <a:avLst/>
          </a:prstGeom>
          <a:noFill/>
          <a:ln w="31750">
            <a:solidFill>
              <a:srgbClr val="C838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7992" y="4966106"/>
            <a:ext cx="1041776" cy="-216347"/>
          </a:xfrm>
          <a:prstGeom prst="line">
            <a:avLst/>
          </a:prstGeom>
          <a:noFill/>
          <a:ln w="31750">
            <a:solidFill>
              <a:srgbClr val="C838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59768" y="4749759"/>
            <a:ext cx="1041776" cy="-166421"/>
          </a:xfrm>
          <a:prstGeom prst="line">
            <a:avLst/>
          </a:prstGeom>
          <a:noFill/>
          <a:ln w="31750">
            <a:solidFill>
              <a:srgbClr val="C838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01544" y="4583339"/>
            <a:ext cx="1041776" cy="-133137"/>
          </a:xfrm>
          <a:prstGeom prst="line">
            <a:avLst/>
          </a:prstGeom>
          <a:noFill/>
          <a:ln w="31750">
            <a:solidFill>
              <a:srgbClr val="C838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1288" y="5309006"/>
            <a:ext cx="146304" cy="146304"/>
          </a:xfrm>
          <a:prstGeom prst="ellipse">
            <a:avLst/>
          </a:prstGeom>
          <a:solidFill>
            <a:srgbClr val="C838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5769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03064" y="5109301"/>
            <a:ext cx="146304" cy="146304"/>
          </a:xfrm>
          <a:prstGeom prst="ellipse">
            <a:avLst/>
          </a:prstGeom>
          <a:solidFill>
            <a:srgbClr val="C838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01896" y="5769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4840" y="4892954"/>
            <a:ext cx="146304" cy="146304"/>
          </a:xfrm>
          <a:prstGeom prst="ellipse">
            <a:avLst/>
          </a:prstGeom>
          <a:solidFill>
            <a:srgbClr val="C838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43672" y="5769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86616" y="4676607"/>
            <a:ext cx="146304" cy="146304"/>
          </a:xfrm>
          <a:prstGeom prst="ellipse">
            <a:avLst/>
          </a:prstGeom>
          <a:solidFill>
            <a:srgbClr val="C838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5448" y="5769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28392" y="4510187"/>
            <a:ext cx="146304" cy="146304"/>
          </a:xfrm>
          <a:prstGeom prst="ellipse">
            <a:avLst/>
          </a:prstGeom>
          <a:solidFill>
            <a:srgbClr val="C838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7224" y="5769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70168" y="4377050"/>
            <a:ext cx="146304" cy="146304"/>
          </a:xfrm>
          <a:prstGeom prst="ellipse">
            <a:avLst/>
          </a:prstGeom>
          <a:solidFill>
            <a:srgbClr val="C838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9000" y="57698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5532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096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90792" y="3410712"/>
            <a:ext cx="4620920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6CFC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019392" y="3575304"/>
            <a:ext cx="416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TEACHING CASES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19392" y="395935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2D9D5"/>
          </a:solidFill>
          <a:ln w="9525">
            <a:solidFill>
              <a:srgbClr val="C8382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19392" y="39593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× VN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79512" y="3913632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Apology before ask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979512" y="4169664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milestone email — 12 saves.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19392" y="455371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2D9D5"/>
          </a:solidFill>
          <a:ln w="9525">
            <a:solidFill>
              <a:srgbClr val="C8382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9392" y="4553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× VN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79512" y="4507992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Implicit ↔ explicit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979512" y="4764024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an assumption explicit in spec.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019392" y="514807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2D9D5"/>
          </a:solidFill>
          <a:ln w="9525">
            <a:solidFill>
              <a:srgbClr val="C8382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19392" y="5148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979512" y="5102352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Hierarchy phrasing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979512" y="5358384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reply for senior counterpart.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19392" y="57424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2D9D5"/>
          </a:solidFill>
          <a:ln w="9525">
            <a:solidFill>
              <a:srgbClr val="C8382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19392" y="57424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× VN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979512" y="5696712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commitment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79512" y="5952744"/>
            <a:ext cx="320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"soon" with anchor + check-in.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0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Cultural Translation Engine · System Design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C8382C"/>
          </a:solidFill>
          <a:ln w="12700">
            <a:solidFill>
              <a:srgbClr val="C838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engine, in one sentence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privacy-first AI engine that translates expression — preserves intention — and teaches cross-cultural fluency in the tools people already use.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1F2D52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MODULAR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components, clean contracts — easy to evolve.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93192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1F2D52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PRIVATE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redaction · per-tenant keys · auditable trails.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393192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1F2D52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A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Coaching, not replacement. Software fades; fluency stays.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ENGINEERING SCOPING WORKSHOP  ·  PROTOTYPE M2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 × 心  ·  The Shared Heart Project  ·  MrX  ·  Vnext Japan  ·  Shizenkan MBA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Cultural Translation Engine — System Design</dc:title>
  <dc:subject>PptxGenJS Presentation</dc:subject>
  <dc:creator>MrX · Vnext Japan</dc:creator>
  <cp:lastModifiedBy>MrX · Vnext Japan</cp:lastModifiedBy>
  <cp:revision>1</cp:revision>
  <dcterms:created xsi:type="dcterms:W3CDTF">2026-04-27T01:53:40Z</dcterms:created>
  <dcterms:modified xsi:type="dcterms:W3CDTF">2026-04-27T01:53:40Z</dcterms:modified>
</cp:coreProperties>
</file>