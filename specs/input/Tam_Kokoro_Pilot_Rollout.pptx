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E"/>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C8382C"/>
          </a:solidFill>
          <a:ln w="12700">
            <a:solidFill>
              <a:srgbClr val="C8382C"/>
            </a:solidFill>
            <a:prstDash val="solid"/>
          </a:ln>
        </p:spPr>
      </p:sp>
      <p:sp>
        <p:nvSpPr>
          <p:cNvPr id="3" name="Shape 1"/>
          <p:cNvSpPr/>
          <p:nvPr/>
        </p:nvSpPr>
        <p:spPr>
          <a:xfrm>
            <a:off x="0" y="6583680"/>
            <a:ext cx="12191695" cy="274320"/>
          </a:xfrm>
          <a:prstGeom prst="rect">
            <a:avLst/>
          </a:prstGeom>
          <a:solidFill>
            <a:srgbClr val="C9A86A"/>
          </a:solidFill>
          <a:ln w="12700">
            <a:solidFill>
              <a:srgbClr val="C9A86A"/>
            </a:solidFill>
            <a:prstDash val="solid"/>
          </a:ln>
        </p:spPr>
      </p:sp>
      <p:sp>
        <p:nvSpPr>
          <p:cNvPr id="4" name="Text 2"/>
          <p:cNvSpPr/>
          <p:nvPr/>
        </p:nvSpPr>
        <p:spPr>
          <a:xfrm>
            <a:off x="731520" y="1005840"/>
            <a:ext cx="10058400" cy="365760"/>
          </a:xfrm>
          <a:prstGeom prst="rect">
            <a:avLst/>
          </a:prstGeom>
          <a:noFill/>
          <a:ln/>
        </p:spPr>
        <p:txBody>
          <a:bodyPr wrap="square" lIns="0" tIns="0" rIns="0" bIns="0" rtlCol="0" anchor="ctr"/>
          <a:lstStyle/>
          <a:p>
            <a:pPr indent="0" marL="0">
              <a:buNone/>
            </a:pPr>
            <a:r>
              <a:rPr lang="en-US" sz="1400" b="1" spc="600" kern="0" dirty="0">
                <a:solidFill>
                  <a:srgbClr val="C9A86A"/>
                </a:solidFill>
                <a:latin typeface="Calibri" pitchFamily="34" charset="0"/>
                <a:ea typeface="Calibri" pitchFamily="34" charset="-122"/>
                <a:cs typeface="Calibri" pitchFamily="34" charset="-120"/>
              </a:rPr>
              <a:t>WELCOME  ·  ようこそ  ·  CHÀO MỪNG</a:t>
            </a:r>
            <a:endParaRPr lang="en-US" sz="1400" dirty="0"/>
          </a:p>
        </p:txBody>
      </p:sp>
      <p:sp>
        <p:nvSpPr>
          <p:cNvPr id="5" name="Text 3"/>
          <p:cNvSpPr/>
          <p:nvPr/>
        </p:nvSpPr>
        <p:spPr>
          <a:xfrm>
            <a:off x="731520" y="1508760"/>
            <a:ext cx="8686800" cy="1371600"/>
          </a:xfrm>
          <a:prstGeom prst="rect">
            <a:avLst/>
          </a:prstGeom>
          <a:noFill/>
          <a:ln/>
        </p:spPr>
        <p:txBody>
          <a:bodyPr wrap="square" lIns="0" tIns="0" rIns="0" bIns="0" rtlCol="0" anchor="ctr"/>
          <a:lstStyle/>
          <a:p>
            <a:pPr indent="0" marL="0">
              <a:buNone/>
            </a:pPr>
            <a:r>
              <a:rPr lang="en-US" sz="8800" b="1" dirty="0">
                <a:solidFill>
                  <a:srgbClr val="F5EAD9"/>
                </a:solidFill>
                <a:latin typeface="Georgia" pitchFamily="34" charset="0"/>
                <a:ea typeface="Georgia" pitchFamily="34" charset="-122"/>
                <a:cs typeface="Georgia" pitchFamily="34" charset="-120"/>
              </a:rPr>
              <a:t>Tâm × 心</a:t>
            </a:r>
            <a:endParaRPr lang="en-US" sz="8800" dirty="0"/>
          </a:p>
        </p:txBody>
      </p:sp>
      <p:sp>
        <p:nvSpPr>
          <p:cNvPr id="6" name="Text 4"/>
          <p:cNvSpPr/>
          <p:nvPr/>
        </p:nvSpPr>
        <p:spPr>
          <a:xfrm>
            <a:off x="731520" y="2926080"/>
            <a:ext cx="10058400" cy="640080"/>
          </a:xfrm>
          <a:prstGeom prst="rect">
            <a:avLst/>
          </a:prstGeom>
          <a:noFill/>
          <a:ln/>
        </p:spPr>
        <p:txBody>
          <a:bodyPr wrap="square" lIns="0" tIns="0" rIns="0" bIns="0" rtlCol="0" anchor="ctr"/>
          <a:lstStyle/>
          <a:p>
            <a:pPr indent="0" marL="0">
              <a:buNone/>
            </a:pPr>
            <a:r>
              <a:rPr lang="en-US" sz="3200" i="1" dirty="0">
                <a:solidFill>
                  <a:srgbClr val="C9A86A"/>
                </a:solidFill>
                <a:latin typeface="Georgia" pitchFamily="34" charset="0"/>
                <a:ea typeface="Georgia" pitchFamily="34" charset="-122"/>
                <a:cs typeface="Georgia" pitchFamily="34" charset="-120"/>
              </a:rPr>
              <a:t>The Pilot Programme</a:t>
            </a:r>
            <a:endParaRPr lang="en-US" sz="3200" dirty="0"/>
          </a:p>
        </p:txBody>
      </p:sp>
      <p:sp>
        <p:nvSpPr>
          <p:cNvPr id="7" name="Text 5"/>
          <p:cNvSpPr/>
          <p:nvPr/>
        </p:nvSpPr>
        <p:spPr>
          <a:xfrm>
            <a:off x="731520" y="3657600"/>
            <a:ext cx="10515600" cy="457200"/>
          </a:xfrm>
          <a:prstGeom prst="rect">
            <a:avLst/>
          </a:prstGeom>
          <a:noFill/>
          <a:ln/>
        </p:spPr>
        <p:txBody>
          <a:bodyPr wrap="square" lIns="0" tIns="0" rIns="0" bIns="0" rtlCol="0" anchor="ctr"/>
          <a:lstStyle/>
          <a:p>
            <a:pPr indent="0" marL="0">
              <a:buNone/>
            </a:pPr>
            <a:r>
              <a:rPr lang="en-US" sz="1600" i="1" dirty="0">
                <a:solidFill>
                  <a:srgbClr val="F5EAD9"/>
                </a:solidFill>
                <a:latin typeface="Calibri" pitchFamily="34" charset="0"/>
                <a:ea typeface="Calibri" pitchFamily="34" charset="-122"/>
                <a:cs typeface="Calibri" pitchFamily="34" charset="-120"/>
              </a:rPr>
              <a:t>A warm welcome — and a brief, honest introduction to what we're inviting you into.</a:t>
            </a:r>
            <a:endParaRPr lang="en-US" sz="1600" dirty="0"/>
          </a:p>
        </p:txBody>
      </p:sp>
      <p:sp>
        <p:nvSpPr>
          <p:cNvPr id="8" name="Shape 6"/>
          <p:cNvSpPr/>
          <p:nvPr/>
        </p:nvSpPr>
        <p:spPr>
          <a:xfrm>
            <a:off x="9047988" y="3429000"/>
            <a:ext cx="1554480" cy="1554480"/>
          </a:xfrm>
          <a:prstGeom prst="ellipse">
            <a:avLst/>
          </a:prstGeom>
          <a:solidFill>
            <a:srgbClr val="C8382C">
              <a:alpha val="35000"/>
            </a:srgbClr>
          </a:solidFill>
          <a:ln w="31750">
            <a:solidFill>
              <a:srgbClr val="C8382C"/>
            </a:solidFill>
            <a:prstDash val="solid"/>
          </a:ln>
        </p:spPr>
      </p:sp>
      <p:sp>
        <p:nvSpPr>
          <p:cNvPr id="9" name="Shape 7"/>
          <p:cNvSpPr/>
          <p:nvPr/>
        </p:nvSpPr>
        <p:spPr>
          <a:xfrm>
            <a:off x="9514332" y="3429000"/>
            <a:ext cx="1554480" cy="1554480"/>
          </a:xfrm>
          <a:prstGeom prst="ellipse">
            <a:avLst/>
          </a:prstGeom>
          <a:solidFill>
            <a:srgbClr val="C9A86A">
              <a:alpha val="35000"/>
            </a:srgbClr>
          </a:solidFill>
          <a:ln w="31750">
            <a:solidFill>
              <a:srgbClr val="C9A86A"/>
            </a:solidFill>
            <a:prstDash val="solid"/>
          </a:ln>
        </p:spPr>
      </p:sp>
      <p:sp>
        <p:nvSpPr>
          <p:cNvPr id="10" name="Text 8"/>
          <p:cNvSpPr/>
          <p:nvPr/>
        </p:nvSpPr>
        <p:spPr>
          <a:xfrm>
            <a:off x="731520" y="5120640"/>
            <a:ext cx="10058400" cy="365760"/>
          </a:xfrm>
          <a:prstGeom prst="rect">
            <a:avLst/>
          </a:prstGeom>
          <a:noFill/>
          <a:ln/>
        </p:spPr>
        <p:txBody>
          <a:bodyPr wrap="square" lIns="0" tIns="0" rIns="0" bIns="0" rtlCol="0" anchor="ctr"/>
          <a:lstStyle/>
          <a:p>
            <a:pPr indent="0" marL="0">
              <a:buNone/>
            </a:pPr>
            <a:r>
              <a:rPr lang="en-US" sz="1400" b="1" dirty="0">
                <a:solidFill>
                  <a:srgbClr val="C9A86A"/>
                </a:solidFill>
                <a:latin typeface="Calibri" pitchFamily="34" charset="0"/>
                <a:ea typeface="Calibri" pitchFamily="34" charset="-122"/>
                <a:cs typeface="Calibri" pitchFamily="34" charset="-120"/>
              </a:rPr>
              <a:t>For the JP–VN pilot teams  ·  Vnext Japan</a:t>
            </a:r>
            <a:endParaRPr lang="en-US" sz="1400" dirty="0"/>
          </a:p>
        </p:txBody>
      </p:sp>
      <p:sp>
        <p:nvSpPr>
          <p:cNvPr id="11" name="Text 9"/>
          <p:cNvSpPr/>
          <p:nvPr/>
        </p:nvSpPr>
        <p:spPr>
          <a:xfrm>
            <a:off x="731520" y="5486400"/>
            <a:ext cx="10058400" cy="320040"/>
          </a:xfrm>
          <a:prstGeom prst="rect">
            <a:avLst/>
          </a:prstGeom>
          <a:noFill/>
          <a:ln/>
        </p:spPr>
        <p:txBody>
          <a:bodyPr wrap="square" lIns="0" tIns="0" rIns="0" bIns="0" rtlCol="0" anchor="ctr"/>
          <a:lstStyle/>
          <a:p>
            <a:pPr indent="0" marL="0">
              <a:buNone/>
            </a:pPr>
            <a:r>
              <a:rPr lang="en-US" sz="1200" i="1" dirty="0">
                <a:solidFill>
                  <a:srgbClr val="F5EAD9"/>
                </a:solidFill>
                <a:latin typeface="Calibri" pitchFamily="34" charset="0"/>
                <a:ea typeface="Calibri" pitchFamily="34" charset="-122"/>
                <a:cs typeface="Calibri" pitchFamily="34" charset="-120"/>
              </a:rPr>
              <a:t>Read this once — keep it nearby for week one.</a:t>
            </a:r>
            <a:endParaRPr lang="en-US" sz="1200" dirty="0"/>
          </a:p>
        </p:txBody>
      </p:sp>
      <p:sp>
        <p:nvSpPr>
          <p:cNvPr id="12" name="Text 10"/>
          <p:cNvSpPr/>
          <p:nvPr/>
        </p:nvSpPr>
        <p:spPr>
          <a:xfrm>
            <a:off x="731520" y="5852160"/>
            <a:ext cx="10058400" cy="274320"/>
          </a:xfrm>
          <a:prstGeom prst="rect">
            <a:avLst/>
          </a:prstGeom>
          <a:noFill/>
          <a:ln/>
        </p:spPr>
        <p:txBody>
          <a:bodyPr wrap="square" lIns="0" tIns="0" rIns="0" bIns="0" rtlCol="0" anchor="ctr"/>
          <a:lstStyle/>
          <a:p>
            <a:pPr indent="0" marL="0">
              <a:buNone/>
            </a:pPr>
            <a:r>
              <a:rPr lang="en-US" sz="1100" dirty="0">
                <a:solidFill>
                  <a:srgbClr val="B8B0A2"/>
                </a:solidFill>
                <a:latin typeface="Calibri" pitchFamily="34" charset="0"/>
                <a:ea typeface="Calibri" pitchFamily="34" charset="-122"/>
                <a:cs typeface="Calibri" pitchFamily="34" charset="-120"/>
              </a:rPr>
              <a:t>MrX · Vice President, Vnext Japan  ·  Project lead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01 · WHY YOU</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You were chosen — here's what we're asking, plainly</a:t>
            </a:r>
            <a:endParaRPr lang="en-US" sz="2600" dirty="0"/>
          </a:p>
        </p:txBody>
      </p:sp>
      <p:sp>
        <p:nvSpPr>
          <p:cNvPr id="5" name="Shape 3"/>
          <p:cNvSpPr/>
          <p:nvPr/>
        </p:nvSpPr>
        <p:spPr>
          <a:xfrm>
            <a:off x="548640" y="1783080"/>
            <a:ext cx="5394960" cy="4389120"/>
          </a:xfrm>
          <a:prstGeom prst="roundRect">
            <a:avLst>
              <a:gd name="adj" fmla="val 2083"/>
            </a:avLst>
          </a:prstGeom>
          <a:solidFill>
            <a:srgbClr val="FFFFFF"/>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5394960" cy="457200"/>
          </a:xfrm>
          <a:prstGeom prst="rect">
            <a:avLst/>
          </a:prstGeom>
          <a:solidFill>
            <a:srgbClr val="C9A86A"/>
          </a:solidFill>
          <a:ln w="12700">
            <a:solidFill>
              <a:srgbClr val="C9A86A"/>
            </a:solidFill>
            <a:prstDash val="solid"/>
          </a:ln>
        </p:spPr>
      </p:sp>
      <p:sp>
        <p:nvSpPr>
          <p:cNvPr id="7" name="Text 5"/>
          <p:cNvSpPr/>
          <p:nvPr/>
        </p:nvSpPr>
        <p:spPr>
          <a:xfrm>
            <a:off x="731520" y="1783080"/>
            <a:ext cx="5120640" cy="45720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WHY YOUR TEAM</a:t>
            </a:r>
            <a:endParaRPr lang="en-US" sz="1100" dirty="0"/>
          </a:p>
        </p:txBody>
      </p:sp>
      <p:sp>
        <p:nvSpPr>
          <p:cNvPr id="8" name="Text 6"/>
          <p:cNvSpPr/>
          <p:nvPr/>
        </p:nvSpPr>
        <p:spPr>
          <a:xfrm>
            <a:off x="777240" y="2423160"/>
            <a:ext cx="5120640" cy="548640"/>
          </a:xfrm>
          <a:prstGeom prst="rect">
            <a:avLst/>
          </a:prstGeom>
          <a:noFill/>
          <a:ln/>
        </p:spPr>
        <p:txBody>
          <a:bodyPr wrap="square" lIns="0" tIns="0" rIns="0" bIns="0" rtlCol="0" anchor="ctr"/>
          <a:lstStyle/>
          <a:p>
            <a:pPr indent="0" marL="0">
              <a:buNone/>
            </a:pPr>
            <a:r>
              <a:rPr lang="en-US" sz="1900" b="1" i="1" dirty="0">
                <a:solidFill>
                  <a:srgbClr val="1B2A4E"/>
                </a:solidFill>
                <a:latin typeface="Georgia" pitchFamily="34" charset="0"/>
                <a:ea typeface="Georgia" pitchFamily="34" charset="-122"/>
                <a:cs typeface="Georgia" pitchFamily="34" charset="-120"/>
              </a:rPr>
              <a:t>Because the work you do is real.</a:t>
            </a:r>
            <a:endParaRPr lang="en-US" sz="1900" dirty="0"/>
          </a:p>
        </p:txBody>
      </p:sp>
      <p:sp>
        <p:nvSpPr>
          <p:cNvPr id="9" name="Text 7"/>
          <p:cNvSpPr/>
          <p:nvPr/>
        </p:nvSpPr>
        <p:spPr>
          <a:xfrm>
            <a:off x="777240" y="3063240"/>
            <a:ext cx="5074920" cy="164592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Your engagement was chosen because the cross-cultural work happening on your team is exactly the kind this programme is built to support — Vietnamese engineers and Japanese clients working closely, every day, with the friction and the warmth that comes with it.</a:t>
            </a:r>
            <a:endParaRPr lang="en-US" sz="1200" dirty="0"/>
          </a:p>
        </p:txBody>
      </p:sp>
      <p:sp>
        <p:nvSpPr>
          <p:cNvPr id="10" name="Text 8"/>
          <p:cNvSpPr/>
          <p:nvPr/>
        </p:nvSpPr>
        <p:spPr>
          <a:xfrm>
            <a:off x="777240" y="4800600"/>
            <a:ext cx="5074920" cy="1188720"/>
          </a:xfrm>
          <a:prstGeom prst="rect">
            <a:avLst/>
          </a:prstGeom>
          <a:noFill/>
          <a:ln/>
        </p:spPr>
        <p:txBody>
          <a:bodyPr wrap="square" lIns="0" tIns="0" rIns="0" bIns="0" rtlCol="0" anchor="ctr"/>
          <a:lstStyle/>
          <a:p>
            <a:pPr indent="0" marL="0">
              <a:buNone/>
            </a:pPr>
            <a:r>
              <a:rPr lang="en-US" sz="1300" i="1" dirty="0">
                <a:solidFill>
                  <a:srgbClr val="C8382C"/>
                </a:solidFill>
                <a:latin typeface="Georgia" pitchFamily="34" charset="0"/>
                <a:ea typeface="Georgia" pitchFamily="34" charset="-122"/>
                <a:cs typeface="Georgia" pitchFamily="34" charset="-120"/>
              </a:rPr>
              <a:t>You are not being studied. You are being invited to help shape something that — if it works — will outlast this pilot.</a:t>
            </a:r>
            <a:endParaRPr lang="en-US" sz="1300" dirty="0"/>
          </a:p>
        </p:txBody>
      </p:sp>
      <p:sp>
        <p:nvSpPr>
          <p:cNvPr id="11" name="Shape 9"/>
          <p:cNvSpPr/>
          <p:nvPr/>
        </p:nvSpPr>
        <p:spPr>
          <a:xfrm>
            <a:off x="6245352" y="1783080"/>
            <a:ext cx="5394960" cy="4389120"/>
          </a:xfrm>
          <a:prstGeom prst="roundRect">
            <a:avLst>
              <a:gd name="adj" fmla="val 2083"/>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12" name="Shape 10"/>
          <p:cNvSpPr/>
          <p:nvPr/>
        </p:nvSpPr>
        <p:spPr>
          <a:xfrm>
            <a:off x="6245352" y="1783080"/>
            <a:ext cx="5394960" cy="457200"/>
          </a:xfrm>
          <a:prstGeom prst="rect">
            <a:avLst/>
          </a:prstGeom>
          <a:solidFill>
            <a:srgbClr val="C8382C"/>
          </a:solidFill>
          <a:ln w="12700">
            <a:solidFill>
              <a:srgbClr val="C8382C"/>
            </a:solidFill>
            <a:prstDash val="solid"/>
          </a:ln>
        </p:spPr>
      </p:sp>
      <p:sp>
        <p:nvSpPr>
          <p:cNvPr id="13" name="Text 11"/>
          <p:cNvSpPr/>
          <p:nvPr/>
        </p:nvSpPr>
        <p:spPr>
          <a:xfrm>
            <a:off x="6428232" y="1783080"/>
            <a:ext cx="5120640" cy="45720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WHAT WE ARE ASKING</a:t>
            </a:r>
            <a:endParaRPr lang="en-US" sz="1100" dirty="0"/>
          </a:p>
        </p:txBody>
      </p:sp>
      <p:sp>
        <p:nvSpPr>
          <p:cNvPr id="14" name="Shape 12"/>
          <p:cNvSpPr/>
          <p:nvPr/>
        </p:nvSpPr>
        <p:spPr>
          <a:xfrm>
            <a:off x="6428232" y="2496312"/>
            <a:ext cx="292608" cy="292608"/>
          </a:xfrm>
          <a:prstGeom prst="ellipse">
            <a:avLst/>
          </a:prstGeom>
          <a:solidFill>
            <a:srgbClr val="C9A86A"/>
          </a:solidFill>
          <a:ln w="12700">
            <a:solidFill>
              <a:srgbClr val="C9A86A"/>
            </a:solidFill>
            <a:prstDash val="solid"/>
          </a:ln>
        </p:spPr>
      </p:sp>
      <p:sp>
        <p:nvSpPr>
          <p:cNvPr id="15" name="Text 13"/>
          <p:cNvSpPr/>
          <p:nvPr/>
        </p:nvSpPr>
        <p:spPr>
          <a:xfrm>
            <a:off x="6428232" y="2496312"/>
            <a:ext cx="292608" cy="292608"/>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6858000" y="2423160"/>
            <a:ext cx="4663440" cy="365760"/>
          </a:xfrm>
          <a:prstGeom prst="rect">
            <a:avLst/>
          </a:prstGeom>
          <a:noFill/>
          <a:ln/>
        </p:spPr>
        <p:txBody>
          <a:bodyPr wrap="square" lIns="0" tIns="0" rIns="0" bIns="0" rtlCol="0" anchor="ctr"/>
          <a:lstStyle/>
          <a:p>
            <a:pPr indent="0" marL="0">
              <a:buNone/>
            </a:pPr>
            <a:r>
              <a:rPr lang="en-US" sz="1400" b="1" dirty="0">
                <a:solidFill>
                  <a:srgbClr val="F5EAD9"/>
                </a:solidFill>
                <a:latin typeface="Georgia" pitchFamily="34" charset="0"/>
                <a:ea typeface="Georgia" pitchFamily="34" charset="-122"/>
                <a:cs typeface="Georgia" pitchFamily="34" charset="-120"/>
              </a:rPr>
              <a:t>Install a small Slack plugin</a:t>
            </a:r>
            <a:endParaRPr lang="en-US" sz="1400" dirty="0"/>
          </a:p>
        </p:txBody>
      </p:sp>
      <p:sp>
        <p:nvSpPr>
          <p:cNvPr id="17" name="Text 15"/>
          <p:cNvSpPr/>
          <p:nvPr/>
        </p:nvSpPr>
        <p:spPr>
          <a:xfrm>
            <a:off x="6858000" y="2752344"/>
            <a:ext cx="466344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Five minutes. Your IT team will help.</a:t>
            </a:r>
            <a:endParaRPr lang="en-US" sz="1100" dirty="0"/>
          </a:p>
        </p:txBody>
      </p:sp>
      <p:sp>
        <p:nvSpPr>
          <p:cNvPr id="18" name="Shape 16"/>
          <p:cNvSpPr/>
          <p:nvPr/>
        </p:nvSpPr>
        <p:spPr>
          <a:xfrm>
            <a:off x="6428232" y="3209544"/>
            <a:ext cx="292608" cy="292608"/>
          </a:xfrm>
          <a:prstGeom prst="ellipse">
            <a:avLst/>
          </a:prstGeom>
          <a:solidFill>
            <a:srgbClr val="C9A86A"/>
          </a:solidFill>
          <a:ln w="12700">
            <a:solidFill>
              <a:srgbClr val="C9A86A"/>
            </a:solidFill>
            <a:prstDash val="solid"/>
          </a:ln>
        </p:spPr>
      </p:sp>
      <p:sp>
        <p:nvSpPr>
          <p:cNvPr id="19" name="Text 17"/>
          <p:cNvSpPr/>
          <p:nvPr/>
        </p:nvSpPr>
        <p:spPr>
          <a:xfrm>
            <a:off x="6428232" y="3209544"/>
            <a:ext cx="292608" cy="292608"/>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6858000" y="3136392"/>
            <a:ext cx="4663440" cy="365760"/>
          </a:xfrm>
          <a:prstGeom prst="rect">
            <a:avLst/>
          </a:prstGeom>
          <a:noFill/>
          <a:ln/>
        </p:spPr>
        <p:txBody>
          <a:bodyPr wrap="square" lIns="0" tIns="0" rIns="0" bIns="0" rtlCol="0" anchor="ctr"/>
          <a:lstStyle/>
          <a:p>
            <a:pPr indent="0" marL="0">
              <a:buNone/>
            </a:pPr>
            <a:r>
              <a:rPr lang="en-US" sz="1400" b="1" dirty="0">
                <a:solidFill>
                  <a:srgbClr val="F5EAD9"/>
                </a:solidFill>
                <a:latin typeface="Georgia" pitchFamily="34" charset="0"/>
                <a:ea typeface="Georgia" pitchFamily="34" charset="-122"/>
                <a:cs typeface="Georgia" pitchFamily="34" charset="-120"/>
              </a:rPr>
              <a:t>One baseline conversation</a:t>
            </a:r>
            <a:endParaRPr lang="en-US" sz="1400" dirty="0"/>
          </a:p>
        </p:txBody>
      </p:sp>
      <p:sp>
        <p:nvSpPr>
          <p:cNvPr id="21" name="Text 19"/>
          <p:cNvSpPr/>
          <p:nvPr/>
        </p:nvSpPr>
        <p:spPr>
          <a:xfrm>
            <a:off x="6858000" y="3465576"/>
            <a:ext cx="466344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30 minutes with the research lead. In your language.</a:t>
            </a:r>
            <a:endParaRPr lang="en-US" sz="1100" dirty="0"/>
          </a:p>
        </p:txBody>
      </p:sp>
      <p:sp>
        <p:nvSpPr>
          <p:cNvPr id="22" name="Shape 20"/>
          <p:cNvSpPr/>
          <p:nvPr/>
        </p:nvSpPr>
        <p:spPr>
          <a:xfrm>
            <a:off x="6428232" y="3922776"/>
            <a:ext cx="292608" cy="292608"/>
          </a:xfrm>
          <a:prstGeom prst="ellipse">
            <a:avLst/>
          </a:prstGeom>
          <a:solidFill>
            <a:srgbClr val="C9A86A"/>
          </a:solidFill>
          <a:ln w="12700">
            <a:solidFill>
              <a:srgbClr val="C9A86A"/>
            </a:solidFill>
            <a:prstDash val="solid"/>
          </a:ln>
        </p:spPr>
      </p:sp>
      <p:sp>
        <p:nvSpPr>
          <p:cNvPr id="23" name="Text 21"/>
          <p:cNvSpPr/>
          <p:nvPr/>
        </p:nvSpPr>
        <p:spPr>
          <a:xfrm>
            <a:off x="6428232" y="3922776"/>
            <a:ext cx="292608" cy="292608"/>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6858000" y="3849624"/>
            <a:ext cx="4663440" cy="365760"/>
          </a:xfrm>
          <a:prstGeom prst="rect">
            <a:avLst/>
          </a:prstGeom>
          <a:noFill/>
          <a:ln/>
        </p:spPr>
        <p:txBody>
          <a:bodyPr wrap="square" lIns="0" tIns="0" rIns="0" bIns="0" rtlCol="0" anchor="ctr"/>
          <a:lstStyle/>
          <a:p>
            <a:pPr indent="0" marL="0">
              <a:buNone/>
            </a:pPr>
            <a:r>
              <a:rPr lang="en-US" sz="1400" b="1" dirty="0">
                <a:solidFill>
                  <a:srgbClr val="F5EAD9"/>
                </a:solidFill>
                <a:latin typeface="Georgia" pitchFamily="34" charset="0"/>
                <a:ea typeface="Georgia" pitchFamily="34" charset="-122"/>
                <a:cs typeface="Georgia" pitchFamily="34" charset="-120"/>
              </a:rPr>
              <a:t>A short weekly check-in</a:t>
            </a:r>
            <a:endParaRPr lang="en-US" sz="1400" dirty="0"/>
          </a:p>
        </p:txBody>
      </p:sp>
      <p:sp>
        <p:nvSpPr>
          <p:cNvPr id="25" name="Text 23"/>
          <p:cNvSpPr/>
          <p:nvPr/>
        </p:nvSpPr>
        <p:spPr>
          <a:xfrm>
            <a:off x="6858000" y="4178808"/>
            <a:ext cx="466344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Three questions, anonymous, ~60 seconds.</a:t>
            </a:r>
            <a:endParaRPr lang="en-US" sz="1100" dirty="0"/>
          </a:p>
        </p:txBody>
      </p:sp>
      <p:sp>
        <p:nvSpPr>
          <p:cNvPr id="26" name="Shape 24"/>
          <p:cNvSpPr/>
          <p:nvPr/>
        </p:nvSpPr>
        <p:spPr>
          <a:xfrm>
            <a:off x="6428232" y="4636008"/>
            <a:ext cx="292608" cy="292608"/>
          </a:xfrm>
          <a:prstGeom prst="ellipse">
            <a:avLst/>
          </a:prstGeom>
          <a:solidFill>
            <a:srgbClr val="C9A86A"/>
          </a:solidFill>
          <a:ln w="12700">
            <a:solidFill>
              <a:srgbClr val="C9A86A"/>
            </a:solidFill>
            <a:prstDash val="solid"/>
          </a:ln>
        </p:spPr>
      </p:sp>
      <p:sp>
        <p:nvSpPr>
          <p:cNvPr id="27" name="Text 25"/>
          <p:cNvSpPr/>
          <p:nvPr/>
        </p:nvSpPr>
        <p:spPr>
          <a:xfrm>
            <a:off x="6428232" y="4636008"/>
            <a:ext cx="292608" cy="292608"/>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58000" y="4562856"/>
            <a:ext cx="4663440" cy="365760"/>
          </a:xfrm>
          <a:prstGeom prst="rect">
            <a:avLst/>
          </a:prstGeom>
          <a:noFill/>
          <a:ln/>
        </p:spPr>
        <p:txBody>
          <a:bodyPr wrap="square" lIns="0" tIns="0" rIns="0" bIns="0" rtlCol="0" anchor="ctr"/>
          <a:lstStyle/>
          <a:p>
            <a:pPr indent="0" marL="0">
              <a:buNone/>
            </a:pPr>
            <a:r>
              <a:rPr lang="en-US" sz="1400" b="1" dirty="0">
                <a:solidFill>
                  <a:srgbClr val="F5EAD9"/>
                </a:solidFill>
                <a:latin typeface="Georgia" pitchFamily="34" charset="0"/>
                <a:ea typeface="Georgia" pitchFamily="34" charset="-122"/>
                <a:cs typeface="Georgia" pitchFamily="34" charset="-120"/>
              </a:rPr>
              <a:t>One endline conversation</a:t>
            </a:r>
            <a:endParaRPr lang="en-US" sz="1400" dirty="0"/>
          </a:p>
        </p:txBody>
      </p:sp>
      <p:sp>
        <p:nvSpPr>
          <p:cNvPr id="29" name="Text 27"/>
          <p:cNvSpPr/>
          <p:nvPr/>
        </p:nvSpPr>
        <p:spPr>
          <a:xfrm>
            <a:off x="6858000" y="4892040"/>
            <a:ext cx="466344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30 minutes at month 7. Same as the first.</a:t>
            </a:r>
            <a:endParaRPr lang="en-US" sz="1100" dirty="0"/>
          </a:p>
        </p:txBody>
      </p:sp>
      <p:sp>
        <p:nvSpPr>
          <p:cNvPr id="30" name="Shape 28"/>
          <p:cNvSpPr/>
          <p:nvPr/>
        </p:nvSpPr>
        <p:spPr>
          <a:xfrm>
            <a:off x="6428232" y="5349240"/>
            <a:ext cx="292608" cy="292608"/>
          </a:xfrm>
          <a:prstGeom prst="ellipse">
            <a:avLst/>
          </a:prstGeom>
          <a:solidFill>
            <a:srgbClr val="C9A86A"/>
          </a:solidFill>
          <a:ln w="12700">
            <a:solidFill>
              <a:srgbClr val="C9A86A"/>
            </a:solidFill>
            <a:prstDash val="solid"/>
          </a:ln>
        </p:spPr>
      </p:sp>
      <p:sp>
        <p:nvSpPr>
          <p:cNvPr id="31" name="Text 29"/>
          <p:cNvSpPr/>
          <p:nvPr/>
        </p:nvSpPr>
        <p:spPr>
          <a:xfrm>
            <a:off x="6428232" y="5349240"/>
            <a:ext cx="292608" cy="292608"/>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6858000" y="5276088"/>
            <a:ext cx="4663440" cy="365760"/>
          </a:xfrm>
          <a:prstGeom prst="rect">
            <a:avLst/>
          </a:prstGeom>
          <a:noFill/>
          <a:ln/>
        </p:spPr>
        <p:txBody>
          <a:bodyPr wrap="square" lIns="0" tIns="0" rIns="0" bIns="0" rtlCol="0" anchor="ctr"/>
          <a:lstStyle/>
          <a:p>
            <a:pPr indent="0" marL="0">
              <a:buNone/>
            </a:pPr>
            <a:r>
              <a:rPr lang="en-US" sz="1400" b="1" dirty="0">
                <a:solidFill>
                  <a:srgbClr val="F5EAD9"/>
                </a:solidFill>
                <a:latin typeface="Georgia" pitchFamily="34" charset="0"/>
                <a:ea typeface="Georgia" pitchFamily="34" charset="-122"/>
                <a:cs typeface="Georgia" pitchFamily="34" charset="-120"/>
              </a:rPr>
              <a:t>Use the plugin — when you want</a:t>
            </a:r>
            <a:endParaRPr lang="en-US" sz="1400" dirty="0"/>
          </a:p>
        </p:txBody>
      </p:sp>
      <p:sp>
        <p:nvSpPr>
          <p:cNvPr id="33" name="Text 31"/>
          <p:cNvSpPr/>
          <p:nvPr/>
        </p:nvSpPr>
        <p:spPr>
          <a:xfrm>
            <a:off x="6858000" y="5605272"/>
            <a:ext cx="466344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It only suggests. It never auto-sends. You decide.</a:t>
            </a:r>
            <a:endParaRPr lang="en-US" sz="1100" dirty="0"/>
          </a:p>
        </p:txBody>
      </p:sp>
      <p:sp>
        <p:nvSpPr>
          <p:cNvPr id="34" name="Text 32"/>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12</a:t>
            </a:r>
            <a:endParaRPr lang="en-US" sz="900" dirty="0"/>
          </a:p>
        </p:txBody>
      </p:sp>
      <p:sp>
        <p:nvSpPr>
          <p:cNvPr id="35" name="Text 33"/>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02 · WHAT THIS IS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Two things working together — in plain language</a:t>
            </a:r>
            <a:endParaRPr lang="en-US" sz="2600" dirty="0"/>
          </a:p>
        </p:txBody>
      </p:sp>
      <p:sp>
        <p:nvSpPr>
          <p:cNvPr id="5" name="Shape 3"/>
          <p:cNvSpPr/>
          <p:nvPr/>
        </p:nvSpPr>
        <p:spPr>
          <a:xfrm>
            <a:off x="548640" y="1783080"/>
            <a:ext cx="5440680" cy="4206240"/>
          </a:xfrm>
          <a:prstGeom prst="roundRect">
            <a:avLst>
              <a:gd name="adj" fmla="val 2174"/>
            </a:avLst>
          </a:prstGeom>
          <a:solidFill>
            <a:srgbClr val="FFFFFF"/>
          </a:solidFill>
          <a:ln w="25400">
            <a:solidFill>
              <a:srgbClr val="C8382C"/>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5440680" cy="502920"/>
          </a:xfrm>
          <a:prstGeom prst="rect">
            <a:avLst/>
          </a:prstGeom>
          <a:solidFill>
            <a:srgbClr val="C8382C"/>
          </a:solidFill>
          <a:ln w="12700">
            <a:solidFill>
              <a:srgbClr val="C8382C"/>
            </a:solidFill>
            <a:prstDash val="solid"/>
          </a:ln>
        </p:spPr>
      </p:sp>
      <p:sp>
        <p:nvSpPr>
          <p:cNvPr id="7" name="Text 5"/>
          <p:cNvSpPr/>
          <p:nvPr/>
        </p:nvSpPr>
        <p:spPr>
          <a:xfrm>
            <a:off x="777240" y="1783080"/>
            <a:ext cx="5120640" cy="502920"/>
          </a:xfrm>
          <a:prstGeom prst="rect">
            <a:avLst/>
          </a:prstGeom>
          <a:noFill/>
          <a:ln/>
        </p:spPr>
        <p:txBody>
          <a:bodyPr wrap="square" lIns="0" tIns="0" rIns="0" bIns="0" rtlCol="0" anchor="ctr"/>
          <a:lstStyle/>
          <a:p>
            <a:pPr indent="0" marL="0">
              <a:buNone/>
            </a:pPr>
            <a:r>
              <a:rPr lang="en-US" sz="1200" b="1" spc="300" kern="0" dirty="0">
                <a:solidFill>
                  <a:srgbClr val="F5EAD9"/>
                </a:solidFill>
                <a:latin typeface="Calibri" pitchFamily="34" charset="0"/>
                <a:ea typeface="Calibri" pitchFamily="34" charset="-122"/>
                <a:cs typeface="Calibri" pitchFamily="34" charset="-120"/>
              </a:rPr>
              <a:t>THE PLUGIN  ·  THE ENGINE</a:t>
            </a:r>
            <a:endParaRPr lang="en-US" sz="1200" dirty="0"/>
          </a:p>
        </p:txBody>
      </p:sp>
      <p:sp>
        <p:nvSpPr>
          <p:cNvPr id="8" name="Text 6"/>
          <p:cNvSpPr/>
          <p:nvPr/>
        </p:nvSpPr>
        <p:spPr>
          <a:xfrm>
            <a:off x="777240" y="2468880"/>
            <a:ext cx="5212080" cy="502920"/>
          </a:xfrm>
          <a:prstGeom prst="rect">
            <a:avLst/>
          </a:prstGeom>
          <a:noFill/>
          <a:ln/>
        </p:spPr>
        <p:txBody>
          <a:bodyPr wrap="square" lIns="0" tIns="0" rIns="0" bIns="0" rtlCol="0" anchor="ctr"/>
          <a:lstStyle/>
          <a:p>
            <a:pPr indent="0" marL="0">
              <a:buNone/>
            </a:pPr>
            <a:r>
              <a:rPr lang="en-US" sz="2000" b="1" i="1" dirty="0">
                <a:solidFill>
                  <a:srgbClr val="1B2A4E"/>
                </a:solidFill>
                <a:latin typeface="Georgia" pitchFamily="34" charset="0"/>
                <a:ea typeface="Georgia" pitchFamily="34" charset="-122"/>
                <a:cs typeface="Georgia" pitchFamily="34" charset="-120"/>
              </a:rPr>
              <a:t>A small helper inside Slack.</a:t>
            </a:r>
            <a:endParaRPr lang="en-US" sz="2000" dirty="0"/>
          </a:p>
        </p:txBody>
      </p:sp>
      <p:sp>
        <p:nvSpPr>
          <p:cNvPr id="9" name="Text 7"/>
          <p:cNvSpPr/>
          <p:nvPr/>
        </p:nvSpPr>
        <p:spPr>
          <a:xfrm>
            <a:off x="777240" y="3063240"/>
            <a:ext cx="5120640" cy="201168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When a message comes in from across the culture line, the plugin quietly adds a small note: "this phrase is Japanese formal — it means the sender is being respectful, not cold." When you're drafting a reply, it can suggest a more culturally-fitting wording — but only if you ask, and never as auto-replace.</a:t>
            </a:r>
            <a:endParaRPr lang="en-US" sz="1200" dirty="0"/>
          </a:p>
        </p:txBody>
      </p:sp>
      <p:sp>
        <p:nvSpPr>
          <p:cNvPr id="10" name="Text 8"/>
          <p:cNvSpPr/>
          <p:nvPr/>
        </p:nvSpPr>
        <p:spPr>
          <a:xfrm>
            <a:off x="777240" y="5212080"/>
            <a:ext cx="5120640" cy="548640"/>
          </a:xfrm>
          <a:prstGeom prst="rect">
            <a:avLst/>
          </a:prstGeom>
          <a:noFill/>
          <a:ln/>
        </p:spPr>
        <p:txBody>
          <a:bodyPr wrap="square" lIns="0" tIns="0" rIns="0" bIns="0" rtlCol="0" anchor="ctr"/>
          <a:lstStyle/>
          <a:p>
            <a:pPr indent="0" marL="0">
              <a:buNone/>
            </a:pPr>
            <a:r>
              <a:rPr lang="en-US" sz="1200" b="1" i="1" dirty="0">
                <a:solidFill>
                  <a:srgbClr val="C8382C"/>
                </a:solidFill>
                <a:latin typeface="Calibri" pitchFamily="34" charset="0"/>
                <a:ea typeface="Calibri" pitchFamily="34" charset="-122"/>
                <a:cs typeface="Calibri" pitchFamily="34" charset="-120"/>
              </a:rPr>
              <a:t>Think of it as a colleague who has worked in both cultures, whispering context.</a:t>
            </a:r>
            <a:endParaRPr lang="en-US" sz="1200" dirty="0"/>
          </a:p>
        </p:txBody>
      </p:sp>
      <p:sp>
        <p:nvSpPr>
          <p:cNvPr id="11" name="Shape 9"/>
          <p:cNvSpPr/>
          <p:nvPr/>
        </p:nvSpPr>
        <p:spPr>
          <a:xfrm>
            <a:off x="6199632" y="1783080"/>
            <a:ext cx="5440680" cy="4206240"/>
          </a:xfrm>
          <a:prstGeom prst="roundRect">
            <a:avLst>
              <a:gd name="adj" fmla="val 2174"/>
            </a:avLst>
          </a:prstGeom>
          <a:solidFill>
            <a:srgbClr val="FFFFFF"/>
          </a:solidFill>
          <a:ln w="25400">
            <a:solidFill>
              <a:srgbClr val="8A9A7B"/>
            </a:solidFill>
            <a:prstDash val="solid"/>
          </a:ln>
          <a:effectLst>
            <a:outerShdw sx="100000" sy="100000" kx="0" ky="0" algn="bl" rotWithShape="0" blurRad="101600" dist="12700" dir="5400000">
              <a:srgbClr val="000000">
                <a:alpha val="12000"/>
              </a:srgbClr>
            </a:outerShdw>
          </a:effectLst>
        </p:spPr>
      </p:sp>
      <p:sp>
        <p:nvSpPr>
          <p:cNvPr id="12" name="Shape 10"/>
          <p:cNvSpPr/>
          <p:nvPr/>
        </p:nvSpPr>
        <p:spPr>
          <a:xfrm>
            <a:off x="6199632" y="1783080"/>
            <a:ext cx="5440680" cy="502920"/>
          </a:xfrm>
          <a:prstGeom prst="rect">
            <a:avLst/>
          </a:prstGeom>
          <a:solidFill>
            <a:srgbClr val="8A9A7B"/>
          </a:solidFill>
          <a:ln w="12700">
            <a:solidFill>
              <a:srgbClr val="8A9A7B"/>
            </a:solidFill>
            <a:prstDash val="solid"/>
          </a:ln>
        </p:spPr>
      </p:sp>
      <p:sp>
        <p:nvSpPr>
          <p:cNvPr id="13" name="Text 11"/>
          <p:cNvSpPr/>
          <p:nvPr/>
        </p:nvSpPr>
        <p:spPr>
          <a:xfrm>
            <a:off x="6428232" y="1783080"/>
            <a:ext cx="5120640" cy="502920"/>
          </a:xfrm>
          <a:prstGeom prst="rect">
            <a:avLst/>
          </a:prstGeom>
          <a:noFill/>
          <a:ln/>
        </p:spPr>
        <p:txBody>
          <a:bodyPr wrap="square" lIns="0" tIns="0" rIns="0" bIns="0" rtlCol="0" anchor="ctr"/>
          <a:lstStyle/>
          <a:p>
            <a:pPr indent="0" marL="0">
              <a:buNone/>
            </a:pPr>
            <a:r>
              <a:rPr lang="en-US" sz="1200" b="1" spc="300" kern="0" dirty="0">
                <a:solidFill>
                  <a:srgbClr val="F5EAD9"/>
                </a:solidFill>
                <a:latin typeface="Calibri" pitchFamily="34" charset="0"/>
                <a:ea typeface="Calibri" pitchFamily="34" charset="-122"/>
                <a:cs typeface="Calibri" pitchFamily="34" charset="-120"/>
              </a:rPr>
              <a:t>THE PRACTICE  ·  THE FRAMEWORK</a:t>
            </a:r>
            <a:endParaRPr lang="en-US" sz="1200" dirty="0"/>
          </a:p>
        </p:txBody>
      </p:sp>
      <p:sp>
        <p:nvSpPr>
          <p:cNvPr id="14" name="Text 12"/>
          <p:cNvSpPr/>
          <p:nvPr/>
        </p:nvSpPr>
        <p:spPr>
          <a:xfrm>
            <a:off x="6428232" y="2468880"/>
            <a:ext cx="5212080" cy="502920"/>
          </a:xfrm>
          <a:prstGeom prst="rect">
            <a:avLst/>
          </a:prstGeom>
          <a:noFill/>
          <a:ln/>
        </p:spPr>
        <p:txBody>
          <a:bodyPr wrap="square" lIns="0" tIns="0" rIns="0" bIns="0" rtlCol="0" anchor="ctr"/>
          <a:lstStyle/>
          <a:p>
            <a:pPr indent="0" marL="0">
              <a:buNone/>
            </a:pPr>
            <a:r>
              <a:rPr lang="en-US" sz="2000" b="1" i="1" dirty="0">
                <a:solidFill>
                  <a:srgbClr val="1B2A4E"/>
                </a:solidFill>
                <a:latin typeface="Georgia" pitchFamily="34" charset="0"/>
                <a:ea typeface="Georgia" pitchFamily="34" charset="-122"/>
                <a:cs typeface="Georgia" pitchFamily="34" charset="-120"/>
              </a:rPr>
              <a:t>A few small rituals for the team.</a:t>
            </a:r>
            <a:endParaRPr lang="en-US" sz="2000" dirty="0"/>
          </a:p>
        </p:txBody>
      </p:sp>
      <p:sp>
        <p:nvSpPr>
          <p:cNvPr id="15" name="Text 13"/>
          <p:cNvSpPr/>
          <p:nvPr/>
        </p:nvSpPr>
        <p:spPr>
          <a:xfrm>
            <a:off x="6428232" y="3063240"/>
            <a:ext cx="5120640" cy="201168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Alongside the plugin, your team will adopt two or three lightweight practices: a brief opening ritual at the start of weekly meetings ("check tâm before the task"), a short protocol for when conflict appears across the culture line, and an occasional reflection circle. None of these add meaningful time to your week.</a:t>
            </a:r>
            <a:endParaRPr lang="en-US" sz="1200" dirty="0"/>
          </a:p>
        </p:txBody>
      </p:sp>
      <p:sp>
        <p:nvSpPr>
          <p:cNvPr id="16" name="Text 14"/>
          <p:cNvSpPr/>
          <p:nvPr/>
        </p:nvSpPr>
        <p:spPr>
          <a:xfrm>
            <a:off x="6428232" y="5212080"/>
            <a:ext cx="5120640" cy="548640"/>
          </a:xfrm>
          <a:prstGeom prst="rect">
            <a:avLst/>
          </a:prstGeom>
          <a:noFill/>
          <a:ln/>
        </p:spPr>
        <p:txBody>
          <a:bodyPr wrap="square" lIns="0" tIns="0" rIns="0" bIns="0" rtlCol="0" anchor="ctr"/>
          <a:lstStyle/>
          <a:p>
            <a:pPr indent="0" marL="0">
              <a:buNone/>
            </a:pPr>
            <a:r>
              <a:rPr lang="en-US" sz="1200" b="1" i="1" dirty="0">
                <a:solidFill>
                  <a:srgbClr val="8A9A7B"/>
                </a:solidFill>
                <a:latin typeface="Calibri" pitchFamily="34" charset="0"/>
                <a:ea typeface="Calibri" pitchFamily="34" charset="-122"/>
                <a:cs typeface="Calibri" pitchFamily="34" charset="-120"/>
              </a:rPr>
              <a:t>The plugin works in the moment. The rituals work over time.</a:t>
            </a:r>
            <a:endParaRPr lang="en-US" sz="1200" dirty="0"/>
          </a:p>
        </p:txBody>
      </p:sp>
      <p:sp>
        <p:nvSpPr>
          <p:cNvPr id="17" name="Text 15"/>
          <p:cNvSpPr/>
          <p:nvPr/>
        </p:nvSpPr>
        <p:spPr>
          <a:xfrm>
            <a:off x="548640" y="6126480"/>
            <a:ext cx="11155680" cy="274320"/>
          </a:xfrm>
          <a:prstGeom prst="rect">
            <a:avLst/>
          </a:prstGeom>
          <a:noFill/>
          <a:ln/>
        </p:spPr>
        <p:txBody>
          <a:bodyPr wrap="square" lIns="0" tIns="0" rIns="0" bIns="0"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These are the two halves of the pilot. You'll see them both, gently, from week one.</a:t>
            </a:r>
            <a:endParaRPr lang="en-US" sz="1200" dirty="0"/>
          </a:p>
        </p:txBody>
      </p:sp>
      <p:sp>
        <p:nvSpPr>
          <p:cNvPr id="18" name="Text 16"/>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12</a:t>
            </a:r>
            <a:endParaRPr lang="en-US" sz="900" dirty="0"/>
          </a:p>
        </p:txBody>
      </p:sp>
      <p:sp>
        <p:nvSpPr>
          <p:cNvPr id="19" name="Text 17"/>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03 · WHAT YOU'LL SEE</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An example moment in Slack — annotated for you</a:t>
            </a:r>
            <a:endParaRPr lang="en-US" sz="2600" dirty="0"/>
          </a:p>
        </p:txBody>
      </p:sp>
      <p:sp>
        <p:nvSpPr>
          <p:cNvPr id="5" name="Shape 3"/>
          <p:cNvSpPr/>
          <p:nvPr/>
        </p:nvSpPr>
        <p:spPr>
          <a:xfrm>
            <a:off x="548640" y="1783080"/>
            <a:ext cx="7589520" cy="4206240"/>
          </a:xfrm>
          <a:prstGeom prst="roundRect">
            <a:avLst>
              <a:gd name="adj" fmla="val 1739"/>
            </a:avLst>
          </a:prstGeom>
          <a:solidFill>
            <a:srgbClr val="EFEAE0"/>
          </a:solidFill>
          <a:ln w="12700">
            <a:solidFill>
              <a:srgbClr val="D6CFC1"/>
            </a:solidFill>
            <a:prstDash val="solid"/>
          </a:ln>
        </p:spPr>
      </p:sp>
      <p:sp>
        <p:nvSpPr>
          <p:cNvPr id="6" name="Shape 4"/>
          <p:cNvSpPr/>
          <p:nvPr/>
        </p:nvSpPr>
        <p:spPr>
          <a:xfrm>
            <a:off x="548640" y="1783080"/>
            <a:ext cx="7589520" cy="365760"/>
          </a:xfrm>
          <a:prstGeom prst="rect">
            <a:avLst/>
          </a:prstGeom>
          <a:solidFill>
            <a:srgbClr val="D6CFC1"/>
          </a:solidFill>
          <a:ln w="12700">
            <a:solidFill>
              <a:srgbClr val="D6CFC1"/>
            </a:solidFill>
            <a:prstDash val="solid"/>
          </a:ln>
        </p:spPr>
      </p:sp>
      <p:sp>
        <p:nvSpPr>
          <p:cNvPr id="7" name="Shape 5"/>
          <p:cNvSpPr/>
          <p:nvPr/>
        </p:nvSpPr>
        <p:spPr>
          <a:xfrm>
            <a:off x="685800" y="1892808"/>
            <a:ext cx="146304" cy="146304"/>
          </a:xfrm>
          <a:prstGeom prst="ellipse">
            <a:avLst/>
          </a:prstGeom>
          <a:solidFill>
            <a:srgbClr val="C8382C"/>
          </a:solidFill>
          <a:ln w="12700">
            <a:solidFill>
              <a:srgbClr val="C8382C"/>
            </a:solidFill>
            <a:prstDash val="solid"/>
          </a:ln>
        </p:spPr>
      </p:sp>
      <p:sp>
        <p:nvSpPr>
          <p:cNvPr id="8" name="Shape 6"/>
          <p:cNvSpPr/>
          <p:nvPr/>
        </p:nvSpPr>
        <p:spPr>
          <a:xfrm>
            <a:off x="914400" y="1892808"/>
            <a:ext cx="146304" cy="146304"/>
          </a:xfrm>
          <a:prstGeom prst="ellipse">
            <a:avLst/>
          </a:prstGeom>
          <a:solidFill>
            <a:srgbClr val="C9A86A"/>
          </a:solidFill>
          <a:ln w="12700">
            <a:solidFill>
              <a:srgbClr val="C9A86A"/>
            </a:solidFill>
            <a:prstDash val="solid"/>
          </a:ln>
        </p:spPr>
      </p:sp>
      <p:sp>
        <p:nvSpPr>
          <p:cNvPr id="9" name="Shape 7"/>
          <p:cNvSpPr/>
          <p:nvPr/>
        </p:nvSpPr>
        <p:spPr>
          <a:xfrm>
            <a:off x="1143000" y="1892808"/>
            <a:ext cx="146304" cy="146304"/>
          </a:xfrm>
          <a:prstGeom prst="ellipse">
            <a:avLst/>
          </a:prstGeom>
          <a:solidFill>
            <a:srgbClr val="8A9A7B"/>
          </a:solidFill>
          <a:ln w="12700">
            <a:solidFill>
              <a:srgbClr val="8A9A7B"/>
            </a:solidFill>
            <a:prstDash val="solid"/>
          </a:ln>
        </p:spPr>
      </p:sp>
      <p:sp>
        <p:nvSpPr>
          <p:cNvPr id="10" name="Text 8"/>
          <p:cNvSpPr/>
          <p:nvPr/>
        </p:nvSpPr>
        <p:spPr>
          <a:xfrm>
            <a:off x="1463040" y="1837944"/>
            <a:ext cx="6492240" cy="27432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slack.com / vnext-jp / #project-sakura</a:t>
            </a:r>
            <a:endParaRPr lang="en-US" sz="1000" dirty="0"/>
          </a:p>
        </p:txBody>
      </p:sp>
      <p:sp>
        <p:nvSpPr>
          <p:cNvPr id="11" name="Shape 9"/>
          <p:cNvSpPr/>
          <p:nvPr/>
        </p:nvSpPr>
        <p:spPr>
          <a:xfrm>
            <a:off x="548640" y="2148840"/>
            <a:ext cx="1463040" cy="3840480"/>
          </a:xfrm>
          <a:prstGeom prst="rect">
            <a:avLst/>
          </a:prstGeom>
          <a:solidFill>
            <a:srgbClr val="1B2A4E"/>
          </a:solidFill>
          <a:ln w="12700">
            <a:solidFill>
              <a:srgbClr val="1B2A4E"/>
            </a:solidFill>
            <a:prstDash val="solid"/>
          </a:ln>
        </p:spPr>
      </p:sp>
      <p:sp>
        <p:nvSpPr>
          <p:cNvPr id="12" name="Text 10"/>
          <p:cNvSpPr/>
          <p:nvPr/>
        </p:nvSpPr>
        <p:spPr>
          <a:xfrm>
            <a:off x="640080" y="2286000"/>
            <a:ext cx="1280160" cy="256032"/>
          </a:xfrm>
          <a:prstGeom prst="rect">
            <a:avLst/>
          </a:prstGeom>
          <a:noFill/>
          <a:ln/>
        </p:spPr>
        <p:txBody>
          <a:bodyPr wrap="square" lIns="0" tIns="0" rIns="0" bIns="0" rtlCol="0" anchor="ctr"/>
          <a:lstStyle/>
          <a:p>
            <a:pPr indent="0" marL="0">
              <a:buNone/>
            </a:pPr>
            <a:r>
              <a:rPr lang="en-US" sz="1000" b="1" dirty="0">
                <a:solidFill>
                  <a:srgbClr val="C9A86A"/>
                </a:solidFill>
                <a:latin typeface="Calibri" pitchFamily="34" charset="0"/>
                <a:ea typeface="Calibri" pitchFamily="34" charset="-122"/>
                <a:cs typeface="Calibri" pitchFamily="34" charset="-120"/>
              </a:rPr>
              <a:t># project-sakura</a:t>
            </a:r>
            <a:endParaRPr lang="en-US" sz="1000" dirty="0"/>
          </a:p>
        </p:txBody>
      </p:sp>
      <p:sp>
        <p:nvSpPr>
          <p:cNvPr id="13" name="Text 11"/>
          <p:cNvSpPr/>
          <p:nvPr/>
        </p:nvSpPr>
        <p:spPr>
          <a:xfrm>
            <a:off x="640080" y="2578608"/>
            <a:ext cx="1280160" cy="256032"/>
          </a:xfrm>
          <a:prstGeom prst="rect">
            <a:avLst/>
          </a:prstGeom>
          <a:noFill/>
          <a:ln/>
        </p:spPr>
        <p:txBody>
          <a:bodyPr wrap="square" lIns="0" tIns="0" rIns="0" bIns="0" rtlCol="0" anchor="ctr"/>
          <a:lstStyle/>
          <a:p>
            <a:pPr indent="0" marL="0">
              <a:buNone/>
            </a:pPr>
            <a:r>
              <a:rPr lang="en-US" sz="1000" dirty="0">
                <a:solidFill>
                  <a:srgbClr val="F5EAD9"/>
                </a:solidFill>
                <a:latin typeface="Calibri" pitchFamily="34" charset="0"/>
                <a:ea typeface="Calibri" pitchFamily="34" charset="-122"/>
                <a:cs typeface="Calibri" pitchFamily="34" charset="-120"/>
              </a:rPr>
              <a:t># vn-team</a:t>
            </a:r>
            <a:endParaRPr lang="en-US" sz="1000" dirty="0"/>
          </a:p>
        </p:txBody>
      </p:sp>
      <p:sp>
        <p:nvSpPr>
          <p:cNvPr id="14" name="Text 12"/>
          <p:cNvSpPr/>
          <p:nvPr/>
        </p:nvSpPr>
        <p:spPr>
          <a:xfrm>
            <a:off x="640080" y="2871216"/>
            <a:ext cx="1280160" cy="256032"/>
          </a:xfrm>
          <a:prstGeom prst="rect">
            <a:avLst/>
          </a:prstGeom>
          <a:noFill/>
          <a:ln/>
        </p:spPr>
        <p:txBody>
          <a:bodyPr wrap="square" lIns="0" tIns="0" rIns="0" bIns="0" rtlCol="0" anchor="ctr"/>
          <a:lstStyle/>
          <a:p>
            <a:pPr indent="0" marL="0">
              <a:buNone/>
            </a:pPr>
            <a:r>
              <a:rPr lang="en-US" sz="1000" dirty="0">
                <a:solidFill>
                  <a:srgbClr val="F5EAD9"/>
                </a:solidFill>
                <a:latin typeface="Calibri" pitchFamily="34" charset="0"/>
                <a:ea typeface="Calibri" pitchFamily="34" charset="-122"/>
                <a:cs typeface="Calibri" pitchFamily="34" charset="-120"/>
              </a:rPr>
              <a:t># jp-clients</a:t>
            </a:r>
            <a:endParaRPr lang="en-US" sz="1000" dirty="0"/>
          </a:p>
        </p:txBody>
      </p:sp>
      <p:sp>
        <p:nvSpPr>
          <p:cNvPr id="15" name="Text 13"/>
          <p:cNvSpPr/>
          <p:nvPr/>
        </p:nvSpPr>
        <p:spPr>
          <a:xfrm>
            <a:off x="2103120" y="2286000"/>
            <a:ext cx="5943600" cy="320040"/>
          </a:xfrm>
          <a:prstGeom prst="rect">
            <a:avLst/>
          </a:prstGeom>
          <a:noFill/>
          <a:ln/>
        </p:spPr>
        <p:txBody>
          <a:bodyPr wrap="square" lIns="0" tIns="0" rIns="0" bIns="0" rtlCol="0" anchor="ctr"/>
          <a:lstStyle/>
          <a:p>
            <a:pPr indent="0" marL="0">
              <a:buNone/>
            </a:pPr>
            <a:r>
              <a:rPr lang="en-US" sz="1400" b="1" dirty="0">
                <a:solidFill>
                  <a:srgbClr val="1B2A4E"/>
                </a:solidFill>
                <a:latin typeface="Georgia" pitchFamily="34" charset="0"/>
                <a:ea typeface="Georgia" pitchFamily="34" charset="-122"/>
                <a:cs typeface="Georgia" pitchFamily="34" charset="-120"/>
              </a:rPr>
              <a:t># project-sakura</a:t>
            </a:r>
            <a:endParaRPr lang="en-US" sz="1400" dirty="0"/>
          </a:p>
        </p:txBody>
      </p:sp>
      <p:sp>
        <p:nvSpPr>
          <p:cNvPr id="16" name="Shape 14"/>
          <p:cNvSpPr/>
          <p:nvPr/>
        </p:nvSpPr>
        <p:spPr>
          <a:xfrm>
            <a:off x="2103120" y="2788920"/>
            <a:ext cx="411480" cy="411480"/>
          </a:xfrm>
          <a:prstGeom prst="ellipse">
            <a:avLst/>
          </a:prstGeom>
          <a:solidFill>
            <a:srgbClr val="C9A86A"/>
          </a:solidFill>
          <a:ln w="12700">
            <a:solidFill>
              <a:srgbClr val="C9A86A"/>
            </a:solidFill>
            <a:prstDash val="solid"/>
          </a:ln>
        </p:spPr>
      </p:sp>
      <p:sp>
        <p:nvSpPr>
          <p:cNvPr id="17" name="Text 15"/>
          <p:cNvSpPr/>
          <p:nvPr/>
        </p:nvSpPr>
        <p:spPr>
          <a:xfrm>
            <a:off x="2103120" y="2788920"/>
            <a:ext cx="411480" cy="411480"/>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YT</a:t>
            </a:r>
            <a:endParaRPr lang="en-US" sz="1000" dirty="0"/>
          </a:p>
        </p:txBody>
      </p:sp>
      <p:sp>
        <p:nvSpPr>
          <p:cNvPr id="18" name="Text 16"/>
          <p:cNvSpPr/>
          <p:nvPr/>
        </p:nvSpPr>
        <p:spPr>
          <a:xfrm>
            <a:off x="2651760" y="2788920"/>
            <a:ext cx="5303520" cy="274320"/>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Yamada-san  ·  10:14</a:t>
            </a:r>
            <a:endParaRPr lang="en-US" sz="1100" dirty="0"/>
          </a:p>
        </p:txBody>
      </p:sp>
      <p:sp>
        <p:nvSpPr>
          <p:cNvPr id="19" name="Text 17"/>
          <p:cNvSpPr/>
          <p:nvPr/>
        </p:nvSpPr>
        <p:spPr>
          <a:xfrm>
            <a:off x="2651760" y="3063240"/>
            <a:ext cx="5303520" cy="27432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ご検討いただけますと幸いです。</a:t>
            </a:r>
            <a:endParaRPr lang="en-US" sz="1200" dirty="0"/>
          </a:p>
        </p:txBody>
      </p:sp>
      <p:sp>
        <p:nvSpPr>
          <p:cNvPr id="20" name="Shape 18"/>
          <p:cNvSpPr/>
          <p:nvPr/>
        </p:nvSpPr>
        <p:spPr>
          <a:xfrm>
            <a:off x="2651760" y="3474720"/>
            <a:ext cx="5303520" cy="914400"/>
          </a:xfrm>
          <a:prstGeom prst="roundRect">
            <a:avLst>
              <a:gd name="adj" fmla="val 5000"/>
            </a:avLst>
          </a:prstGeom>
          <a:solidFill>
            <a:srgbClr val="EFE4C8"/>
          </a:solidFill>
          <a:ln w="12700">
            <a:solidFill>
              <a:srgbClr val="C9A86A"/>
            </a:solidFill>
            <a:prstDash val="solid"/>
          </a:ln>
        </p:spPr>
      </p:sp>
      <p:sp>
        <p:nvSpPr>
          <p:cNvPr id="21" name="Text 19"/>
          <p:cNvSpPr/>
          <p:nvPr/>
        </p:nvSpPr>
        <p:spPr>
          <a:xfrm>
            <a:off x="2788920" y="3520440"/>
            <a:ext cx="5120640" cy="27432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  WHAT THE ENGINE NOTICED</a:t>
            </a:r>
            <a:endParaRPr lang="en-US" sz="900" dirty="0"/>
          </a:p>
        </p:txBody>
      </p:sp>
      <p:sp>
        <p:nvSpPr>
          <p:cNvPr id="22" name="Text 20"/>
          <p:cNvSpPr/>
          <p:nvPr/>
        </p:nvSpPr>
        <p:spPr>
          <a:xfrm>
            <a:off x="2788920" y="3749040"/>
            <a:ext cx="5120640" cy="640080"/>
          </a:xfrm>
          <a:prstGeom prst="rect">
            <a:avLst/>
          </a:prstGeom>
          <a:noFill/>
          <a:ln/>
        </p:spPr>
        <p:txBody>
          <a:bodyPr wrap="square" lIns="0" tIns="0" rIns="0" bIns="0" rtlCol="0" anchor="ctr"/>
          <a:lstStyle/>
          <a:p>
            <a:pPr indent="0" marL="0">
              <a:buNone/>
            </a:pPr>
            <a:r>
              <a:rPr lang="en-US" sz="1100" i="1" dirty="0">
                <a:solidFill>
                  <a:srgbClr val="1B2A4E"/>
                </a:solidFill>
                <a:latin typeface="Georgia" pitchFamily="34" charset="0"/>
                <a:ea typeface="Georgia" pitchFamily="34" charset="-122"/>
                <a:cs typeface="Georgia" pitchFamily="34" charset="-120"/>
              </a:rPr>
              <a:t>Polite formal request. Translates to: "Could you please consider this?" The intent is firmer than the soft surface — Yamada-san is asking, not just hoping.</a:t>
            </a:r>
            <a:endParaRPr lang="en-US" sz="1100" dirty="0"/>
          </a:p>
        </p:txBody>
      </p:sp>
      <p:sp>
        <p:nvSpPr>
          <p:cNvPr id="23" name="Shape 21"/>
          <p:cNvSpPr/>
          <p:nvPr/>
        </p:nvSpPr>
        <p:spPr>
          <a:xfrm>
            <a:off x="8321040" y="1783080"/>
            <a:ext cx="3337560" cy="4206240"/>
          </a:xfrm>
          <a:prstGeom prst="roundRect">
            <a:avLst>
              <a:gd name="adj" fmla="val 2192"/>
            </a:avLst>
          </a:prstGeom>
          <a:solidFill>
            <a:srgbClr val="1B2A4E"/>
          </a:solidFill>
          <a:ln w="12700">
            <a:solidFill>
              <a:srgbClr val="C9A86A"/>
            </a:solidFill>
            <a:prstDash val="solid"/>
          </a:ln>
          <a:effectLst>
            <a:outerShdw sx="100000" sy="100000" kx="0" ky="0" algn="bl" rotWithShape="0" blurRad="101600" dist="12700" dir="5400000">
              <a:srgbClr val="000000">
                <a:alpha val="12000"/>
              </a:srgbClr>
            </a:outerShdw>
          </a:effectLst>
        </p:spPr>
      </p:sp>
      <p:sp>
        <p:nvSpPr>
          <p:cNvPr id="24" name="Text 22"/>
          <p:cNvSpPr/>
          <p:nvPr/>
        </p:nvSpPr>
        <p:spPr>
          <a:xfrm>
            <a:off x="8503920" y="2011680"/>
            <a:ext cx="3063240" cy="274320"/>
          </a:xfrm>
          <a:prstGeom prst="rect">
            <a:avLst/>
          </a:prstGeom>
          <a:noFill/>
          <a:ln/>
        </p:spPr>
        <p:txBody>
          <a:bodyPr wrap="square" lIns="0" tIns="0" rIns="0" bIns="0" rtlCol="0" anchor="ctr"/>
          <a:lstStyle/>
          <a:p>
            <a:pPr indent="0" marL="0">
              <a:buNone/>
            </a:pPr>
            <a:r>
              <a:rPr lang="en-US" sz="1100" b="1" spc="300" kern="0" dirty="0">
                <a:solidFill>
                  <a:srgbClr val="C9A86A"/>
                </a:solidFill>
                <a:latin typeface="Calibri" pitchFamily="34" charset="0"/>
                <a:ea typeface="Calibri" pitchFamily="34" charset="-122"/>
                <a:cs typeface="Calibri" pitchFamily="34" charset="-120"/>
              </a:rPr>
              <a:t>WHAT YOU DO</a:t>
            </a:r>
            <a:endParaRPr lang="en-US" sz="1100" dirty="0"/>
          </a:p>
        </p:txBody>
      </p:sp>
      <p:sp>
        <p:nvSpPr>
          <p:cNvPr id="25" name="Text 23"/>
          <p:cNvSpPr/>
          <p:nvPr/>
        </p:nvSpPr>
        <p:spPr>
          <a:xfrm>
            <a:off x="8503920" y="2331720"/>
            <a:ext cx="3063240" cy="457200"/>
          </a:xfrm>
          <a:prstGeom prst="rect">
            <a:avLst/>
          </a:prstGeom>
          <a:noFill/>
          <a:ln/>
        </p:spPr>
        <p:txBody>
          <a:bodyPr wrap="square" lIns="0" tIns="0" rIns="0" bIns="0" rtlCol="0" anchor="ctr"/>
          <a:lstStyle/>
          <a:p>
            <a:pPr indent="0" marL="0">
              <a:buNone/>
            </a:pPr>
            <a:r>
              <a:rPr lang="en-US" sz="1600" b="1" i="1" dirty="0">
                <a:solidFill>
                  <a:srgbClr val="F5EAD9"/>
                </a:solidFill>
                <a:latin typeface="Georgia" pitchFamily="34" charset="0"/>
                <a:ea typeface="Georgia" pitchFamily="34" charset="-122"/>
                <a:cs typeface="Georgia" pitchFamily="34" charset="-120"/>
              </a:rPr>
              <a:t>Nothing. Or notice.</a:t>
            </a:r>
            <a:endParaRPr lang="en-US" sz="1600" dirty="0"/>
          </a:p>
        </p:txBody>
      </p:sp>
      <p:sp>
        <p:nvSpPr>
          <p:cNvPr id="26" name="Text 24"/>
          <p:cNvSpPr/>
          <p:nvPr/>
        </p:nvSpPr>
        <p:spPr>
          <a:xfrm>
            <a:off x="8503920" y="2834640"/>
            <a:ext cx="3017520" cy="4572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  Read the annotation if it helps.</a:t>
            </a:r>
            <a:endParaRPr lang="en-US" sz="1100" dirty="0"/>
          </a:p>
        </p:txBody>
      </p:sp>
      <p:sp>
        <p:nvSpPr>
          <p:cNvPr id="27" name="Text 25"/>
          <p:cNvSpPr/>
          <p:nvPr/>
        </p:nvSpPr>
        <p:spPr>
          <a:xfrm>
            <a:off x="8503920" y="3337560"/>
            <a:ext cx="3017520" cy="4572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  Ignore it if it doesn't.</a:t>
            </a:r>
            <a:endParaRPr lang="en-US" sz="1100" dirty="0"/>
          </a:p>
        </p:txBody>
      </p:sp>
      <p:sp>
        <p:nvSpPr>
          <p:cNvPr id="28" name="Text 26"/>
          <p:cNvSpPr/>
          <p:nvPr/>
        </p:nvSpPr>
        <p:spPr>
          <a:xfrm>
            <a:off x="8503920" y="3840480"/>
            <a:ext cx="3017520" cy="4572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  Reply normally.</a:t>
            </a:r>
            <a:endParaRPr lang="en-US" sz="1100" dirty="0"/>
          </a:p>
        </p:txBody>
      </p:sp>
      <p:sp>
        <p:nvSpPr>
          <p:cNvPr id="29" name="Text 27"/>
          <p:cNvSpPr/>
          <p:nvPr/>
        </p:nvSpPr>
        <p:spPr>
          <a:xfrm>
            <a:off x="8503920" y="4343400"/>
            <a:ext cx="3017520" cy="4572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  When drafting, click the suggestion icon if you want a culturally-fitting alternative.</a:t>
            </a:r>
            <a:endParaRPr lang="en-US" sz="1100" dirty="0"/>
          </a:p>
        </p:txBody>
      </p:sp>
      <p:sp>
        <p:nvSpPr>
          <p:cNvPr id="30" name="Text 28"/>
          <p:cNvSpPr/>
          <p:nvPr/>
        </p:nvSpPr>
        <p:spPr>
          <a:xfrm>
            <a:off x="8503920" y="4846320"/>
            <a:ext cx="3017520" cy="4572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  Accept, edit, or ignore — your choice, every time.</a:t>
            </a:r>
            <a:endParaRPr lang="en-US" sz="1100" dirty="0"/>
          </a:p>
        </p:txBody>
      </p:sp>
      <p:sp>
        <p:nvSpPr>
          <p:cNvPr id="31" name="Text 29"/>
          <p:cNvSpPr/>
          <p:nvPr/>
        </p:nvSpPr>
        <p:spPr>
          <a:xfrm>
            <a:off x="548640" y="6126480"/>
            <a:ext cx="11155680" cy="27432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Over weeks, the annotations get briefer — you'll be reading less, because you'll know more.</a:t>
            </a:r>
            <a:endParaRPr lang="en-US" sz="1100" dirty="0"/>
          </a:p>
        </p:txBody>
      </p:sp>
      <p:sp>
        <p:nvSpPr>
          <p:cNvPr id="32" name="Text 30"/>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12</a:t>
            </a:r>
            <a:endParaRPr lang="en-US" sz="900" dirty="0"/>
          </a:p>
        </p:txBody>
      </p:sp>
      <p:sp>
        <p:nvSpPr>
          <p:cNvPr id="33" name="Text 31"/>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04 · WHAT WE WON'T DO</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Your privacy — and what is never on the table</a:t>
            </a:r>
            <a:endParaRPr lang="en-US" sz="2600" dirty="0"/>
          </a:p>
        </p:txBody>
      </p:sp>
      <p:sp>
        <p:nvSpPr>
          <p:cNvPr id="5" name="Shape 3"/>
          <p:cNvSpPr/>
          <p:nvPr/>
        </p:nvSpPr>
        <p:spPr>
          <a:xfrm>
            <a:off x="548640"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109728" cy="2148840"/>
          </a:xfrm>
          <a:prstGeom prst="rect">
            <a:avLst/>
          </a:prstGeom>
          <a:solidFill>
            <a:srgbClr val="C8382C"/>
          </a:solidFill>
          <a:ln w="12700">
            <a:solidFill>
              <a:srgbClr val="C8382C"/>
            </a:solidFill>
            <a:prstDash val="solid"/>
          </a:ln>
        </p:spPr>
      </p:sp>
      <p:sp>
        <p:nvSpPr>
          <p:cNvPr id="7" name="Text 5"/>
          <p:cNvSpPr/>
          <p:nvPr/>
        </p:nvSpPr>
        <p:spPr>
          <a:xfrm>
            <a:off x="822960" y="1965960"/>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8" name="Text 6"/>
          <p:cNvSpPr/>
          <p:nvPr/>
        </p:nvSpPr>
        <p:spPr>
          <a:xfrm>
            <a:off x="822960" y="2194560"/>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Send your message bodies outside Vnext.</a:t>
            </a:r>
            <a:endParaRPr lang="en-US" sz="1300" dirty="0"/>
          </a:p>
        </p:txBody>
      </p:sp>
      <p:sp>
        <p:nvSpPr>
          <p:cNvPr id="9" name="Text 7"/>
          <p:cNvSpPr/>
          <p:nvPr/>
        </p:nvSpPr>
        <p:spPr>
          <a:xfrm>
            <a:off x="822960" y="2743200"/>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10" name="Text 8"/>
          <p:cNvSpPr/>
          <p:nvPr/>
        </p:nvSpPr>
        <p:spPr>
          <a:xfrm>
            <a:off x="822960" y="2971800"/>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All processing happens within the Vnext workspace. Per-tenant encryption keys.</a:t>
            </a:r>
            <a:endParaRPr lang="en-US" sz="1000" dirty="0"/>
          </a:p>
        </p:txBody>
      </p:sp>
      <p:sp>
        <p:nvSpPr>
          <p:cNvPr id="11" name="Shape 9"/>
          <p:cNvSpPr/>
          <p:nvPr/>
        </p:nvSpPr>
        <p:spPr>
          <a:xfrm>
            <a:off x="4325112"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2" name="Shape 10"/>
          <p:cNvSpPr/>
          <p:nvPr/>
        </p:nvSpPr>
        <p:spPr>
          <a:xfrm>
            <a:off x="4325112" y="1783080"/>
            <a:ext cx="109728" cy="2148840"/>
          </a:xfrm>
          <a:prstGeom prst="rect">
            <a:avLst/>
          </a:prstGeom>
          <a:solidFill>
            <a:srgbClr val="C8382C"/>
          </a:solidFill>
          <a:ln w="12700">
            <a:solidFill>
              <a:srgbClr val="C8382C"/>
            </a:solidFill>
            <a:prstDash val="solid"/>
          </a:ln>
        </p:spPr>
      </p:sp>
      <p:sp>
        <p:nvSpPr>
          <p:cNvPr id="13" name="Text 11"/>
          <p:cNvSpPr/>
          <p:nvPr/>
        </p:nvSpPr>
        <p:spPr>
          <a:xfrm>
            <a:off x="4599432" y="1965960"/>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14" name="Text 12"/>
          <p:cNvSpPr/>
          <p:nvPr/>
        </p:nvSpPr>
        <p:spPr>
          <a:xfrm>
            <a:off x="4599432" y="2194560"/>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Read your private DMs.</a:t>
            </a:r>
            <a:endParaRPr lang="en-US" sz="1300" dirty="0"/>
          </a:p>
        </p:txBody>
      </p:sp>
      <p:sp>
        <p:nvSpPr>
          <p:cNvPr id="15" name="Text 13"/>
          <p:cNvSpPr/>
          <p:nvPr/>
        </p:nvSpPr>
        <p:spPr>
          <a:xfrm>
            <a:off x="4599432" y="2743200"/>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16" name="Text 14"/>
          <p:cNvSpPr/>
          <p:nvPr/>
        </p:nvSpPr>
        <p:spPr>
          <a:xfrm>
            <a:off x="4599432" y="2971800"/>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The plugin only operates on channels you and your team have explicitly opted in to.</a:t>
            </a:r>
            <a:endParaRPr lang="en-US" sz="1000" dirty="0"/>
          </a:p>
        </p:txBody>
      </p:sp>
      <p:sp>
        <p:nvSpPr>
          <p:cNvPr id="17" name="Shape 15"/>
          <p:cNvSpPr/>
          <p:nvPr/>
        </p:nvSpPr>
        <p:spPr>
          <a:xfrm>
            <a:off x="8101584"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8" name="Shape 16"/>
          <p:cNvSpPr/>
          <p:nvPr/>
        </p:nvSpPr>
        <p:spPr>
          <a:xfrm>
            <a:off x="8101584" y="1783080"/>
            <a:ext cx="109728" cy="2148840"/>
          </a:xfrm>
          <a:prstGeom prst="rect">
            <a:avLst/>
          </a:prstGeom>
          <a:solidFill>
            <a:srgbClr val="C8382C"/>
          </a:solidFill>
          <a:ln w="12700">
            <a:solidFill>
              <a:srgbClr val="C8382C"/>
            </a:solidFill>
            <a:prstDash val="solid"/>
          </a:ln>
        </p:spPr>
      </p:sp>
      <p:sp>
        <p:nvSpPr>
          <p:cNvPr id="19" name="Text 17"/>
          <p:cNvSpPr/>
          <p:nvPr/>
        </p:nvSpPr>
        <p:spPr>
          <a:xfrm>
            <a:off x="8375904" y="1965960"/>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20" name="Text 18"/>
          <p:cNvSpPr/>
          <p:nvPr/>
        </p:nvSpPr>
        <p:spPr>
          <a:xfrm>
            <a:off x="8375904" y="2194560"/>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Auto-rewrite anything.</a:t>
            </a:r>
            <a:endParaRPr lang="en-US" sz="1300" dirty="0"/>
          </a:p>
        </p:txBody>
      </p:sp>
      <p:sp>
        <p:nvSpPr>
          <p:cNvPr id="21" name="Text 19"/>
          <p:cNvSpPr/>
          <p:nvPr/>
        </p:nvSpPr>
        <p:spPr>
          <a:xfrm>
            <a:off x="8375904" y="2743200"/>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22" name="Text 20"/>
          <p:cNvSpPr/>
          <p:nvPr/>
        </p:nvSpPr>
        <p:spPr>
          <a:xfrm>
            <a:off x="8375904" y="2971800"/>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Suggestions only. You always have the final action. Your original message is never replaced.</a:t>
            </a:r>
            <a:endParaRPr lang="en-US" sz="1000" dirty="0"/>
          </a:p>
        </p:txBody>
      </p:sp>
      <p:sp>
        <p:nvSpPr>
          <p:cNvPr id="23" name="Shape 21"/>
          <p:cNvSpPr/>
          <p:nvPr/>
        </p:nvSpPr>
        <p:spPr>
          <a:xfrm>
            <a:off x="548640"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4" name="Shape 22"/>
          <p:cNvSpPr/>
          <p:nvPr/>
        </p:nvSpPr>
        <p:spPr>
          <a:xfrm>
            <a:off x="548640" y="4096512"/>
            <a:ext cx="109728" cy="2148840"/>
          </a:xfrm>
          <a:prstGeom prst="rect">
            <a:avLst/>
          </a:prstGeom>
          <a:solidFill>
            <a:srgbClr val="C8382C"/>
          </a:solidFill>
          <a:ln w="12700">
            <a:solidFill>
              <a:srgbClr val="C8382C"/>
            </a:solidFill>
            <a:prstDash val="solid"/>
          </a:ln>
        </p:spPr>
      </p:sp>
      <p:sp>
        <p:nvSpPr>
          <p:cNvPr id="25" name="Text 23"/>
          <p:cNvSpPr/>
          <p:nvPr/>
        </p:nvSpPr>
        <p:spPr>
          <a:xfrm>
            <a:off x="822960" y="4279392"/>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26" name="Text 24"/>
          <p:cNvSpPr/>
          <p:nvPr/>
        </p:nvSpPr>
        <p:spPr>
          <a:xfrm>
            <a:off x="822960" y="4507992"/>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Share your name with researchers.</a:t>
            </a:r>
            <a:endParaRPr lang="en-US" sz="1300" dirty="0"/>
          </a:p>
        </p:txBody>
      </p:sp>
      <p:sp>
        <p:nvSpPr>
          <p:cNvPr id="27" name="Text 25"/>
          <p:cNvSpPr/>
          <p:nvPr/>
        </p:nvSpPr>
        <p:spPr>
          <a:xfrm>
            <a:off x="822960" y="5056632"/>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28" name="Text 26"/>
          <p:cNvSpPr/>
          <p:nvPr/>
        </p:nvSpPr>
        <p:spPr>
          <a:xfrm>
            <a:off x="822960" y="5285232"/>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Interview data and survey responses are anonymised before any analysis or write-up.</a:t>
            </a:r>
            <a:endParaRPr lang="en-US" sz="1000" dirty="0"/>
          </a:p>
        </p:txBody>
      </p:sp>
      <p:sp>
        <p:nvSpPr>
          <p:cNvPr id="29" name="Shape 27"/>
          <p:cNvSpPr/>
          <p:nvPr/>
        </p:nvSpPr>
        <p:spPr>
          <a:xfrm>
            <a:off x="4325112"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0" name="Shape 28"/>
          <p:cNvSpPr/>
          <p:nvPr/>
        </p:nvSpPr>
        <p:spPr>
          <a:xfrm>
            <a:off x="4325112" y="4096512"/>
            <a:ext cx="109728" cy="2148840"/>
          </a:xfrm>
          <a:prstGeom prst="rect">
            <a:avLst/>
          </a:prstGeom>
          <a:solidFill>
            <a:srgbClr val="C8382C"/>
          </a:solidFill>
          <a:ln w="12700">
            <a:solidFill>
              <a:srgbClr val="C8382C"/>
            </a:solidFill>
            <a:prstDash val="solid"/>
          </a:ln>
        </p:spPr>
      </p:sp>
      <p:sp>
        <p:nvSpPr>
          <p:cNvPr id="31" name="Text 29"/>
          <p:cNvSpPr/>
          <p:nvPr/>
        </p:nvSpPr>
        <p:spPr>
          <a:xfrm>
            <a:off x="4599432" y="4279392"/>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32" name="Text 30"/>
          <p:cNvSpPr/>
          <p:nvPr/>
        </p:nvSpPr>
        <p:spPr>
          <a:xfrm>
            <a:off x="4599432" y="4507992"/>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Make participation a requirement.</a:t>
            </a:r>
            <a:endParaRPr lang="en-US" sz="1300" dirty="0"/>
          </a:p>
        </p:txBody>
      </p:sp>
      <p:sp>
        <p:nvSpPr>
          <p:cNvPr id="33" name="Text 31"/>
          <p:cNvSpPr/>
          <p:nvPr/>
        </p:nvSpPr>
        <p:spPr>
          <a:xfrm>
            <a:off x="4599432" y="5056632"/>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34" name="Text 32"/>
          <p:cNvSpPr/>
          <p:nvPr/>
        </p:nvSpPr>
        <p:spPr>
          <a:xfrm>
            <a:off x="4599432" y="5285232"/>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You can opt out at any time, no questions asked. Your delivery lead is the contact.</a:t>
            </a:r>
            <a:endParaRPr lang="en-US" sz="1000" dirty="0"/>
          </a:p>
        </p:txBody>
      </p:sp>
      <p:sp>
        <p:nvSpPr>
          <p:cNvPr id="35" name="Shape 33"/>
          <p:cNvSpPr/>
          <p:nvPr/>
        </p:nvSpPr>
        <p:spPr>
          <a:xfrm>
            <a:off x="8101584"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6" name="Shape 34"/>
          <p:cNvSpPr/>
          <p:nvPr/>
        </p:nvSpPr>
        <p:spPr>
          <a:xfrm>
            <a:off x="8101584" y="4096512"/>
            <a:ext cx="109728" cy="2148840"/>
          </a:xfrm>
          <a:prstGeom prst="rect">
            <a:avLst/>
          </a:prstGeom>
          <a:solidFill>
            <a:srgbClr val="C8382C"/>
          </a:solidFill>
          <a:ln w="12700">
            <a:solidFill>
              <a:srgbClr val="C8382C"/>
            </a:solidFill>
            <a:prstDash val="solid"/>
          </a:ln>
        </p:spPr>
      </p:sp>
      <p:sp>
        <p:nvSpPr>
          <p:cNvPr id="37" name="Text 35"/>
          <p:cNvSpPr/>
          <p:nvPr/>
        </p:nvSpPr>
        <p:spPr>
          <a:xfrm>
            <a:off x="8375904" y="4279392"/>
            <a:ext cx="3200400" cy="228600"/>
          </a:xfrm>
          <a:prstGeom prst="rect">
            <a:avLst/>
          </a:prstGeom>
          <a:noFill/>
          <a:ln/>
        </p:spPr>
        <p:txBody>
          <a:bodyPr wrap="square" lIns="0" tIns="0" rIns="0" bIns="0" rtlCol="0" anchor="ctr"/>
          <a:lstStyle/>
          <a:p>
            <a:pPr indent="0" marL="0">
              <a:buNone/>
            </a:pPr>
            <a:r>
              <a:rPr lang="en-US" sz="900" b="1" spc="300" kern="0" dirty="0">
                <a:solidFill>
                  <a:srgbClr val="C8382C"/>
                </a:solidFill>
                <a:latin typeface="Calibri" pitchFamily="34" charset="0"/>
                <a:ea typeface="Calibri" pitchFamily="34" charset="-122"/>
                <a:cs typeface="Calibri" pitchFamily="34" charset="-120"/>
              </a:rPr>
              <a:t>WE WILL NOT</a:t>
            </a:r>
            <a:endParaRPr lang="en-US" sz="900" dirty="0"/>
          </a:p>
        </p:txBody>
      </p:sp>
      <p:sp>
        <p:nvSpPr>
          <p:cNvPr id="38" name="Text 36"/>
          <p:cNvSpPr/>
          <p:nvPr/>
        </p:nvSpPr>
        <p:spPr>
          <a:xfrm>
            <a:off x="8375904" y="4507992"/>
            <a:ext cx="3200400" cy="457200"/>
          </a:xfrm>
          <a:prstGeom prst="rect">
            <a:avLst/>
          </a:prstGeom>
          <a:noFill/>
          <a:ln/>
        </p:spPr>
        <p:txBody>
          <a:bodyPr wrap="square" lIns="0" tIns="0" rIns="0" bIns="0" rtlCol="0" anchor="ctr"/>
          <a:lstStyle/>
          <a:p>
            <a:pPr indent="0" marL="0">
              <a:buNone/>
            </a:pPr>
            <a:r>
              <a:rPr lang="en-US" sz="1300" b="1" dirty="0">
                <a:solidFill>
                  <a:srgbClr val="1B2A4E"/>
                </a:solidFill>
                <a:latin typeface="Georgia" pitchFamily="34" charset="0"/>
                <a:ea typeface="Georgia" pitchFamily="34" charset="-122"/>
                <a:cs typeface="Georgia" pitchFamily="34" charset="-120"/>
              </a:rPr>
              <a:t>Use your data to train external models.</a:t>
            </a:r>
            <a:endParaRPr lang="en-US" sz="1300" dirty="0"/>
          </a:p>
        </p:txBody>
      </p:sp>
      <p:sp>
        <p:nvSpPr>
          <p:cNvPr id="39" name="Text 37"/>
          <p:cNvSpPr/>
          <p:nvPr/>
        </p:nvSpPr>
        <p:spPr>
          <a:xfrm>
            <a:off x="8375904" y="5056632"/>
            <a:ext cx="3200400" cy="228600"/>
          </a:xfrm>
          <a:prstGeom prst="rect">
            <a:avLst/>
          </a:prstGeom>
          <a:noFill/>
          <a:ln/>
        </p:spPr>
        <p:txBody>
          <a:bodyPr wrap="square" lIns="0" tIns="0" rIns="0" bIns="0" rtlCol="0" anchor="ctr"/>
          <a:lstStyle/>
          <a:p>
            <a:pPr indent="0" marL="0">
              <a:buNone/>
            </a:pPr>
            <a:r>
              <a:rPr lang="en-US" sz="900" b="1" spc="300" kern="0" dirty="0">
                <a:solidFill>
                  <a:srgbClr val="8A9A7B"/>
                </a:solidFill>
                <a:latin typeface="Calibri" pitchFamily="34" charset="0"/>
                <a:ea typeface="Calibri" pitchFamily="34" charset="-122"/>
                <a:cs typeface="Calibri" pitchFamily="34" charset="-120"/>
              </a:rPr>
              <a:t>INSTEAD</a:t>
            </a:r>
            <a:endParaRPr lang="en-US" sz="900" dirty="0"/>
          </a:p>
        </p:txBody>
      </p:sp>
      <p:sp>
        <p:nvSpPr>
          <p:cNvPr id="40" name="Text 38"/>
          <p:cNvSpPr/>
          <p:nvPr/>
        </p:nvSpPr>
        <p:spPr>
          <a:xfrm>
            <a:off x="8375904" y="5285232"/>
            <a:ext cx="3200400" cy="86868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The model is fine-tuned only on annotation review by paid cultural advisors who consent explicitly.</a:t>
            </a:r>
            <a:endParaRPr lang="en-US" sz="1000" dirty="0"/>
          </a:p>
        </p:txBody>
      </p:sp>
      <p:sp>
        <p:nvSpPr>
          <p:cNvPr id="41" name="Text 39"/>
          <p:cNvSpPr/>
          <p:nvPr/>
        </p:nvSpPr>
        <p:spPr>
          <a:xfrm>
            <a:off x="548640" y="6355080"/>
            <a:ext cx="11155680" cy="27432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The Vnext data-handling team has reviewed and signed this. The Charter §9.1 and §8.4 are public to you.</a:t>
            </a:r>
            <a:endParaRPr lang="en-US" sz="1000" dirty="0"/>
          </a:p>
        </p:txBody>
      </p:sp>
      <p:sp>
        <p:nvSpPr>
          <p:cNvPr id="42" name="Text 40"/>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12</a:t>
            </a:r>
            <a:endParaRPr lang="en-US" sz="900" dirty="0"/>
          </a:p>
        </p:txBody>
      </p:sp>
      <p:sp>
        <p:nvSpPr>
          <p:cNvPr id="43" name="Text 41"/>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05 · THE RHYTHM</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Your view of what happens, when</a:t>
            </a:r>
            <a:endParaRPr lang="en-US" sz="2600" dirty="0"/>
          </a:p>
        </p:txBody>
      </p:sp>
      <p:sp>
        <p:nvSpPr>
          <p:cNvPr id="5" name="Shape 3"/>
          <p:cNvSpPr/>
          <p:nvPr/>
        </p:nvSpPr>
        <p:spPr>
          <a:xfrm>
            <a:off x="548640" y="2651760"/>
            <a:ext cx="11091672" cy="73152"/>
          </a:xfrm>
          <a:prstGeom prst="rect">
            <a:avLst/>
          </a:prstGeom>
          <a:solidFill>
            <a:srgbClr val="6B6B6B"/>
          </a:solidFill>
          <a:ln w="12700">
            <a:solidFill>
              <a:srgbClr val="6B6B6B"/>
            </a:solidFill>
            <a:prstDash val="solid"/>
          </a:ln>
        </p:spPr>
      </p:sp>
      <p:sp>
        <p:nvSpPr>
          <p:cNvPr id="6" name="Shape 4"/>
          <p:cNvSpPr/>
          <p:nvPr/>
        </p:nvSpPr>
        <p:spPr>
          <a:xfrm>
            <a:off x="1104710" y="2615184"/>
            <a:ext cx="274320" cy="274320"/>
          </a:xfrm>
          <a:prstGeom prst="ellipse">
            <a:avLst/>
          </a:prstGeom>
          <a:solidFill>
            <a:srgbClr val="C8382C"/>
          </a:solidFill>
          <a:ln w="12700">
            <a:solidFill>
              <a:srgbClr val="C8382C"/>
            </a:solidFill>
            <a:prstDash val="solid"/>
          </a:ln>
        </p:spPr>
      </p:sp>
      <p:sp>
        <p:nvSpPr>
          <p:cNvPr id="7" name="Text 5"/>
          <p:cNvSpPr/>
          <p:nvPr/>
        </p:nvSpPr>
        <p:spPr>
          <a:xfrm>
            <a:off x="548640" y="2331720"/>
            <a:ext cx="1386459" cy="274320"/>
          </a:xfrm>
          <a:prstGeom prst="rect">
            <a:avLst/>
          </a:prstGeom>
          <a:noFill/>
          <a:ln/>
        </p:spPr>
        <p:txBody>
          <a:bodyPr wrap="square" lIns="0" tIns="0" rIns="0" bIns="0" rtlCol="0" anchor="ctr"/>
          <a:lstStyle/>
          <a:p>
            <a:pPr algn="ctr" indent="0" marL="0">
              <a:buNone/>
            </a:pPr>
            <a:r>
              <a:rPr lang="en-US" sz="1100" b="1" dirty="0">
                <a:solidFill>
                  <a:srgbClr val="C8382C"/>
                </a:solidFill>
                <a:latin typeface="Calibri" pitchFamily="34" charset="0"/>
                <a:ea typeface="Calibri" pitchFamily="34" charset="-122"/>
                <a:cs typeface="Calibri" pitchFamily="34" charset="-120"/>
              </a:rPr>
              <a:t>M1</a:t>
            </a:r>
            <a:endParaRPr lang="en-US" sz="1100" dirty="0"/>
          </a:p>
        </p:txBody>
      </p:sp>
      <p:sp>
        <p:nvSpPr>
          <p:cNvPr id="8" name="Shape 6"/>
          <p:cNvSpPr/>
          <p:nvPr/>
        </p:nvSpPr>
        <p:spPr>
          <a:xfrm>
            <a:off x="594360"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9" name="Shape 7"/>
          <p:cNvSpPr/>
          <p:nvPr/>
        </p:nvSpPr>
        <p:spPr>
          <a:xfrm>
            <a:off x="594360" y="3063240"/>
            <a:ext cx="1295019" cy="73152"/>
          </a:xfrm>
          <a:prstGeom prst="rect">
            <a:avLst/>
          </a:prstGeom>
          <a:solidFill>
            <a:srgbClr val="C8382C"/>
          </a:solidFill>
          <a:ln w="12700">
            <a:solidFill>
              <a:srgbClr val="C8382C"/>
            </a:solidFill>
            <a:prstDash val="solid"/>
          </a:ln>
        </p:spPr>
      </p:sp>
      <p:sp>
        <p:nvSpPr>
          <p:cNvPr id="10" name="Text 8"/>
          <p:cNvSpPr/>
          <p:nvPr/>
        </p:nvSpPr>
        <p:spPr>
          <a:xfrm>
            <a:off x="640080"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We talk</a:t>
            </a:r>
            <a:endParaRPr lang="en-US" sz="1300" dirty="0"/>
          </a:p>
        </p:txBody>
      </p:sp>
      <p:sp>
        <p:nvSpPr>
          <p:cNvPr id="11" name="Text 9"/>
          <p:cNvSpPr/>
          <p:nvPr/>
        </p:nvSpPr>
        <p:spPr>
          <a:xfrm>
            <a:off x="640080"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Your delivery lead introduces the programme. You meet the research lead.</a:t>
            </a:r>
            <a:endParaRPr lang="en-US" sz="1000" dirty="0"/>
          </a:p>
        </p:txBody>
      </p:sp>
      <p:sp>
        <p:nvSpPr>
          <p:cNvPr id="12" name="Shape 10"/>
          <p:cNvSpPr/>
          <p:nvPr/>
        </p:nvSpPr>
        <p:spPr>
          <a:xfrm>
            <a:off x="2491169" y="2615184"/>
            <a:ext cx="274320" cy="274320"/>
          </a:xfrm>
          <a:prstGeom prst="ellipse">
            <a:avLst/>
          </a:prstGeom>
          <a:solidFill>
            <a:srgbClr val="C8382C"/>
          </a:solidFill>
          <a:ln w="12700">
            <a:solidFill>
              <a:srgbClr val="C8382C"/>
            </a:solidFill>
            <a:prstDash val="solid"/>
          </a:ln>
        </p:spPr>
      </p:sp>
      <p:sp>
        <p:nvSpPr>
          <p:cNvPr id="13" name="Text 11"/>
          <p:cNvSpPr/>
          <p:nvPr/>
        </p:nvSpPr>
        <p:spPr>
          <a:xfrm>
            <a:off x="1935099" y="2331720"/>
            <a:ext cx="1386459" cy="274320"/>
          </a:xfrm>
          <a:prstGeom prst="rect">
            <a:avLst/>
          </a:prstGeom>
          <a:noFill/>
          <a:ln/>
        </p:spPr>
        <p:txBody>
          <a:bodyPr wrap="square" lIns="0" tIns="0" rIns="0" bIns="0" rtlCol="0" anchor="ctr"/>
          <a:lstStyle/>
          <a:p>
            <a:pPr algn="ctr" indent="0" marL="0">
              <a:buNone/>
            </a:pPr>
            <a:r>
              <a:rPr lang="en-US" sz="1100" b="1" dirty="0">
                <a:solidFill>
                  <a:srgbClr val="C8382C"/>
                </a:solidFill>
                <a:latin typeface="Calibri" pitchFamily="34" charset="0"/>
                <a:ea typeface="Calibri" pitchFamily="34" charset="-122"/>
                <a:cs typeface="Calibri" pitchFamily="34" charset="-120"/>
              </a:rPr>
              <a:t>M2</a:t>
            </a:r>
            <a:endParaRPr lang="en-US" sz="1100" dirty="0"/>
          </a:p>
        </p:txBody>
      </p:sp>
      <p:sp>
        <p:nvSpPr>
          <p:cNvPr id="14" name="Shape 12"/>
          <p:cNvSpPr/>
          <p:nvPr/>
        </p:nvSpPr>
        <p:spPr>
          <a:xfrm>
            <a:off x="1980819"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5" name="Shape 13"/>
          <p:cNvSpPr/>
          <p:nvPr/>
        </p:nvSpPr>
        <p:spPr>
          <a:xfrm>
            <a:off x="1980819" y="3063240"/>
            <a:ext cx="1295019" cy="73152"/>
          </a:xfrm>
          <a:prstGeom prst="rect">
            <a:avLst/>
          </a:prstGeom>
          <a:solidFill>
            <a:srgbClr val="C8382C"/>
          </a:solidFill>
          <a:ln w="12700">
            <a:solidFill>
              <a:srgbClr val="C8382C"/>
            </a:solidFill>
            <a:prstDash val="solid"/>
          </a:ln>
        </p:spPr>
      </p:sp>
      <p:sp>
        <p:nvSpPr>
          <p:cNvPr id="16" name="Text 14"/>
          <p:cNvSpPr/>
          <p:nvPr/>
        </p:nvSpPr>
        <p:spPr>
          <a:xfrm>
            <a:off x="2026539"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Baseline</a:t>
            </a:r>
            <a:endParaRPr lang="en-US" sz="1300" dirty="0"/>
          </a:p>
        </p:txBody>
      </p:sp>
      <p:sp>
        <p:nvSpPr>
          <p:cNvPr id="17" name="Text 15"/>
          <p:cNvSpPr/>
          <p:nvPr/>
        </p:nvSpPr>
        <p:spPr>
          <a:xfrm>
            <a:off x="2026539"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30-min interview. A few short surveys. Nothing is on the line.</a:t>
            </a:r>
            <a:endParaRPr lang="en-US" sz="1000" dirty="0"/>
          </a:p>
        </p:txBody>
      </p:sp>
      <p:sp>
        <p:nvSpPr>
          <p:cNvPr id="18" name="Shape 16"/>
          <p:cNvSpPr/>
          <p:nvPr/>
        </p:nvSpPr>
        <p:spPr>
          <a:xfrm>
            <a:off x="3877627" y="2615184"/>
            <a:ext cx="274320" cy="274320"/>
          </a:xfrm>
          <a:prstGeom prst="ellipse">
            <a:avLst/>
          </a:prstGeom>
          <a:solidFill>
            <a:srgbClr val="C9A86A"/>
          </a:solidFill>
          <a:ln w="12700">
            <a:solidFill>
              <a:srgbClr val="C9A86A"/>
            </a:solidFill>
            <a:prstDash val="solid"/>
          </a:ln>
        </p:spPr>
      </p:sp>
      <p:sp>
        <p:nvSpPr>
          <p:cNvPr id="19" name="Text 17"/>
          <p:cNvSpPr/>
          <p:nvPr/>
        </p:nvSpPr>
        <p:spPr>
          <a:xfrm>
            <a:off x="3321558" y="2331720"/>
            <a:ext cx="1386459" cy="274320"/>
          </a:xfrm>
          <a:prstGeom prst="rect">
            <a:avLst/>
          </a:prstGeom>
          <a:noFill/>
          <a:ln/>
        </p:spPr>
        <p:txBody>
          <a:bodyPr wrap="square" lIns="0" tIns="0" rIns="0" bIns="0" rtlCol="0" anchor="ctr"/>
          <a:lstStyle/>
          <a:p>
            <a:pPr algn="ctr" indent="0" marL="0">
              <a:buNone/>
            </a:pPr>
            <a:r>
              <a:rPr lang="en-US" sz="1100" b="1" dirty="0">
                <a:solidFill>
                  <a:srgbClr val="C9A86A"/>
                </a:solidFill>
                <a:latin typeface="Calibri" pitchFamily="34" charset="0"/>
                <a:ea typeface="Calibri" pitchFamily="34" charset="-122"/>
                <a:cs typeface="Calibri" pitchFamily="34" charset="-120"/>
              </a:rPr>
              <a:t>M3</a:t>
            </a:r>
            <a:endParaRPr lang="en-US" sz="1100" dirty="0"/>
          </a:p>
        </p:txBody>
      </p:sp>
      <p:sp>
        <p:nvSpPr>
          <p:cNvPr id="20" name="Shape 18"/>
          <p:cNvSpPr/>
          <p:nvPr/>
        </p:nvSpPr>
        <p:spPr>
          <a:xfrm>
            <a:off x="3367278"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1" name="Shape 19"/>
          <p:cNvSpPr/>
          <p:nvPr/>
        </p:nvSpPr>
        <p:spPr>
          <a:xfrm>
            <a:off x="3367278" y="3063240"/>
            <a:ext cx="1295019" cy="73152"/>
          </a:xfrm>
          <a:prstGeom prst="rect">
            <a:avLst/>
          </a:prstGeom>
          <a:solidFill>
            <a:srgbClr val="C9A86A"/>
          </a:solidFill>
          <a:ln w="12700">
            <a:solidFill>
              <a:srgbClr val="C9A86A"/>
            </a:solidFill>
            <a:prstDash val="solid"/>
          </a:ln>
        </p:spPr>
      </p:sp>
      <p:sp>
        <p:nvSpPr>
          <p:cNvPr id="22" name="Text 20"/>
          <p:cNvSpPr/>
          <p:nvPr/>
        </p:nvSpPr>
        <p:spPr>
          <a:xfrm>
            <a:off x="3412998"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Kickoff</a:t>
            </a:r>
            <a:endParaRPr lang="en-US" sz="1300" dirty="0"/>
          </a:p>
        </p:txBody>
      </p:sp>
      <p:sp>
        <p:nvSpPr>
          <p:cNvPr id="23" name="Text 21"/>
          <p:cNvSpPr/>
          <p:nvPr/>
        </p:nvSpPr>
        <p:spPr>
          <a:xfrm>
            <a:off x="3412998"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Plugin installed. First team workshop. First weekly check-in.</a:t>
            </a:r>
            <a:endParaRPr lang="en-US" sz="1000" dirty="0"/>
          </a:p>
        </p:txBody>
      </p:sp>
      <p:sp>
        <p:nvSpPr>
          <p:cNvPr id="24" name="Shape 22"/>
          <p:cNvSpPr/>
          <p:nvPr/>
        </p:nvSpPr>
        <p:spPr>
          <a:xfrm>
            <a:off x="5264086" y="2615184"/>
            <a:ext cx="274320" cy="274320"/>
          </a:xfrm>
          <a:prstGeom prst="ellipse">
            <a:avLst/>
          </a:prstGeom>
          <a:solidFill>
            <a:srgbClr val="C9A86A"/>
          </a:solidFill>
          <a:ln w="12700">
            <a:solidFill>
              <a:srgbClr val="C9A86A"/>
            </a:solidFill>
            <a:prstDash val="solid"/>
          </a:ln>
        </p:spPr>
      </p:sp>
      <p:sp>
        <p:nvSpPr>
          <p:cNvPr id="25" name="Text 23"/>
          <p:cNvSpPr/>
          <p:nvPr/>
        </p:nvSpPr>
        <p:spPr>
          <a:xfrm>
            <a:off x="4708017" y="2331720"/>
            <a:ext cx="1386459" cy="274320"/>
          </a:xfrm>
          <a:prstGeom prst="rect">
            <a:avLst/>
          </a:prstGeom>
          <a:noFill/>
          <a:ln/>
        </p:spPr>
        <p:txBody>
          <a:bodyPr wrap="square" lIns="0" tIns="0" rIns="0" bIns="0" rtlCol="0" anchor="ctr"/>
          <a:lstStyle/>
          <a:p>
            <a:pPr algn="ctr" indent="0" marL="0">
              <a:buNone/>
            </a:pPr>
            <a:r>
              <a:rPr lang="en-US" sz="1100" b="1" dirty="0">
                <a:solidFill>
                  <a:srgbClr val="C9A86A"/>
                </a:solidFill>
                <a:latin typeface="Calibri" pitchFamily="34" charset="0"/>
                <a:ea typeface="Calibri" pitchFamily="34" charset="-122"/>
                <a:cs typeface="Calibri" pitchFamily="34" charset="-120"/>
              </a:rPr>
              <a:t>M4</a:t>
            </a:r>
            <a:endParaRPr lang="en-US" sz="1100" dirty="0"/>
          </a:p>
        </p:txBody>
      </p:sp>
      <p:sp>
        <p:nvSpPr>
          <p:cNvPr id="26" name="Shape 24"/>
          <p:cNvSpPr/>
          <p:nvPr/>
        </p:nvSpPr>
        <p:spPr>
          <a:xfrm>
            <a:off x="4753737"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7" name="Shape 25"/>
          <p:cNvSpPr/>
          <p:nvPr/>
        </p:nvSpPr>
        <p:spPr>
          <a:xfrm>
            <a:off x="4753737" y="3063240"/>
            <a:ext cx="1295019" cy="73152"/>
          </a:xfrm>
          <a:prstGeom prst="rect">
            <a:avLst/>
          </a:prstGeom>
          <a:solidFill>
            <a:srgbClr val="C9A86A"/>
          </a:solidFill>
          <a:ln w="12700">
            <a:solidFill>
              <a:srgbClr val="C9A86A"/>
            </a:solidFill>
            <a:prstDash val="solid"/>
          </a:ln>
        </p:spPr>
      </p:sp>
      <p:sp>
        <p:nvSpPr>
          <p:cNvPr id="28" name="Text 26"/>
          <p:cNvSpPr/>
          <p:nvPr/>
        </p:nvSpPr>
        <p:spPr>
          <a:xfrm>
            <a:off x="4799457"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Settling in</a:t>
            </a:r>
            <a:endParaRPr lang="en-US" sz="1300" dirty="0"/>
          </a:p>
        </p:txBody>
      </p:sp>
      <p:sp>
        <p:nvSpPr>
          <p:cNvPr id="29" name="Text 27"/>
          <p:cNvSpPr/>
          <p:nvPr/>
        </p:nvSpPr>
        <p:spPr>
          <a:xfrm>
            <a:off x="4799457"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Plugin becoming part of the day. First rituals in team meetings.</a:t>
            </a:r>
            <a:endParaRPr lang="en-US" sz="1000" dirty="0"/>
          </a:p>
        </p:txBody>
      </p:sp>
      <p:sp>
        <p:nvSpPr>
          <p:cNvPr id="30" name="Shape 28"/>
          <p:cNvSpPr/>
          <p:nvPr/>
        </p:nvSpPr>
        <p:spPr>
          <a:xfrm>
            <a:off x="6650545" y="2615184"/>
            <a:ext cx="274320" cy="274320"/>
          </a:xfrm>
          <a:prstGeom prst="ellipse">
            <a:avLst/>
          </a:prstGeom>
          <a:solidFill>
            <a:srgbClr val="8A9A7B"/>
          </a:solidFill>
          <a:ln w="12700">
            <a:solidFill>
              <a:srgbClr val="8A9A7B"/>
            </a:solidFill>
            <a:prstDash val="solid"/>
          </a:ln>
        </p:spPr>
      </p:sp>
      <p:sp>
        <p:nvSpPr>
          <p:cNvPr id="31" name="Text 29"/>
          <p:cNvSpPr/>
          <p:nvPr/>
        </p:nvSpPr>
        <p:spPr>
          <a:xfrm>
            <a:off x="6094476" y="2331720"/>
            <a:ext cx="1386459" cy="274320"/>
          </a:xfrm>
          <a:prstGeom prst="rect">
            <a:avLst/>
          </a:prstGeom>
          <a:noFill/>
          <a:ln/>
        </p:spPr>
        <p:txBody>
          <a:bodyPr wrap="square" lIns="0" tIns="0" rIns="0" bIns="0" rtlCol="0" anchor="ctr"/>
          <a:lstStyle/>
          <a:p>
            <a:pPr algn="ctr" indent="0" marL="0">
              <a:buNone/>
            </a:pPr>
            <a:r>
              <a:rPr lang="en-US" sz="1100" b="1" dirty="0">
                <a:solidFill>
                  <a:srgbClr val="8A9A7B"/>
                </a:solidFill>
                <a:latin typeface="Calibri" pitchFamily="34" charset="0"/>
                <a:ea typeface="Calibri" pitchFamily="34" charset="-122"/>
                <a:cs typeface="Calibri" pitchFamily="34" charset="-120"/>
              </a:rPr>
              <a:t>M5</a:t>
            </a:r>
            <a:endParaRPr lang="en-US" sz="1100" dirty="0"/>
          </a:p>
        </p:txBody>
      </p:sp>
      <p:sp>
        <p:nvSpPr>
          <p:cNvPr id="32" name="Shape 30"/>
          <p:cNvSpPr/>
          <p:nvPr/>
        </p:nvSpPr>
        <p:spPr>
          <a:xfrm>
            <a:off x="6140196"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3" name="Shape 31"/>
          <p:cNvSpPr/>
          <p:nvPr/>
        </p:nvSpPr>
        <p:spPr>
          <a:xfrm>
            <a:off x="6140196" y="3063240"/>
            <a:ext cx="1295019" cy="73152"/>
          </a:xfrm>
          <a:prstGeom prst="rect">
            <a:avLst/>
          </a:prstGeom>
          <a:solidFill>
            <a:srgbClr val="8A9A7B"/>
          </a:solidFill>
          <a:ln w="12700">
            <a:solidFill>
              <a:srgbClr val="8A9A7B"/>
            </a:solidFill>
            <a:prstDash val="solid"/>
          </a:ln>
        </p:spPr>
      </p:sp>
      <p:sp>
        <p:nvSpPr>
          <p:cNvPr id="34" name="Text 32"/>
          <p:cNvSpPr/>
          <p:nvPr/>
        </p:nvSpPr>
        <p:spPr>
          <a:xfrm>
            <a:off x="6185916"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Live</a:t>
            </a:r>
            <a:endParaRPr lang="en-US" sz="1300" dirty="0"/>
          </a:p>
        </p:txBody>
      </p:sp>
      <p:sp>
        <p:nvSpPr>
          <p:cNvPr id="35" name="Text 33"/>
          <p:cNvSpPr/>
          <p:nvPr/>
        </p:nvSpPr>
        <p:spPr>
          <a:xfrm>
            <a:off x="6185916"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Mid-point check-in. Short conversation about what's working.</a:t>
            </a:r>
            <a:endParaRPr lang="en-US" sz="1000" dirty="0"/>
          </a:p>
        </p:txBody>
      </p:sp>
      <p:sp>
        <p:nvSpPr>
          <p:cNvPr id="36" name="Shape 34"/>
          <p:cNvSpPr/>
          <p:nvPr/>
        </p:nvSpPr>
        <p:spPr>
          <a:xfrm>
            <a:off x="8037005" y="2615184"/>
            <a:ext cx="274320" cy="274320"/>
          </a:xfrm>
          <a:prstGeom prst="ellipse">
            <a:avLst/>
          </a:prstGeom>
          <a:solidFill>
            <a:srgbClr val="8A9A7B"/>
          </a:solidFill>
          <a:ln w="12700">
            <a:solidFill>
              <a:srgbClr val="8A9A7B"/>
            </a:solidFill>
            <a:prstDash val="solid"/>
          </a:ln>
        </p:spPr>
      </p:sp>
      <p:sp>
        <p:nvSpPr>
          <p:cNvPr id="37" name="Text 35"/>
          <p:cNvSpPr/>
          <p:nvPr/>
        </p:nvSpPr>
        <p:spPr>
          <a:xfrm>
            <a:off x="7480935" y="2331720"/>
            <a:ext cx="1386459" cy="274320"/>
          </a:xfrm>
          <a:prstGeom prst="rect">
            <a:avLst/>
          </a:prstGeom>
          <a:noFill/>
          <a:ln/>
        </p:spPr>
        <p:txBody>
          <a:bodyPr wrap="square" lIns="0" tIns="0" rIns="0" bIns="0" rtlCol="0" anchor="ctr"/>
          <a:lstStyle/>
          <a:p>
            <a:pPr algn="ctr" indent="0" marL="0">
              <a:buNone/>
            </a:pPr>
            <a:r>
              <a:rPr lang="en-US" sz="1100" b="1" dirty="0">
                <a:solidFill>
                  <a:srgbClr val="8A9A7B"/>
                </a:solidFill>
                <a:latin typeface="Calibri" pitchFamily="34" charset="0"/>
                <a:ea typeface="Calibri" pitchFamily="34" charset="-122"/>
                <a:cs typeface="Calibri" pitchFamily="34" charset="-120"/>
              </a:rPr>
              <a:t>M6</a:t>
            </a:r>
            <a:endParaRPr lang="en-US" sz="1100" dirty="0"/>
          </a:p>
        </p:txBody>
      </p:sp>
      <p:sp>
        <p:nvSpPr>
          <p:cNvPr id="38" name="Shape 36"/>
          <p:cNvSpPr/>
          <p:nvPr/>
        </p:nvSpPr>
        <p:spPr>
          <a:xfrm>
            <a:off x="7526655"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9" name="Shape 37"/>
          <p:cNvSpPr/>
          <p:nvPr/>
        </p:nvSpPr>
        <p:spPr>
          <a:xfrm>
            <a:off x="7526655" y="3063240"/>
            <a:ext cx="1295019" cy="73152"/>
          </a:xfrm>
          <a:prstGeom prst="rect">
            <a:avLst/>
          </a:prstGeom>
          <a:solidFill>
            <a:srgbClr val="8A9A7B"/>
          </a:solidFill>
          <a:ln w="12700">
            <a:solidFill>
              <a:srgbClr val="8A9A7B"/>
            </a:solidFill>
            <a:prstDash val="solid"/>
          </a:ln>
        </p:spPr>
      </p:sp>
      <p:sp>
        <p:nvSpPr>
          <p:cNvPr id="40" name="Text 38"/>
          <p:cNvSpPr/>
          <p:nvPr/>
        </p:nvSpPr>
        <p:spPr>
          <a:xfrm>
            <a:off x="7572375"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Live</a:t>
            </a:r>
            <a:endParaRPr lang="en-US" sz="1300" dirty="0"/>
          </a:p>
        </p:txBody>
      </p:sp>
      <p:sp>
        <p:nvSpPr>
          <p:cNvPr id="41" name="Text 39"/>
          <p:cNvSpPr/>
          <p:nvPr/>
        </p:nvSpPr>
        <p:spPr>
          <a:xfrm>
            <a:off x="7572375"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Continued use. Reflection circle for those interested.</a:t>
            </a:r>
            <a:endParaRPr lang="en-US" sz="1000" dirty="0"/>
          </a:p>
        </p:txBody>
      </p:sp>
      <p:sp>
        <p:nvSpPr>
          <p:cNvPr id="42" name="Shape 40"/>
          <p:cNvSpPr/>
          <p:nvPr/>
        </p:nvSpPr>
        <p:spPr>
          <a:xfrm>
            <a:off x="9423464" y="2615184"/>
            <a:ext cx="274320" cy="274320"/>
          </a:xfrm>
          <a:prstGeom prst="ellipse">
            <a:avLst/>
          </a:prstGeom>
          <a:solidFill>
            <a:srgbClr val="1B2A4E"/>
          </a:solidFill>
          <a:ln w="12700">
            <a:solidFill>
              <a:srgbClr val="1B2A4E"/>
            </a:solidFill>
            <a:prstDash val="solid"/>
          </a:ln>
        </p:spPr>
      </p:sp>
      <p:sp>
        <p:nvSpPr>
          <p:cNvPr id="43" name="Text 41"/>
          <p:cNvSpPr/>
          <p:nvPr/>
        </p:nvSpPr>
        <p:spPr>
          <a:xfrm>
            <a:off x="8867394" y="2331720"/>
            <a:ext cx="1386459" cy="274320"/>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M7</a:t>
            </a:r>
            <a:endParaRPr lang="en-US" sz="1100" dirty="0"/>
          </a:p>
        </p:txBody>
      </p:sp>
      <p:sp>
        <p:nvSpPr>
          <p:cNvPr id="44" name="Shape 42"/>
          <p:cNvSpPr/>
          <p:nvPr/>
        </p:nvSpPr>
        <p:spPr>
          <a:xfrm>
            <a:off x="8913114"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45" name="Shape 43"/>
          <p:cNvSpPr/>
          <p:nvPr/>
        </p:nvSpPr>
        <p:spPr>
          <a:xfrm>
            <a:off x="8913114" y="3063240"/>
            <a:ext cx="1295019" cy="73152"/>
          </a:xfrm>
          <a:prstGeom prst="rect">
            <a:avLst/>
          </a:prstGeom>
          <a:solidFill>
            <a:srgbClr val="1B2A4E"/>
          </a:solidFill>
          <a:ln w="12700">
            <a:solidFill>
              <a:srgbClr val="1B2A4E"/>
            </a:solidFill>
            <a:prstDash val="solid"/>
          </a:ln>
        </p:spPr>
      </p:sp>
      <p:sp>
        <p:nvSpPr>
          <p:cNvPr id="46" name="Text 44"/>
          <p:cNvSpPr/>
          <p:nvPr/>
        </p:nvSpPr>
        <p:spPr>
          <a:xfrm>
            <a:off x="8958834"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Endline</a:t>
            </a:r>
            <a:endParaRPr lang="en-US" sz="1300" dirty="0"/>
          </a:p>
        </p:txBody>
      </p:sp>
      <p:sp>
        <p:nvSpPr>
          <p:cNvPr id="47" name="Text 45"/>
          <p:cNvSpPr/>
          <p:nvPr/>
        </p:nvSpPr>
        <p:spPr>
          <a:xfrm>
            <a:off x="8958834"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Closing 30-min interview. Same as the baseline — you'll feel the difference.</a:t>
            </a:r>
            <a:endParaRPr lang="en-US" sz="1000" dirty="0"/>
          </a:p>
        </p:txBody>
      </p:sp>
      <p:sp>
        <p:nvSpPr>
          <p:cNvPr id="48" name="Shape 46"/>
          <p:cNvSpPr/>
          <p:nvPr/>
        </p:nvSpPr>
        <p:spPr>
          <a:xfrm>
            <a:off x="10809923" y="2615184"/>
            <a:ext cx="274320" cy="274320"/>
          </a:xfrm>
          <a:prstGeom prst="ellipse">
            <a:avLst/>
          </a:prstGeom>
          <a:solidFill>
            <a:srgbClr val="1B2A4E"/>
          </a:solidFill>
          <a:ln w="12700">
            <a:solidFill>
              <a:srgbClr val="1B2A4E"/>
            </a:solidFill>
            <a:prstDash val="solid"/>
          </a:ln>
        </p:spPr>
      </p:sp>
      <p:sp>
        <p:nvSpPr>
          <p:cNvPr id="49" name="Text 47"/>
          <p:cNvSpPr/>
          <p:nvPr/>
        </p:nvSpPr>
        <p:spPr>
          <a:xfrm>
            <a:off x="10253853" y="2331720"/>
            <a:ext cx="1386459" cy="274320"/>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M8</a:t>
            </a:r>
            <a:endParaRPr lang="en-US" sz="1100" dirty="0"/>
          </a:p>
        </p:txBody>
      </p:sp>
      <p:sp>
        <p:nvSpPr>
          <p:cNvPr id="50" name="Shape 48"/>
          <p:cNvSpPr/>
          <p:nvPr/>
        </p:nvSpPr>
        <p:spPr>
          <a:xfrm>
            <a:off x="10299573" y="3063240"/>
            <a:ext cx="1295019" cy="3200400"/>
          </a:xfrm>
          <a:prstGeom prst="roundRect">
            <a:avLst>
              <a:gd name="adj" fmla="val 423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51" name="Shape 49"/>
          <p:cNvSpPr/>
          <p:nvPr/>
        </p:nvSpPr>
        <p:spPr>
          <a:xfrm>
            <a:off x="10299573" y="3063240"/>
            <a:ext cx="1295019" cy="73152"/>
          </a:xfrm>
          <a:prstGeom prst="rect">
            <a:avLst/>
          </a:prstGeom>
          <a:solidFill>
            <a:srgbClr val="1B2A4E"/>
          </a:solidFill>
          <a:ln w="12700">
            <a:solidFill>
              <a:srgbClr val="1B2A4E"/>
            </a:solidFill>
            <a:prstDash val="solid"/>
          </a:ln>
        </p:spPr>
      </p:sp>
      <p:sp>
        <p:nvSpPr>
          <p:cNvPr id="52" name="Text 50"/>
          <p:cNvSpPr/>
          <p:nvPr/>
        </p:nvSpPr>
        <p:spPr>
          <a:xfrm>
            <a:off x="10345293" y="3200400"/>
            <a:ext cx="1203579" cy="320040"/>
          </a:xfrm>
          <a:prstGeom prst="rect">
            <a:avLst/>
          </a:prstGeom>
          <a:noFill/>
          <a:ln/>
        </p:spPr>
        <p:txBody>
          <a:bodyPr wrap="square" lIns="0" tIns="0" rIns="0" bIns="0" rtlCol="0" anchor="ctr"/>
          <a:lstStyle/>
          <a:p>
            <a:pPr algn="ctr" indent="0" marL="0">
              <a:buNone/>
            </a:pPr>
            <a:r>
              <a:rPr lang="en-US" sz="1300" b="1" i="1" dirty="0">
                <a:solidFill>
                  <a:srgbClr val="1B2A4E"/>
                </a:solidFill>
                <a:latin typeface="Georgia" pitchFamily="34" charset="0"/>
                <a:ea typeface="Georgia" pitchFamily="34" charset="-122"/>
                <a:cs typeface="Georgia" pitchFamily="34" charset="-120"/>
              </a:rPr>
              <a:t>Thank you</a:t>
            </a:r>
            <a:endParaRPr lang="en-US" sz="1300" dirty="0"/>
          </a:p>
        </p:txBody>
      </p:sp>
      <p:sp>
        <p:nvSpPr>
          <p:cNvPr id="53" name="Text 51"/>
          <p:cNvSpPr/>
          <p:nvPr/>
        </p:nvSpPr>
        <p:spPr>
          <a:xfrm>
            <a:off x="10345293" y="3611880"/>
            <a:ext cx="1203579" cy="2468880"/>
          </a:xfrm>
          <a:prstGeom prst="rect">
            <a:avLst/>
          </a:prstGeom>
          <a:noFill/>
          <a:ln/>
        </p:spPr>
        <p:txBody>
          <a:bodyPr wrap="square" lIns="0" tIns="0" rIns="0" bIns="0" rtlCol="0" anchor="ctr"/>
          <a:lstStyle/>
          <a:p>
            <a:pPr algn="l" indent="0" marL="0">
              <a:buNone/>
            </a:pPr>
            <a:r>
              <a:rPr lang="en-US" sz="1000" dirty="0">
                <a:solidFill>
                  <a:srgbClr val="1C1C1C"/>
                </a:solidFill>
                <a:latin typeface="Calibri" pitchFamily="34" charset="0"/>
                <a:ea typeface="Calibri" pitchFamily="34" charset="-122"/>
                <a:cs typeface="Calibri" pitchFamily="34" charset="-120"/>
              </a:rPr>
              <a:t>Closing reflection session. We share what we learned. You see the results.</a:t>
            </a:r>
            <a:endParaRPr lang="en-US" sz="1000" dirty="0"/>
          </a:p>
        </p:txBody>
      </p:sp>
      <p:sp>
        <p:nvSpPr>
          <p:cNvPr id="54" name="Text 52"/>
          <p:cNvSpPr/>
          <p:nvPr/>
        </p:nvSpPr>
        <p:spPr>
          <a:xfrm>
            <a:off x="548640" y="6355080"/>
            <a:ext cx="11155680" cy="27432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Most weeks ask nothing extra of you. The check-in is 60 seconds. The interviews are 30 minutes, twice across 8 months.</a:t>
            </a:r>
            <a:endParaRPr lang="en-US" sz="1100" dirty="0"/>
          </a:p>
        </p:txBody>
      </p:sp>
      <p:sp>
        <p:nvSpPr>
          <p:cNvPr id="55" name="Text 53"/>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12</a:t>
            </a:r>
            <a:endParaRPr lang="en-US" sz="900" dirty="0"/>
          </a:p>
        </p:txBody>
      </p:sp>
      <p:sp>
        <p:nvSpPr>
          <p:cNvPr id="56" name="Text 54"/>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06 · WHO TO ASK</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The people behind the programme — and how to reach them</a:t>
            </a:r>
            <a:endParaRPr lang="en-US" sz="2600" dirty="0"/>
          </a:p>
        </p:txBody>
      </p:sp>
      <p:sp>
        <p:nvSpPr>
          <p:cNvPr id="5" name="Shape 3"/>
          <p:cNvSpPr/>
          <p:nvPr/>
        </p:nvSpPr>
        <p:spPr>
          <a:xfrm>
            <a:off x="548640"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3657600" cy="73152"/>
          </a:xfrm>
          <a:prstGeom prst="rect">
            <a:avLst/>
          </a:prstGeom>
          <a:solidFill>
            <a:srgbClr val="C8382C"/>
          </a:solidFill>
          <a:ln w="12700">
            <a:solidFill>
              <a:srgbClr val="C8382C"/>
            </a:solidFill>
            <a:prstDash val="solid"/>
          </a:ln>
        </p:spPr>
      </p:sp>
      <p:sp>
        <p:nvSpPr>
          <p:cNvPr id="7" name="Text 5"/>
          <p:cNvSpPr/>
          <p:nvPr/>
        </p:nvSpPr>
        <p:spPr>
          <a:xfrm>
            <a:off x="777240" y="1965960"/>
            <a:ext cx="3200400" cy="274320"/>
          </a:xfrm>
          <a:prstGeom prst="rect">
            <a:avLst/>
          </a:prstGeom>
          <a:noFill/>
          <a:ln/>
        </p:spPr>
        <p:txBody>
          <a:bodyPr wrap="square" lIns="0" tIns="0" rIns="0" bIns="0" rtlCol="0" anchor="ctr"/>
          <a:lstStyle/>
          <a:p>
            <a:pPr indent="0" marL="0">
              <a:buNone/>
            </a:pPr>
            <a:r>
              <a:rPr lang="en-US" sz="1000" b="1" spc="300" kern="0" dirty="0">
                <a:solidFill>
                  <a:srgbClr val="C8382C"/>
                </a:solidFill>
                <a:latin typeface="Calibri" pitchFamily="34" charset="0"/>
                <a:ea typeface="Calibri" pitchFamily="34" charset="-122"/>
                <a:cs typeface="Calibri" pitchFamily="34" charset="-120"/>
              </a:rPr>
              <a:t>PROJECT LEAD</a:t>
            </a:r>
            <a:endParaRPr lang="en-US" sz="1000" dirty="0"/>
          </a:p>
        </p:txBody>
      </p:sp>
      <p:sp>
        <p:nvSpPr>
          <p:cNvPr id="8" name="Text 6"/>
          <p:cNvSpPr/>
          <p:nvPr/>
        </p:nvSpPr>
        <p:spPr>
          <a:xfrm>
            <a:off x="777240" y="2240280"/>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MrX</a:t>
            </a:r>
            <a:endParaRPr lang="en-US" sz="1500" dirty="0"/>
          </a:p>
        </p:txBody>
      </p:sp>
      <p:sp>
        <p:nvSpPr>
          <p:cNvPr id="9" name="Text 7"/>
          <p:cNvSpPr/>
          <p:nvPr/>
        </p:nvSpPr>
        <p:spPr>
          <a:xfrm>
            <a:off x="777240" y="2560320"/>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Vice President, Vnext Japan</a:t>
            </a:r>
            <a:endParaRPr lang="en-US" sz="10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11" name="Text 9"/>
          <p:cNvSpPr/>
          <p:nvPr/>
        </p:nvSpPr>
        <p:spPr>
          <a:xfrm>
            <a:off x="777240" y="3108960"/>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Anything strategic. Or anything you want to push back on.</a:t>
            </a:r>
            <a:endParaRPr lang="en-US" sz="1000" dirty="0"/>
          </a:p>
        </p:txBody>
      </p:sp>
      <p:sp>
        <p:nvSpPr>
          <p:cNvPr id="12" name="Shape 10"/>
          <p:cNvSpPr/>
          <p:nvPr/>
        </p:nvSpPr>
        <p:spPr>
          <a:xfrm>
            <a:off x="4325112"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3" name="Shape 11"/>
          <p:cNvSpPr/>
          <p:nvPr/>
        </p:nvSpPr>
        <p:spPr>
          <a:xfrm>
            <a:off x="4325112" y="1783080"/>
            <a:ext cx="3657600" cy="73152"/>
          </a:xfrm>
          <a:prstGeom prst="rect">
            <a:avLst/>
          </a:prstGeom>
          <a:solidFill>
            <a:srgbClr val="C9A86A"/>
          </a:solidFill>
          <a:ln w="12700">
            <a:solidFill>
              <a:srgbClr val="C9A86A"/>
            </a:solidFill>
            <a:prstDash val="solid"/>
          </a:ln>
        </p:spPr>
      </p:sp>
      <p:sp>
        <p:nvSpPr>
          <p:cNvPr id="14" name="Text 12"/>
          <p:cNvSpPr/>
          <p:nvPr/>
        </p:nvSpPr>
        <p:spPr>
          <a:xfrm>
            <a:off x="4553712" y="1965960"/>
            <a:ext cx="3200400" cy="274320"/>
          </a:xfrm>
          <a:prstGeom prst="rect">
            <a:avLst/>
          </a:prstGeom>
          <a:noFill/>
          <a:ln/>
        </p:spPr>
        <p:txBody>
          <a:bodyPr wrap="square" lIns="0" tIns="0" rIns="0" bIns="0" rtlCol="0" anchor="ctr"/>
          <a:lstStyle/>
          <a:p>
            <a:pPr indent="0" marL="0">
              <a:buNone/>
            </a:pPr>
            <a:r>
              <a:rPr lang="en-US" sz="1000" b="1" spc="300" kern="0" dirty="0">
                <a:solidFill>
                  <a:srgbClr val="C9A86A"/>
                </a:solidFill>
                <a:latin typeface="Calibri" pitchFamily="34" charset="0"/>
                <a:ea typeface="Calibri" pitchFamily="34" charset="-122"/>
                <a:cs typeface="Calibri" pitchFamily="34" charset="-120"/>
              </a:rPr>
              <a:t>RESEARCH LEAD</a:t>
            </a:r>
            <a:endParaRPr lang="en-US" sz="1000" dirty="0"/>
          </a:p>
        </p:txBody>
      </p:sp>
      <p:sp>
        <p:nvSpPr>
          <p:cNvPr id="15" name="Text 13"/>
          <p:cNvSpPr/>
          <p:nvPr/>
        </p:nvSpPr>
        <p:spPr>
          <a:xfrm>
            <a:off x="4553712" y="2240280"/>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TBD (month 1)</a:t>
            </a:r>
            <a:endParaRPr lang="en-US" sz="1500" dirty="0"/>
          </a:p>
        </p:txBody>
      </p:sp>
      <p:sp>
        <p:nvSpPr>
          <p:cNvPr id="16" name="Text 14"/>
          <p:cNvSpPr/>
          <p:nvPr/>
        </p:nvSpPr>
        <p:spPr>
          <a:xfrm>
            <a:off x="4553712" y="2560320"/>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Action research · interviews</a:t>
            </a:r>
            <a:endParaRPr lang="en-US" sz="1000" dirty="0"/>
          </a:p>
        </p:txBody>
      </p:sp>
      <p:sp>
        <p:nvSpPr>
          <p:cNvPr id="17" name="Text 15"/>
          <p:cNvSpPr/>
          <p:nvPr/>
        </p:nvSpPr>
        <p:spPr>
          <a:xfrm>
            <a:off x="4553712" y="2880360"/>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18" name="Text 16"/>
          <p:cNvSpPr/>
          <p:nvPr/>
        </p:nvSpPr>
        <p:spPr>
          <a:xfrm>
            <a:off x="4553712" y="3108960"/>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Interview scheduling. Survey questions. Your data.</a:t>
            </a:r>
            <a:endParaRPr lang="en-US" sz="1000" dirty="0"/>
          </a:p>
        </p:txBody>
      </p:sp>
      <p:sp>
        <p:nvSpPr>
          <p:cNvPr id="19" name="Shape 17"/>
          <p:cNvSpPr/>
          <p:nvPr/>
        </p:nvSpPr>
        <p:spPr>
          <a:xfrm>
            <a:off x="8101584"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0" name="Shape 18"/>
          <p:cNvSpPr/>
          <p:nvPr/>
        </p:nvSpPr>
        <p:spPr>
          <a:xfrm>
            <a:off x="8101584" y="1783080"/>
            <a:ext cx="3657600" cy="73152"/>
          </a:xfrm>
          <a:prstGeom prst="rect">
            <a:avLst/>
          </a:prstGeom>
          <a:solidFill>
            <a:srgbClr val="8A9A7B"/>
          </a:solidFill>
          <a:ln w="12700">
            <a:solidFill>
              <a:srgbClr val="8A9A7B"/>
            </a:solidFill>
            <a:prstDash val="solid"/>
          </a:ln>
        </p:spPr>
      </p:sp>
      <p:sp>
        <p:nvSpPr>
          <p:cNvPr id="21" name="Text 19"/>
          <p:cNvSpPr/>
          <p:nvPr/>
        </p:nvSpPr>
        <p:spPr>
          <a:xfrm>
            <a:off x="8330184" y="1965960"/>
            <a:ext cx="3200400" cy="274320"/>
          </a:xfrm>
          <a:prstGeom prst="rect">
            <a:avLst/>
          </a:prstGeom>
          <a:noFill/>
          <a:ln/>
        </p:spPr>
        <p:txBody>
          <a:bodyPr wrap="square" lIns="0" tIns="0" rIns="0" bIns="0" rtlCol="0" anchor="ctr"/>
          <a:lstStyle/>
          <a:p>
            <a:pPr indent="0" marL="0">
              <a:buNone/>
            </a:pPr>
            <a:r>
              <a:rPr lang="en-US" sz="1000" b="1" spc="300" kern="0" dirty="0">
                <a:solidFill>
                  <a:srgbClr val="8A9A7B"/>
                </a:solidFill>
                <a:latin typeface="Calibri" pitchFamily="34" charset="0"/>
                <a:ea typeface="Calibri" pitchFamily="34" charset="-122"/>
                <a:cs typeface="Calibri" pitchFamily="34" charset="-120"/>
              </a:rPr>
              <a:t>YOUR DELIVERY LEAD</a:t>
            </a:r>
            <a:endParaRPr lang="en-US" sz="1000" dirty="0"/>
          </a:p>
        </p:txBody>
      </p:sp>
      <p:sp>
        <p:nvSpPr>
          <p:cNvPr id="22" name="Text 20"/>
          <p:cNvSpPr/>
          <p:nvPr/>
        </p:nvSpPr>
        <p:spPr>
          <a:xfrm>
            <a:off x="8330184" y="2240280"/>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Your team lead</a:t>
            </a:r>
            <a:endParaRPr lang="en-US" sz="1500" dirty="0"/>
          </a:p>
        </p:txBody>
      </p:sp>
      <p:sp>
        <p:nvSpPr>
          <p:cNvPr id="23" name="Text 21"/>
          <p:cNvSpPr/>
          <p:nvPr/>
        </p:nvSpPr>
        <p:spPr>
          <a:xfrm>
            <a:off x="8330184" y="2560320"/>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Existing point of contact</a:t>
            </a:r>
            <a:endParaRPr lang="en-US" sz="1000" dirty="0"/>
          </a:p>
        </p:txBody>
      </p:sp>
      <p:sp>
        <p:nvSpPr>
          <p:cNvPr id="24" name="Text 22"/>
          <p:cNvSpPr/>
          <p:nvPr/>
        </p:nvSpPr>
        <p:spPr>
          <a:xfrm>
            <a:off x="8330184" y="2880360"/>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25" name="Text 23"/>
          <p:cNvSpPr/>
          <p:nvPr/>
        </p:nvSpPr>
        <p:spPr>
          <a:xfrm>
            <a:off x="8330184" y="3108960"/>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Day-to-day. "Should I install this?" "Can I skip this week?"</a:t>
            </a:r>
            <a:endParaRPr lang="en-US" sz="1000" dirty="0"/>
          </a:p>
        </p:txBody>
      </p:sp>
      <p:sp>
        <p:nvSpPr>
          <p:cNvPr id="26" name="Shape 24"/>
          <p:cNvSpPr/>
          <p:nvPr/>
        </p:nvSpPr>
        <p:spPr>
          <a:xfrm>
            <a:off x="548640"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7" name="Shape 25"/>
          <p:cNvSpPr/>
          <p:nvPr/>
        </p:nvSpPr>
        <p:spPr>
          <a:xfrm>
            <a:off x="548640" y="4096512"/>
            <a:ext cx="3657600" cy="73152"/>
          </a:xfrm>
          <a:prstGeom prst="rect">
            <a:avLst/>
          </a:prstGeom>
          <a:solidFill>
            <a:srgbClr val="1B2A4E"/>
          </a:solidFill>
          <a:ln w="12700">
            <a:solidFill>
              <a:srgbClr val="1B2A4E"/>
            </a:solidFill>
            <a:prstDash val="solid"/>
          </a:ln>
        </p:spPr>
      </p:sp>
      <p:sp>
        <p:nvSpPr>
          <p:cNvPr id="28" name="Text 26"/>
          <p:cNvSpPr/>
          <p:nvPr/>
        </p:nvSpPr>
        <p:spPr>
          <a:xfrm>
            <a:off x="777240" y="4279392"/>
            <a:ext cx="3200400" cy="274320"/>
          </a:xfrm>
          <a:prstGeom prst="rect">
            <a:avLst/>
          </a:prstGeom>
          <a:noFill/>
          <a:ln/>
        </p:spPr>
        <p:txBody>
          <a:bodyPr wrap="square" lIns="0" tIns="0" rIns="0" bIns="0" rtlCol="0" anchor="ctr"/>
          <a:lstStyle/>
          <a:p>
            <a:pPr indent="0" marL="0">
              <a:buNone/>
            </a:pPr>
            <a:r>
              <a:rPr lang="en-US" sz="1000" b="1" spc="300" kern="0" dirty="0">
                <a:solidFill>
                  <a:srgbClr val="1B2A4E"/>
                </a:solidFill>
                <a:latin typeface="Calibri" pitchFamily="34" charset="0"/>
                <a:ea typeface="Calibri" pitchFamily="34" charset="-122"/>
                <a:cs typeface="Calibri" pitchFamily="34" charset="-120"/>
              </a:rPr>
              <a:t>CULTURAL ADVISOR (JP)</a:t>
            </a:r>
            <a:endParaRPr lang="en-US" sz="1000" dirty="0"/>
          </a:p>
        </p:txBody>
      </p:sp>
      <p:sp>
        <p:nvSpPr>
          <p:cNvPr id="29" name="Text 27"/>
          <p:cNvSpPr/>
          <p:nvPr/>
        </p:nvSpPr>
        <p:spPr>
          <a:xfrm>
            <a:off x="777240" y="4553712"/>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TBD (month 2)</a:t>
            </a:r>
            <a:endParaRPr lang="en-US" sz="1500" dirty="0"/>
          </a:p>
        </p:txBody>
      </p:sp>
      <p:sp>
        <p:nvSpPr>
          <p:cNvPr id="30" name="Text 28"/>
          <p:cNvSpPr/>
          <p:nvPr/>
        </p:nvSpPr>
        <p:spPr>
          <a:xfrm>
            <a:off x="777240" y="4873752"/>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Religious-cultural advisor</a:t>
            </a:r>
            <a:endParaRPr lang="en-US" sz="1000" dirty="0"/>
          </a:p>
        </p:txBody>
      </p:sp>
      <p:sp>
        <p:nvSpPr>
          <p:cNvPr id="31" name="Text 29"/>
          <p:cNvSpPr/>
          <p:nvPr/>
        </p:nvSpPr>
        <p:spPr>
          <a:xfrm>
            <a:off x="777240" y="5193792"/>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32" name="Text 30"/>
          <p:cNvSpPr/>
          <p:nvPr/>
        </p:nvSpPr>
        <p:spPr>
          <a:xfrm>
            <a:off x="777240" y="5422392"/>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Cultural nuance. "Is this annotation right?" "What about Buddhist context?"</a:t>
            </a:r>
            <a:endParaRPr lang="en-US" sz="1000" dirty="0"/>
          </a:p>
        </p:txBody>
      </p:sp>
      <p:sp>
        <p:nvSpPr>
          <p:cNvPr id="33" name="Shape 31"/>
          <p:cNvSpPr/>
          <p:nvPr/>
        </p:nvSpPr>
        <p:spPr>
          <a:xfrm>
            <a:off x="4325112"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4" name="Shape 32"/>
          <p:cNvSpPr/>
          <p:nvPr/>
        </p:nvSpPr>
        <p:spPr>
          <a:xfrm>
            <a:off x="4325112" y="4096512"/>
            <a:ext cx="3657600" cy="73152"/>
          </a:xfrm>
          <a:prstGeom prst="rect">
            <a:avLst/>
          </a:prstGeom>
          <a:solidFill>
            <a:srgbClr val="C8382C"/>
          </a:solidFill>
          <a:ln w="12700">
            <a:solidFill>
              <a:srgbClr val="C8382C"/>
            </a:solidFill>
            <a:prstDash val="solid"/>
          </a:ln>
        </p:spPr>
      </p:sp>
      <p:sp>
        <p:nvSpPr>
          <p:cNvPr id="35" name="Text 33"/>
          <p:cNvSpPr/>
          <p:nvPr/>
        </p:nvSpPr>
        <p:spPr>
          <a:xfrm>
            <a:off x="4553712" y="4279392"/>
            <a:ext cx="3200400" cy="274320"/>
          </a:xfrm>
          <a:prstGeom prst="rect">
            <a:avLst/>
          </a:prstGeom>
          <a:noFill/>
          <a:ln/>
        </p:spPr>
        <p:txBody>
          <a:bodyPr wrap="square" lIns="0" tIns="0" rIns="0" bIns="0" rtlCol="0" anchor="ctr"/>
          <a:lstStyle/>
          <a:p>
            <a:pPr indent="0" marL="0">
              <a:buNone/>
            </a:pPr>
            <a:r>
              <a:rPr lang="en-US" sz="1000" b="1" spc="300" kern="0" dirty="0">
                <a:solidFill>
                  <a:srgbClr val="C8382C"/>
                </a:solidFill>
                <a:latin typeface="Calibri" pitchFamily="34" charset="0"/>
                <a:ea typeface="Calibri" pitchFamily="34" charset="-122"/>
                <a:cs typeface="Calibri" pitchFamily="34" charset="-120"/>
              </a:rPr>
              <a:t>SHIZENKAN ADVISOR</a:t>
            </a:r>
            <a:endParaRPr lang="en-US" sz="1000" dirty="0"/>
          </a:p>
        </p:txBody>
      </p:sp>
      <p:sp>
        <p:nvSpPr>
          <p:cNvPr id="36" name="Text 34"/>
          <p:cNvSpPr/>
          <p:nvPr/>
        </p:nvSpPr>
        <p:spPr>
          <a:xfrm>
            <a:off x="4553712" y="4553712"/>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TBD (your thesis advisor)</a:t>
            </a:r>
            <a:endParaRPr lang="en-US" sz="1500" dirty="0"/>
          </a:p>
        </p:txBody>
      </p:sp>
      <p:sp>
        <p:nvSpPr>
          <p:cNvPr id="37" name="Text 35"/>
          <p:cNvSpPr/>
          <p:nvPr/>
        </p:nvSpPr>
        <p:spPr>
          <a:xfrm>
            <a:off x="4553712" y="4873752"/>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Academic oversight</a:t>
            </a:r>
            <a:endParaRPr lang="en-US" sz="1000" dirty="0"/>
          </a:p>
        </p:txBody>
      </p:sp>
      <p:sp>
        <p:nvSpPr>
          <p:cNvPr id="38" name="Text 36"/>
          <p:cNvSpPr/>
          <p:nvPr/>
        </p:nvSpPr>
        <p:spPr>
          <a:xfrm>
            <a:off x="4553712" y="5193792"/>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39" name="Text 37"/>
          <p:cNvSpPr/>
          <p:nvPr/>
        </p:nvSpPr>
        <p:spPr>
          <a:xfrm>
            <a:off x="4553712" y="5422392"/>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Research ethics. Big-picture concerns about the study.</a:t>
            </a:r>
            <a:endParaRPr lang="en-US" sz="1000" dirty="0"/>
          </a:p>
        </p:txBody>
      </p:sp>
      <p:sp>
        <p:nvSpPr>
          <p:cNvPr id="40" name="Shape 38"/>
          <p:cNvSpPr/>
          <p:nvPr/>
        </p:nvSpPr>
        <p:spPr>
          <a:xfrm>
            <a:off x="8101584"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41" name="Shape 39"/>
          <p:cNvSpPr/>
          <p:nvPr/>
        </p:nvSpPr>
        <p:spPr>
          <a:xfrm>
            <a:off x="8101584" y="4096512"/>
            <a:ext cx="3657600" cy="73152"/>
          </a:xfrm>
          <a:prstGeom prst="rect">
            <a:avLst/>
          </a:prstGeom>
          <a:solidFill>
            <a:srgbClr val="C9A86A"/>
          </a:solidFill>
          <a:ln w="12700">
            <a:solidFill>
              <a:srgbClr val="C9A86A"/>
            </a:solidFill>
            <a:prstDash val="solid"/>
          </a:ln>
        </p:spPr>
      </p:sp>
      <p:sp>
        <p:nvSpPr>
          <p:cNvPr id="42" name="Text 40"/>
          <p:cNvSpPr/>
          <p:nvPr/>
        </p:nvSpPr>
        <p:spPr>
          <a:xfrm>
            <a:off x="8330184" y="4279392"/>
            <a:ext cx="3200400" cy="274320"/>
          </a:xfrm>
          <a:prstGeom prst="rect">
            <a:avLst/>
          </a:prstGeom>
          <a:noFill/>
          <a:ln/>
        </p:spPr>
        <p:txBody>
          <a:bodyPr wrap="square" lIns="0" tIns="0" rIns="0" bIns="0" rtlCol="0" anchor="ctr"/>
          <a:lstStyle/>
          <a:p>
            <a:pPr indent="0" marL="0">
              <a:buNone/>
            </a:pPr>
            <a:r>
              <a:rPr lang="en-US" sz="1000" b="1" spc="300" kern="0" dirty="0">
                <a:solidFill>
                  <a:srgbClr val="C9A86A"/>
                </a:solidFill>
                <a:latin typeface="Calibri" pitchFamily="34" charset="0"/>
                <a:ea typeface="Calibri" pitchFamily="34" charset="-122"/>
                <a:cs typeface="Calibri" pitchFamily="34" charset="-120"/>
              </a:rPr>
              <a:t>PRIVACY LEAD</a:t>
            </a:r>
            <a:endParaRPr lang="en-US" sz="1000" dirty="0"/>
          </a:p>
        </p:txBody>
      </p:sp>
      <p:sp>
        <p:nvSpPr>
          <p:cNvPr id="43" name="Text 41"/>
          <p:cNvSpPr/>
          <p:nvPr/>
        </p:nvSpPr>
        <p:spPr>
          <a:xfrm>
            <a:off x="8330184" y="4553712"/>
            <a:ext cx="3200400" cy="36576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Vnext data-handling team</a:t>
            </a:r>
            <a:endParaRPr lang="en-US" sz="1500" dirty="0"/>
          </a:p>
        </p:txBody>
      </p:sp>
      <p:sp>
        <p:nvSpPr>
          <p:cNvPr id="44" name="Text 42"/>
          <p:cNvSpPr/>
          <p:nvPr/>
        </p:nvSpPr>
        <p:spPr>
          <a:xfrm>
            <a:off x="8330184" y="4873752"/>
            <a:ext cx="32004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Data-handling &amp; privacy</a:t>
            </a:r>
            <a:endParaRPr lang="en-US" sz="1000" dirty="0"/>
          </a:p>
        </p:txBody>
      </p:sp>
      <p:sp>
        <p:nvSpPr>
          <p:cNvPr id="45" name="Text 43"/>
          <p:cNvSpPr/>
          <p:nvPr/>
        </p:nvSpPr>
        <p:spPr>
          <a:xfrm>
            <a:off x="8330184" y="5193792"/>
            <a:ext cx="3200400" cy="228600"/>
          </a:xfrm>
          <a:prstGeom prst="rect">
            <a:avLst/>
          </a:prstGeom>
          <a:noFill/>
          <a:ln/>
        </p:spPr>
        <p:txBody>
          <a:bodyPr wrap="square" lIns="0" tIns="0" rIns="0" bIns="0" rtlCol="0" anchor="ctr"/>
          <a:lstStyle/>
          <a:p>
            <a:pPr indent="0" marL="0">
              <a:buNone/>
            </a:pPr>
            <a:r>
              <a:rPr lang="en-US" sz="900" b="1" spc="200" kern="0" dirty="0">
                <a:solidFill>
                  <a:srgbClr val="C9A86A"/>
                </a:solidFill>
                <a:latin typeface="Calibri" pitchFamily="34" charset="0"/>
                <a:ea typeface="Calibri" pitchFamily="34" charset="-122"/>
                <a:cs typeface="Calibri" pitchFamily="34" charset="-120"/>
              </a:rPr>
              <a:t>Ask them:</a:t>
            </a:r>
            <a:endParaRPr lang="en-US" sz="900" dirty="0"/>
          </a:p>
        </p:txBody>
      </p:sp>
      <p:sp>
        <p:nvSpPr>
          <p:cNvPr id="46" name="Text 44"/>
          <p:cNvSpPr/>
          <p:nvPr/>
        </p:nvSpPr>
        <p:spPr>
          <a:xfrm>
            <a:off x="8330184" y="5422392"/>
            <a:ext cx="3200400" cy="777240"/>
          </a:xfrm>
          <a:prstGeom prst="rect">
            <a:avLst/>
          </a:prstGeom>
          <a:noFill/>
          <a:ln/>
        </p:spPr>
        <p:txBody>
          <a:bodyPr wrap="square" lIns="0" tIns="0" rIns="0" bIns="0" rtlCol="0" anchor="ctr"/>
          <a:lstStyle/>
          <a:p>
            <a:pPr indent="0" marL="0">
              <a:buNone/>
            </a:pPr>
            <a:r>
              <a:rPr lang="en-US" sz="1000" dirty="0">
                <a:solidFill>
                  <a:srgbClr val="1C1C1C"/>
                </a:solidFill>
                <a:latin typeface="Calibri" pitchFamily="34" charset="0"/>
                <a:ea typeface="Calibri" pitchFamily="34" charset="-122"/>
                <a:cs typeface="Calibri" pitchFamily="34" charset="-120"/>
              </a:rPr>
              <a:t>Privacy questions. Opt-out. Data deletion.</a:t>
            </a:r>
            <a:endParaRPr lang="en-US" sz="1000" dirty="0"/>
          </a:p>
        </p:txBody>
      </p:sp>
      <p:sp>
        <p:nvSpPr>
          <p:cNvPr id="47" name="Text 45"/>
          <p:cNvSpPr/>
          <p:nvPr/>
        </p:nvSpPr>
        <p:spPr>
          <a:xfrm>
            <a:off x="548640" y="6355080"/>
            <a:ext cx="11155680" cy="27432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If you're not sure who to ask, ask your delivery lead. They will route it.</a:t>
            </a:r>
            <a:endParaRPr lang="en-US" sz="1100" dirty="0"/>
          </a:p>
        </p:txBody>
      </p:sp>
      <p:sp>
        <p:nvSpPr>
          <p:cNvPr id="48" name="Text 46"/>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12</a:t>
            </a:r>
            <a:endParaRPr lang="en-US" sz="900" dirty="0"/>
          </a:p>
        </p:txBody>
      </p:sp>
      <p:sp>
        <p:nvSpPr>
          <p:cNvPr id="49" name="Text 47"/>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07 · THE RITUALS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Two small practices for your team meetings</a:t>
            </a:r>
            <a:endParaRPr lang="en-US" sz="2600" dirty="0"/>
          </a:p>
        </p:txBody>
      </p:sp>
      <p:sp>
        <p:nvSpPr>
          <p:cNvPr id="5" name="Shape 3"/>
          <p:cNvSpPr/>
          <p:nvPr/>
        </p:nvSpPr>
        <p:spPr>
          <a:xfrm>
            <a:off x="548640" y="1783080"/>
            <a:ext cx="5440680" cy="4297680"/>
          </a:xfrm>
          <a:prstGeom prst="roundRect">
            <a:avLst>
              <a:gd name="adj" fmla="val 2128"/>
            </a:avLst>
          </a:prstGeom>
          <a:solidFill>
            <a:srgbClr val="FFFFFF"/>
          </a:solidFill>
          <a:ln w="25400">
            <a:solidFill>
              <a:srgbClr val="C8382C"/>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5440680" cy="502920"/>
          </a:xfrm>
          <a:prstGeom prst="rect">
            <a:avLst/>
          </a:prstGeom>
          <a:solidFill>
            <a:srgbClr val="C8382C"/>
          </a:solidFill>
          <a:ln w="12700">
            <a:solidFill>
              <a:srgbClr val="C8382C"/>
            </a:solidFill>
            <a:prstDash val="solid"/>
          </a:ln>
        </p:spPr>
      </p:sp>
      <p:sp>
        <p:nvSpPr>
          <p:cNvPr id="7" name="Text 5"/>
          <p:cNvSpPr/>
          <p:nvPr/>
        </p:nvSpPr>
        <p:spPr>
          <a:xfrm>
            <a:off x="777240" y="1783080"/>
            <a:ext cx="512064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RITUAL 1  ·  2 MINUTES</a:t>
            </a:r>
            <a:endParaRPr lang="en-US" sz="1100" dirty="0"/>
          </a:p>
        </p:txBody>
      </p:sp>
      <p:sp>
        <p:nvSpPr>
          <p:cNvPr id="8" name="Text 6"/>
          <p:cNvSpPr/>
          <p:nvPr/>
        </p:nvSpPr>
        <p:spPr>
          <a:xfrm>
            <a:off x="777240" y="2514600"/>
            <a:ext cx="5166360" cy="548640"/>
          </a:xfrm>
          <a:prstGeom prst="rect">
            <a:avLst/>
          </a:prstGeom>
          <a:noFill/>
          <a:ln/>
        </p:spPr>
        <p:txBody>
          <a:bodyPr wrap="square" lIns="0" tIns="0" rIns="0" bIns="0" rtlCol="0" anchor="ctr"/>
          <a:lstStyle/>
          <a:p>
            <a:pPr indent="0" marL="0">
              <a:buNone/>
            </a:pPr>
            <a:r>
              <a:rPr lang="en-US" sz="2200" b="1" i="1" dirty="0">
                <a:solidFill>
                  <a:srgbClr val="1B2A4E"/>
                </a:solidFill>
                <a:latin typeface="Georgia" pitchFamily="34" charset="0"/>
                <a:ea typeface="Georgia" pitchFamily="34" charset="-122"/>
                <a:cs typeface="Georgia" pitchFamily="34" charset="-120"/>
              </a:rPr>
              <a:t>Check tâm before the task.</a:t>
            </a:r>
            <a:endParaRPr lang="en-US" sz="2200" dirty="0"/>
          </a:p>
        </p:txBody>
      </p:sp>
      <p:sp>
        <p:nvSpPr>
          <p:cNvPr id="9" name="Text 7"/>
          <p:cNvSpPr/>
          <p:nvPr/>
        </p:nvSpPr>
        <p:spPr>
          <a:xfrm>
            <a:off x="777240" y="3154680"/>
            <a:ext cx="5029200" cy="137160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At the start of each weekly team meeting, take two minutes. Each person says one sentence: "the sincere intention I bring to this week's work is …"</a:t>
            </a:r>
            <a:endParaRPr lang="en-US" sz="1200" dirty="0"/>
          </a:p>
        </p:txBody>
      </p:sp>
      <p:sp>
        <p:nvSpPr>
          <p:cNvPr id="10" name="Text 8"/>
          <p:cNvSpPr/>
          <p:nvPr/>
        </p:nvSpPr>
        <p:spPr>
          <a:xfrm>
            <a:off x="777240" y="4572000"/>
            <a:ext cx="914400" cy="228600"/>
          </a:xfrm>
          <a:prstGeom prst="rect">
            <a:avLst/>
          </a:prstGeom>
          <a:noFill/>
          <a:ln/>
        </p:spPr>
        <p:txBody>
          <a:bodyPr wrap="square" lIns="0" tIns="0" rIns="0" bIns="0" rtlCol="0" anchor="ctr"/>
          <a:lstStyle/>
          <a:p>
            <a:pPr indent="0" marL="0">
              <a:buNone/>
            </a:pPr>
            <a:r>
              <a:rPr lang="en-US" sz="1000" b="1" spc="200" kern="0" dirty="0">
                <a:solidFill>
                  <a:srgbClr val="C8382C"/>
                </a:solidFill>
                <a:latin typeface="Calibri" pitchFamily="34" charset="0"/>
                <a:ea typeface="Calibri" pitchFamily="34" charset="-122"/>
                <a:cs typeface="Calibri" pitchFamily="34" charset="-120"/>
              </a:rPr>
              <a:t>WHY</a:t>
            </a:r>
            <a:endParaRPr lang="en-US" sz="1000" dirty="0"/>
          </a:p>
        </p:txBody>
      </p:sp>
      <p:sp>
        <p:nvSpPr>
          <p:cNvPr id="11" name="Text 9"/>
          <p:cNvSpPr/>
          <p:nvPr/>
        </p:nvSpPr>
        <p:spPr>
          <a:xfrm>
            <a:off x="777240" y="4800600"/>
            <a:ext cx="5029200" cy="914400"/>
          </a:xfrm>
          <a:prstGeom prst="rect">
            <a:avLst/>
          </a:prstGeom>
          <a:noFill/>
          <a:ln/>
        </p:spPr>
        <p:txBody>
          <a:bodyPr wrap="square" lIns="0" tIns="0" rIns="0" bIns="0" rtlCol="0" anchor="ctr"/>
          <a:lstStyle/>
          <a:p>
            <a:pPr indent="0" marL="0">
              <a:buNone/>
            </a:pPr>
            <a:r>
              <a:rPr lang="en-US" sz="1200" i="1" dirty="0">
                <a:solidFill>
                  <a:srgbClr val="1B2A4E"/>
                </a:solidFill>
                <a:latin typeface="Calibri" pitchFamily="34" charset="0"/>
                <a:ea typeface="Calibri" pitchFamily="34" charset="-122"/>
                <a:cs typeface="Calibri" pitchFamily="34" charset="-120"/>
              </a:rPr>
              <a:t>When intentions are visible, expression is read as expression — not as character.</a:t>
            </a:r>
            <a:endParaRPr lang="en-US" sz="1200" dirty="0"/>
          </a:p>
        </p:txBody>
      </p:sp>
      <p:sp>
        <p:nvSpPr>
          <p:cNvPr id="12" name="Shape 10"/>
          <p:cNvSpPr/>
          <p:nvPr/>
        </p:nvSpPr>
        <p:spPr>
          <a:xfrm>
            <a:off x="6199632" y="1783080"/>
            <a:ext cx="5440680" cy="4297680"/>
          </a:xfrm>
          <a:prstGeom prst="roundRect">
            <a:avLst>
              <a:gd name="adj" fmla="val 2128"/>
            </a:avLst>
          </a:prstGeom>
          <a:solidFill>
            <a:srgbClr val="FFFFFF"/>
          </a:solidFill>
          <a:ln w="25400">
            <a:solidFill>
              <a:srgbClr val="8A9A7B"/>
            </a:solidFill>
            <a:prstDash val="solid"/>
          </a:ln>
          <a:effectLst>
            <a:outerShdw sx="100000" sy="100000" kx="0" ky="0" algn="bl" rotWithShape="0" blurRad="101600" dist="12700" dir="5400000">
              <a:srgbClr val="000000">
                <a:alpha val="12000"/>
              </a:srgbClr>
            </a:outerShdw>
          </a:effectLst>
        </p:spPr>
      </p:sp>
      <p:sp>
        <p:nvSpPr>
          <p:cNvPr id="13" name="Shape 11"/>
          <p:cNvSpPr/>
          <p:nvPr/>
        </p:nvSpPr>
        <p:spPr>
          <a:xfrm>
            <a:off x="6199632" y="1783080"/>
            <a:ext cx="5440680" cy="502920"/>
          </a:xfrm>
          <a:prstGeom prst="rect">
            <a:avLst/>
          </a:prstGeom>
          <a:solidFill>
            <a:srgbClr val="8A9A7B"/>
          </a:solidFill>
          <a:ln w="12700">
            <a:solidFill>
              <a:srgbClr val="8A9A7B"/>
            </a:solidFill>
            <a:prstDash val="solid"/>
          </a:ln>
        </p:spPr>
      </p:sp>
      <p:sp>
        <p:nvSpPr>
          <p:cNvPr id="14" name="Text 12"/>
          <p:cNvSpPr/>
          <p:nvPr/>
        </p:nvSpPr>
        <p:spPr>
          <a:xfrm>
            <a:off x="6428232" y="1783080"/>
            <a:ext cx="512064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RITUAL 2  ·  WHEN CONFLICT APPEARS</a:t>
            </a:r>
            <a:endParaRPr lang="en-US" sz="1100" dirty="0"/>
          </a:p>
        </p:txBody>
      </p:sp>
      <p:sp>
        <p:nvSpPr>
          <p:cNvPr id="15" name="Text 13"/>
          <p:cNvSpPr/>
          <p:nvPr/>
        </p:nvSpPr>
        <p:spPr>
          <a:xfrm>
            <a:off x="6428232" y="2514600"/>
            <a:ext cx="5120640" cy="548640"/>
          </a:xfrm>
          <a:prstGeom prst="rect">
            <a:avLst/>
          </a:prstGeom>
          <a:noFill/>
          <a:ln/>
        </p:spPr>
        <p:txBody>
          <a:bodyPr wrap="square" lIns="0" tIns="0" rIns="0" bIns="0" rtlCol="0" anchor="ctr"/>
          <a:lstStyle/>
          <a:p>
            <a:pPr indent="0" marL="0">
              <a:buNone/>
            </a:pPr>
            <a:r>
              <a:rPr lang="en-US" sz="2200" b="1" i="1" dirty="0">
                <a:solidFill>
                  <a:srgbClr val="1B2A4E"/>
                </a:solidFill>
                <a:latin typeface="Georgia" pitchFamily="34" charset="0"/>
                <a:ea typeface="Georgia" pitchFamily="34" charset="-122"/>
                <a:cs typeface="Georgia" pitchFamily="34" charset="-120"/>
              </a:rPr>
              <a:t>Name the register, then react.</a:t>
            </a:r>
            <a:endParaRPr lang="en-US" sz="2200" dirty="0"/>
          </a:p>
        </p:txBody>
      </p:sp>
      <p:sp>
        <p:nvSpPr>
          <p:cNvPr id="16" name="Text 14"/>
          <p:cNvSpPr/>
          <p:nvPr/>
        </p:nvSpPr>
        <p:spPr>
          <a:xfrm>
            <a:off x="6428232" y="3154680"/>
            <a:ext cx="5120640" cy="137160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Before responding to a message that hit you the wrong way, pause and ask: what cultural register was that written in? Is the problem with the substance, or with how it landed across the culture line?</a:t>
            </a:r>
            <a:endParaRPr lang="en-US" sz="1200" dirty="0"/>
          </a:p>
        </p:txBody>
      </p:sp>
      <p:sp>
        <p:nvSpPr>
          <p:cNvPr id="17" name="Text 15"/>
          <p:cNvSpPr/>
          <p:nvPr/>
        </p:nvSpPr>
        <p:spPr>
          <a:xfrm>
            <a:off x="6428232" y="4572000"/>
            <a:ext cx="914400" cy="228600"/>
          </a:xfrm>
          <a:prstGeom prst="rect">
            <a:avLst/>
          </a:prstGeom>
          <a:noFill/>
          <a:ln/>
        </p:spPr>
        <p:txBody>
          <a:bodyPr wrap="square" lIns="0" tIns="0" rIns="0" bIns="0" rtlCol="0" anchor="ctr"/>
          <a:lstStyle/>
          <a:p>
            <a:pPr indent="0" marL="0">
              <a:buNone/>
            </a:pPr>
            <a:r>
              <a:rPr lang="en-US" sz="1000" b="1" spc="200" kern="0" dirty="0">
                <a:solidFill>
                  <a:srgbClr val="8A9A7B"/>
                </a:solidFill>
                <a:latin typeface="Calibri" pitchFamily="34" charset="0"/>
                <a:ea typeface="Calibri" pitchFamily="34" charset="-122"/>
                <a:cs typeface="Calibri" pitchFamily="34" charset="-120"/>
              </a:rPr>
              <a:t>WHY</a:t>
            </a:r>
            <a:endParaRPr lang="en-US" sz="1000" dirty="0"/>
          </a:p>
        </p:txBody>
      </p:sp>
      <p:sp>
        <p:nvSpPr>
          <p:cNvPr id="18" name="Text 16"/>
          <p:cNvSpPr/>
          <p:nvPr/>
        </p:nvSpPr>
        <p:spPr>
          <a:xfrm>
            <a:off x="6428232" y="4800600"/>
            <a:ext cx="5120640" cy="914400"/>
          </a:xfrm>
          <a:prstGeom prst="rect">
            <a:avLst/>
          </a:prstGeom>
          <a:noFill/>
          <a:ln/>
        </p:spPr>
        <p:txBody>
          <a:bodyPr wrap="square" lIns="0" tIns="0" rIns="0" bIns="0" rtlCol="0" anchor="ctr"/>
          <a:lstStyle/>
          <a:p>
            <a:pPr indent="0" marL="0">
              <a:buNone/>
            </a:pPr>
            <a:r>
              <a:rPr lang="en-US" sz="1200" i="1" dirty="0">
                <a:solidFill>
                  <a:srgbClr val="1B2A4E"/>
                </a:solidFill>
                <a:latin typeface="Calibri" pitchFamily="34" charset="0"/>
                <a:ea typeface="Calibri" pitchFamily="34" charset="-122"/>
                <a:cs typeface="Calibri" pitchFamily="34" charset="-120"/>
              </a:rPr>
              <a:t>Most cross-cultural conflict is register mistaken for content. Naming it dissolves most of it.</a:t>
            </a:r>
            <a:endParaRPr lang="en-US" sz="1200" dirty="0"/>
          </a:p>
        </p:txBody>
      </p:sp>
      <p:sp>
        <p:nvSpPr>
          <p:cNvPr id="19" name="Text 17"/>
          <p:cNvSpPr/>
          <p:nvPr/>
        </p:nvSpPr>
        <p:spPr>
          <a:xfrm>
            <a:off x="548640" y="6217920"/>
            <a:ext cx="11155680" cy="27432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These are invitations, not requirements. Try them. Keep what works for your team.</a:t>
            </a:r>
            <a:endParaRPr lang="en-US" sz="1100" dirty="0"/>
          </a:p>
        </p:txBody>
      </p:sp>
      <p:sp>
        <p:nvSpPr>
          <p:cNvPr id="20" name="Text 18"/>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12</a:t>
            </a:r>
            <a:endParaRPr lang="en-US" sz="900" dirty="0"/>
          </a:p>
        </p:txBody>
      </p:sp>
      <p:sp>
        <p:nvSpPr>
          <p:cNvPr id="21" name="Text 19"/>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08 · WHAT SUCCESS LOOKS LIKE</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Not abstract metrics — practical things you'd feel</a:t>
            </a:r>
            <a:endParaRPr lang="en-US" sz="2600" dirty="0"/>
          </a:p>
        </p:txBody>
      </p:sp>
      <p:sp>
        <p:nvSpPr>
          <p:cNvPr id="5" name="Shape 3"/>
          <p:cNvSpPr/>
          <p:nvPr/>
        </p:nvSpPr>
        <p:spPr>
          <a:xfrm>
            <a:off x="548640"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777240" y="2057400"/>
            <a:ext cx="640080" cy="640080"/>
          </a:xfrm>
          <a:prstGeom prst="ellipse">
            <a:avLst/>
          </a:prstGeom>
          <a:solidFill>
            <a:srgbClr val="C8382C"/>
          </a:solidFill>
          <a:ln w="12700">
            <a:solidFill>
              <a:srgbClr val="C8382C"/>
            </a:solidFill>
            <a:prstDash val="solid"/>
          </a:ln>
        </p:spPr>
      </p:sp>
      <p:sp>
        <p:nvSpPr>
          <p:cNvPr id="7" name="Text 5"/>
          <p:cNvSpPr/>
          <p:nvPr/>
        </p:nvSpPr>
        <p:spPr>
          <a:xfrm>
            <a:off x="777240" y="2057400"/>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554480" y="2057400"/>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Fewer awkward moments</a:t>
            </a:r>
            <a:endParaRPr lang="en-US" sz="1500" dirty="0"/>
          </a:p>
        </p:txBody>
      </p:sp>
      <p:sp>
        <p:nvSpPr>
          <p:cNvPr id="9" name="Text 7"/>
          <p:cNvSpPr/>
          <p:nvPr/>
        </p:nvSpPr>
        <p:spPr>
          <a:xfrm>
            <a:off x="1554480" y="2514600"/>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The number of "wait, what did they mean?" moments drops — not to zero, but visibly.</a:t>
            </a:r>
            <a:endParaRPr lang="en-US" sz="1100" dirty="0"/>
          </a:p>
        </p:txBody>
      </p:sp>
      <p:sp>
        <p:nvSpPr>
          <p:cNvPr id="10" name="Shape 8"/>
          <p:cNvSpPr/>
          <p:nvPr/>
        </p:nvSpPr>
        <p:spPr>
          <a:xfrm>
            <a:off x="4325112"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553712" y="2057400"/>
            <a:ext cx="640080" cy="640080"/>
          </a:xfrm>
          <a:prstGeom prst="ellipse">
            <a:avLst/>
          </a:prstGeom>
          <a:solidFill>
            <a:srgbClr val="C9A86A"/>
          </a:solidFill>
          <a:ln w="12700">
            <a:solidFill>
              <a:srgbClr val="C9A86A"/>
            </a:solidFill>
            <a:prstDash val="solid"/>
          </a:ln>
        </p:spPr>
      </p:sp>
      <p:sp>
        <p:nvSpPr>
          <p:cNvPr id="12" name="Text 10"/>
          <p:cNvSpPr/>
          <p:nvPr/>
        </p:nvSpPr>
        <p:spPr>
          <a:xfrm>
            <a:off x="4553712" y="2057400"/>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5330952" y="2057400"/>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Less rework</a:t>
            </a:r>
            <a:endParaRPr lang="en-US" sz="1500" dirty="0"/>
          </a:p>
        </p:txBody>
      </p:sp>
      <p:sp>
        <p:nvSpPr>
          <p:cNvPr id="14" name="Text 12"/>
          <p:cNvSpPr/>
          <p:nvPr/>
        </p:nvSpPr>
        <p:spPr>
          <a:xfrm>
            <a:off x="5330952" y="2514600"/>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Misread messages cause less back-and-forth. Decisions stick. Things move faster.</a:t>
            </a:r>
            <a:endParaRPr lang="en-US" sz="1100" dirty="0"/>
          </a:p>
        </p:txBody>
      </p:sp>
      <p:sp>
        <p:nvSpPr>
          <p:cNvPr id="15" name="Shape 13"/>
          <p:cNvSpPr/>
          <p:nvPr/>
        </p:nvSpPr>
        <p:spPr>
          <a:xfrm>
            <a:off x="8101584" y="1783080"/>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6" name="Shape 14"/>
          <p:cNvSpPr/>
          <p:nvPr/>
        </p:nvSpPr>
        <p:spPr>
          <a:xfrm>
            <a:off x="8330184" y="2057400"/>
            <a:ext cx="640080" cy="640080"/>
          </a:xfrm>
          <a:prstGeom prst="ellipse">
            <a:avLst/>
          </a:prstGeom>
          <a:solidFill>
            <a:srgbClr val="8A9A7B"/>
          </a:solidFill>
          <a:ln w="12700">
            <a:solidFill>
              <a:srgbClr val="8A9A7B"/>
            </a:solidFill>
            <a:prstDash val="solid"/>
          </a:ln>
        </p:spPr>
      </p:sp>
      <p:sp>
        <p:nvSpPr>
          <p:cNvPr id="17" name="Text 15"/>
          <p:cNvSpPr/>
          <p:nvPr/>
        </p:nvSpPr>
        <p:spPr>
          <a:xfrm>
            <a:off x="8330184" y="2057400"/>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9107424" y="2057400"/>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More confidence</a:t>
            </a:r>
            <a:endParaRPr lang="en-US" sz="1500" dirty="0"/>
          </a:p>
        </p:txBody>
      </p:sp>
      <p:sp>
        <p:nvSpPr>
          <p:cNvPr id="19" name="Text 17"/>
          <p:cNvSpPr/>
          <p:nvPr/>
        </p:nvSpPr>
        <p:spPr>
          <a:xfrm>
            <a:off x="9107424" y="2514600"/>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feel surer of how your messages will land on the other side — and how to read theirs.</a:t>
            </a:r>
            <a:endParaRPr lang="en-US" sz="1100" dirty="0"/>
          </a:p>
        </p:txBody>
      </p:sp>
      <p:sp>
        <p:nvSpPr>
          <p:cNvPr id="20" name="Shape 18"/>
          <p:cNvSpPr/>
          <p:nvPr/>
        </p:nvSpPr>
        <p:spPr>
          <a:xfrm>
            <a:off x="548640"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1" name="Shape 19"/>
          <p:cNvSpPr/>
          <p:nvPr/>
        </p:nvSpPr>
        <p:spPr>
          <a:xfrm>
            <a:off x="777240" y="4370832"/>
            <a:ext cx="640080" cy="640080"/>
          </a:xfrm>
          <a:prstGeom prst="ellipse">
            <a:avLst/>
          </a:prstGeom>
          <a:solidFill>
            <a:srgbClr val="1B2A4E"/>
          </a:solidFill>
          <a:ln w="12700">
            <a:solidFill>
              <a:srgbClr val="1B2A4E"/>
            </a:solidFill>
            <a:prstDash val="solid"/>
          </a:ln>
        </p:spPr>
      </p:sp>
      <p:sp>
        <p:nvSpPr>
          <p:cNvPr id="22" name="Text 20"/>
          <p:cNvSpPr/>
          <p:nvPr/>
        </p:nvSpPr>
        <p:spPr>
          <a:xfrm>
            <a:off x="777240" y="4370832"/>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1554480" y="4370832"/>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A real skill, not a tool</a:t>
            </a:r>
            <a:endParaRPr lang="en-US" sz="1500" dirty="0"/>
          </a:p>
        </p:txBody>
      </p:sp>
      <p:sp>
        <p:nvSpPr>
          <p:cNvPr id="24" name="Text 22"/>
          <p:cNvSpPr/>
          <p:nvPr/>
        </p:nvSpPr>
        <p:spPr>
          <a:xfrm>
            <a:off x="1554480" y="4828032"/>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By month 8, you've learned something that travels with you — even without the plugin.</a:t>
            </a:r>
            <a:endParaRPr lang="en-US" sz="1100" dirty="0"/>
          </a:p>
        </p:txBody>
      </p:sp>
      <p:sp>
        <p:nvSpPr>
          <p:cNvPr id="25" name="Shape 23"/>
          <p:cNvSpPr/>
          <p:nvPr/>
        </p:nvSpPr>
        <p:spPr>
          <a:xfrm>
            <a:off x="4325112"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6" name="Shape 24"/>
          <p:cNvSpPr/>
          <p:nvPr/>
        </p:nvSpPr>
        <p:spPr>
          <a:xfrm>
            <a:off x="4553712" y="4370832"/>
            <a:ext cx="640080" cy="640080"/>
          </a:xfrm>
          <a:prstGeom prst="ellipse">
            <a:avLst/>
          </a:prstGeom>
          <a:solidFill>
            <a:srgbClr val="C8382C"/>
          </a:solidFill>
          <a:ln w="12700">
            <a:solidFill>
              <a:srgbClr val="C8382C"/>
            </a:solidFill>
            <a:prstDash val="solid"/>
          </a:ln>
        </p:spPr>
      </p:sp>
      <p:sp>
        <p:nvSpPr>
          <p:cNvPr id="27" name="Text 25"/>
          <p:cNvSpPr/>
          <p:nvPr/>
        </p:nvSpPr>
        <p:spPr>
          <a:xfrm>
            <a:off x="4553712" y="4370832"/>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5</a:t>
            </a:r>
            <a:endParaRPr lang="en-US" sz="2200" dirty="0"/>
          </a:p>
        </p:txBody>
      </p:sp>
      <p:sp>
        <p:nvSpPr>
          <p:cNvPr id="28" name="Text 26"/>
          <p:cNvSpPr/>
          <p:nvPr/>
        </p:nvSpPr>
        <p:spPr>
          <a:xfrm>
            <a:off x="5330952" y="4370832"/>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Trust grows on both sides</a:t>
            </a:r>
            <a:endParaRPr lang="en-US" sz="1500" dirty="0"/>
          </a:p>
        </p:txBody>
      </p:sp>
      <p:sp>
        <p:nvSpPr>
          <p:cNvPr id="29" name="Text 27"/>
          <p:cNvSpPr/>
          <p:nvPr/>
        </p:nvSpPr>
        <p:spPr>
          <a:xfrm>
            <a:off x="5330952" y="4828032"/>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Japanese clients and Vietnamese engineers start to see one another's tâm beneath the form.</a:t>
            </a:r>
            <a:endParaRPr lang="en-US" sz="1100" dirty="0"/>
          </a:p>
        </p:txBody>
      </p:sp>
      <p:sp>
        <p:nvSpPr>
          <p:cNvPr id="30" name="Shape 28"/>
          <p:cNvSpPr/>
          <p:nvPr/>
        </p:nvSpPr>
        <p:spPr>
          <a:xfrm>
            <a:off x="8101584" y="4096512"/>
            <a:ext cx="3657600" cy="2148840"/>
          </a:xfrm>
          <a:prstGeom prst="roundRect">
            <a:avLst>
              <a:gd name="adj" fmla="val 3404"/>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1" name="Shape 29"/>
          <p:cNvSpPr/>
          <p:nvPr/>
        </p:nvSpPr>
        <p:spPr>
          <a:xfrm>
            <a:off x="8330184" y="4370832"/>
            <a:ext cx="640080" cy="640080"/>
          </a:xfrm>
          <a:prstGeom prst="ellipse">
            <a:avLst/>
          </a:prstGeom>
          <a:solidFill>
            <a:srgbClr val="C9A86A"/>
          </a:solidFill>
          <a:ln w="12700">
            <a:solidFill>
              <a:srgbClr val="C9A86A"/>
            </a:solidFill>
            <a:prstDash val="solid"/>
          </a:ln>
        </p:spPr>
      </p:sp>
      <p:sp>
        <p:nvSpPr>
          <p:cNvPr id="32" name="Text 30"/>
          <p:cNvSpPr/>
          <p:nvPr/>
        </p:nvSpPr>
        <p:spPr>
          <a:xfrm>
            <a:off x="8330184" y="4370832"/>
            <a:ext cx="640080" cy="64008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6</a:t>
            </a:r>
            <a:endParaRPr lang="en-US" sz="2200" dirty="0"/>
          </a:p>
        </p:txBody>
      </p:sp>
      <p:sp>
        <p:nvSpPr>
          <p:cNvPr id="33" name="Text 31"/>
          <p:cNvSpPr/>
          <p:nvPr/>
        </p:nvSpPr>
        <p:spPr>
          <a:xfrm>
            <a:off x="9107424" y="4370832"/>
            <a:ext cx="2468880" cy="457200"/>
          </a:xfrm>
          <a:prstGeom prst="rect">
            <a:avLst/>
          </a:prstGeom>
          <a:noFill/>
          <a:ln/>
        </p:spPr>
        <p:txBody>
          <a:bodyPr wrap="square" lIns="0" tIns="0" rIns="0" bIns="0" rtlCol="0" anchor="ctr"/>
          <a:lstStyle/>
          <a:p>
            <a:pPr indent="0" marL="0">
              <a:buNone/>
            </a:pPr>
            <a:r>
              <a:rPr lang="en-US" sz="1500" b="1" dirty="0">
                <a:solidFill>
                  <a:srgbClr val="1B2A4E"/>
                </a:solidFill>
                <a:latin typeface="Georgia" pitchFamily="34" charset="0"/>
                <a:ea typeface="Georgia" pitchFamily="34" charset="-122"/>
                <a:cs typeface="Georgia" pitchFamily="34" charset="-120"/>
              </a:rPr>
              <a:t>Your story is part of it</a:t>
            </a:r>
            <a:endParaRPr lang="en-US" sz="1500" dirty="0"/>
          </a:p>
        </p:txBody>
      </p:sp>
      <p:sp>
        <p:nvSpPr>
          <p:cNvPr id="34" name="Text 32"/>
          <p:cNvSpPr/>
          <p:nvPr/>
        </p:nvSpPr>
        <p:spPr>
          <a:xfrm>
            <a:off x="9107424" y="4828032"/>
            <a:ext cx="2468880" cy="128016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Your experience helps shape something that — if it works — helps thousands of people like you.</a:t>
            </a:r>
            <a:endParaRPr lang="en-US" sz="1100" dirty="0"/>
          </a:p>
        </p:txBody>
      </p:sp>
      <p:sp>
        <p:nvSpPr>
          <p:cNvPr id="35" name="Text 33"/>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 / 12</a:t>
            </a:r>
            <a:endParaRPr lang="en-US" sz="900" dirty="0"/>
          </a:p>
        </p:txBody>
      </p:sp>
      <p:sp>
        <p:nvSpPr>
          <p:cNvPr id="36" name="Text 34"/>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09 · YOUR RIGHTS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You are in charge — these are guaranteed</a:t>
            </a:r>
            <a:endParaRPr lang="en-US" sz="2600" dirty="0"/>
          </a:p>
        </p:txBody>
      </p:sp>
      <p:sp>
        <p:nvSpPr>
          <p:cNvPr id="5" name="Shape 3"/>
          <p:cNvSpPr/>
          <p:nvPr/>
        </p:nvSpPr>
        <p:spPr>
          <a:xfrm>
            <a:off x="548640" y="1783080"/>
            <a:ext cx="7315200" cy="4389120"/>
          </a:xfrm>
          <a:prstGeom prst="roundRect">
            <a:avLst>
              <a:gd name="adj" fmla="val 1667"/>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731520" y="1965960"/>
            <a:ext cx="6949440" cy="320040"/>
          </a:xfrm>
          <a:prstGeom prst="rect">
            <a:avLst/>
          </a:prstGeom>
          <a:noFill/>
          <a:ln/>
        </p:spPr>
        <p:txBody>
          <a:bodyPr wrap="square" lIns="0" tIns="0" rIns="0" bIns="0" rtlCol="0" anchor="ctr"/>
          <a:lstStyle/>
          <a:p>
            <a:pPr indent="0" marL="0">
              <a:buNone/>
            </a:pPr>
            <a:r>
              <a:rPr lang="en-US" sz="1100" b="1" spc="300" kern="0" dirty="0">
                <a:solidFill>
                  <a:srgbClr val="C8382C"/>
                </a:solidFill>
                <a:latin typeface="Calibri" pitchFamily="34" charset="0"/>
                <a:ea typeface="Calibri" pitchFamily="34" charset="-122"/>
                <a:cs typeface="Calibri" pitchFamily="34" charset="-120"/>
              </a:rPr>
              <a:t>YOUR RIGHTS — GUARANTEED IN WRITING</a:t>
            </a:r>
            <a:endParaRPr lang="en-US" sz="1100" dirty="0"/>
          </a:p>
        </p:txBody>
      </p:sp>
      <p:sp>
        <p:nvSpPr>
          <p:cNvPr id="7" name="Shape 5"/>
          <p:cNvSpPr/>
          <p:nvPr/>
        </p:nvSpPr>
        <p:spPr>
          <a:xfrm>
            <a:off x="777240" y="2423160"/>
            <a:ext cx="201168" cy="201168"/>
          </a:xfrm>
          <a:prstGeom prst="ellipse">
            <a:avLst/>
          </a:prstGeom>
          <a:solidFill>
            <a:srgbClr val="C9A86A"/>
          </a:solidFill>
          <a:ln w="12700">
            <a:solidFill>
              <a:srgbClr val="C9A86A"/>
            </a:solidFill>
            <a:prstDash val="solid"/>
          </a:ln>
        </p:spPr>
      </p:sp>
      <p:sp>
        <p:nvSpPr>
          <p:cNvPr id="8" name="Text 6"/>
          <p:cNvSpPr/>
          <p:nvPr/>
        </p:nvSpPr>
        <p:spPr>
          <a:xfrm>
            <a:off x="777240" y="242316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1097280" y="237744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opt out at any time. No questions, no penalty, no awkwardness.</a:t>
            </a:r>
            <a:endParaRPr lang="en-US" sz="1100" dirty="0"/>
          </a:p>
        </p:txBody>
      </p:sp>
      <p:sp>
        <p:nvSpPr>
          <p:cNvPr id="10" name="Shape 8"/>
          <p:cNvSpPr/>
          <p:nvPr/>
        </p:nvSpPr>
        <p:spPr>
          <a:xfrm>
            <a:off x="777240" y="2926080"/>
            <a:ext cx="201168" cy="201168"/>
          </a:xfrm>
          <a:prstGeom prst="ellipse">
            <a:avLst/>
          </a:prstGeom>
          <a:solidFill>
            <a:srgbClr val="C9A86A"/>
          </a:solidFill>
          <a:ln w="12700">
            <a:solidFill>
              <a:srgbClr val="C9A86A"/>
            </a:solidFill>
            <a:prstDash val="solid"/>
          </a:ln>
        </p:spPr>
      </p:sp>
      <p:sp>
        <p:nvSpPr>
          <p:cNvPr id="11" name="Text 9"/>
          <p:cNvSpPr/>
          <p:nvPr/>
        </p:nvSpPr>
        <p:spPr>
          <a:xfrm>
            <a:off x="777240" y="292608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1097280" y="288036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decline the baseline or endline interview and still use the plugin if you want.</a:t>
            </a:r>
            <a:endParaRPr lang="en-US" sz="1100" dirty="0"/>
          </a:p>
        </p:txBody>
      </p:sp>
      <p:sp>
        <p:nvSpPr>
          <p:cNvPr id="13" name="Shape 11"/>
          <p:cNvSpPr/>
          <p:nvPr/>
        </p:nvSpPr>
        <p:spPr>
          <a:xfrm>
            <a:off x="777240" y="3429000"/>
            <a:ext cx="201168" cy="201168"/>
          </a:xfrm>
          <a:prstGeom prst="ellipse">
            <a:avLst/>
          </a:prstGeom>
          <a:solidFill>
            <a:srgbClr val="C9A86A"/>
          </a:solidFill>
          <a:ln w="12700">
            <a:solidFill>
              <a:srgbClr val="C9A86A"/>
            </a:solidFill>
            <a:prstDash val="solid"/>
          </a:ln>
        </p:spPr>
      </p:sp>
      <p:sp>
        <p:nvSpPr>
          <p:cNvPr id="14" name="Text 12"/>
          <p:cNvSpPr/>
          <p:nvPr/>
        </p:nvSpPr>
        <p:spPr>
          <a:xfrm>
            <a:off x="777240" y="342900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15" name="Text 13"/>
          <p:cNvSpPr/>
          <p:nvPr/>
        </p:nvSpPr>
        <p:spPr>
          <a:xfrm>
            <a:off x="1097280" y="338328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use the plugin and skip the surveys. Or skip the plugin and just be in the rituals.</a:t>
            </a:r>
            <a:endParaRPr lang="en-US" sz="1100" dirty="0"/>
          </a:p>
        </p:txBody>
      </p:sp>
      <p:sp>
        <p:nvSpPr>
          <p:cNvPr id="16" name="Shape 14"/>
          <p:cNvSpPr/>
          <p:nvPr/>
        </p:nvSpPr>
        <p:spPr>
          <a:xfrm>
            <a:off x="777240" y="3931920"/>
            <a:ext cx="201168" cy="201168"/>
          </a:xfrm>
          <a:prstGeom prst="ellipse">
            <a:avLst/>
          </a:prstGeom>
          <a:solidFill>
            <a:srgbClr val="C9A86A"/>
          </a:solidFill>
          <a:ln w="12700">
            <a:solidFill>
              <a:srgbClr val="C9A86A"/>
            </a:solidFill>
            <a:prstDash val="solid"/>
          </a:ln>
        </p:spPr>
      </p:sp>
      <p:sp>
        <p:nvSpPr>
          <p:cNvPr id="17" name="Text 15"/>
          <p:cNvSpPr/>
          <p:nvPr/>
        </p:nvSpPr>
        <p:spPr>
          <a:xfrm>
            <a:off x="777240" y="393192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1097280" y="388620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Your name will never appear in the thesis, the paper, or the playbook without your explicit written permission.</a:t>
            </a:r>
            <a:endParaRPr lang="en-US" sz="1100" dirty="0"/>
          </a:p>
        </p:txBody>
      </p:sp>
      <p:sp>
        <p:nvSpPr>
          <p:cNvPr id="19" name="Shape 17"/>
          <p:cNvSpPr/>
          <p:nvPr/>
        </p:nvSpPr>
        <p:spPr>
          <a:xfrm>
            <a:off x="777240" y="4434840"/>
            <a:ext cx="201168" cy="201168"/>
          </a:xfrm>
          <a:prstGeom prst="ellipse">
            <a:avLst/>
          </a:prstGeom>
          <a:solidFill>
            <a:srgbClr val="C9A86A"/>
          </a:solidFill>
          <a:ln w="12700">
            <a:solidFill>
              <a:srgbClr val="C9A86A"/>
            </a:solidFill>
            <a:prstDash val="solid"/>
          </a:ln>
        </p:spPr>
      </p:sp>
      <p:sp>
        <p:nvSpPr>
          <p:cNvPr id="20" name="Text 18"/>
          <p:cNvSpPr/>
          <p:nvPr/>
        </p:nvSpPr>
        <p:spPr>
          <a:xfrm>
            <a:off x="777240" y="443484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21" name="Text 19"/>
          <p:cNvSpPr/>
          <p:nvPr/>
        </p:nvSpPr>
        <p:spPr>
          <a:xfrm>
            <a:off x="1097280" y="438912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ask to see your own data at any time. We will show it to you within 5 working days.</a:t>
            </a:r>
            <a:endParaRPr lang="en-US" sz="1100" dirty="0"/>
          </a:p>
        </p:txBody>
      </p:sp>
      <p:sp>
        <p:nvSpPr>
          <p:cNvPr id="22" name="Shape 20"/>
          <p:cNvSpPr/>
          <p:nvPr/>
        </p:nvSpPr>
        <p:spPr>
          <a:xfrm>
            <a:off x="777240" y="4937760"/>
            <a:ext cx="201168" cy="201168"/>
          </a:xfrm>
          <a:prstGeom prst="ellipse">
            <a:avLst/>
          </a:prstGeom>
          <a:solidFill>
            <a:srgbClr val="C9A86A"/>
          </a:solidFill>
          <a:ln w="12700">
            <a:solidFill>
              <a:srgbClr val="C9A86A"/>
            </a:solidFill>
            <a:prstDash val="solid"/>
          </a:ln>
        </p:spPr>
      </p:sp>
      <p:sp>
        <p:nvSpPr>
          <p:cNvPr id="23" name="Text 21"/>
          <p:cNvSpPr/>
          <p:nvPr/>
        </p:nvSpPr>
        <p:spPr>
          <a:xfrm>
            <a:off x="777240" y="493776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1097280" y="489204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ask us to delete your data at any time, including after the pilot ends.</a:t>
            </a:r>
            <a:endParaRPr lang="en-US" sz="1100" dirty="0"/>
          </a:p>
        </p:txBody>
      </p:sp>
      <p:sp>
        <p:nvSpPr>
          <p:cNvPr id="25" name="Shape 23"/>
          <p:cNvSpPr/>
          <p:nvPr/>
        </p:nvSpPr>
        <p:spPr>
          <a:xfrm>
            <a:off x="777240" y="5440680"/>
            <a:ext cx="201168" cy="201168"/>
          </a:xfrm>
          <a:prstGeom prst="ellipse">
            <a:avLst/>
          </a:prstGeom>
          <a:solidFill>
            <a:srgbClr val="C9A86A"/>
          </a:solidFill>
          <a:ln w="12700">
            <a:solidFill>
              <a:srgbClr val="C9A86A"/>
            </a:solidFill>
            <a:prstDash val="solid"/>
          </a:ln>
        </p:spPr>
      </p:sp>
      <p:sp>
        <p:nvSpPr>
          <p:cNvPr id="26" name="Text 24"/>
          <p:cNvSpPr/>
          <p:nvPr/>
        </p:nvSpPr>
        <p:spPr>
          <a:xfrm>
            <a:off x="777240" y="5440680"/>
            <a:ext cx="201168" cy="201168"/>
          </a:xfrm>
          <a:prstGeom prst="rect">
            <a:avLst/>
          </a:prstGeom>
          <a:noFill/>
          <a:ln/>
        </p:spPr>
        <p:txBody>
          <a:bodyPr wrap="square" lIns="0" tIns="0" rIns="0" bIns="0" rtlCol="0" anchor="ctr"/>
          <a:lstStyle/>
          <a:p>
            <a:pPr algn="ctr" indent="0" marL="0">
              <a:buNone/>
            </a:pPr>
            <a:r>
              <a:rPr lang="en-US" sz="1000" b="1" dirty="0">
                <a:solidFill>
                  <a:srgbClr val="1B2A4E"/>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1097280" y="5394960"/>
            <a:ext cx="6583680" cy="457200"/>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You can speak to the Shizenkan advisor directly — the project lead does not have to be in the room.</a:t>
            </a:r>
            <a:endParaRPr lang="en-US" sz="1100" dirty="0"/>
          </a:p>
        </p:txBody>
      </p:sp>
      <p:sp>
        <p:nvSpPr>
          <p:cNvPr id="28" name="Shape 26"/>
          <p:cNvSpPr/>
          <p:nvPr/>
        </p:nvSpPr>
        <p:spPr>
          <a:xfrm>
            <a:off x="8092440" y="1783080"/>
            <a:ext cx="3547872" cy="4389120"/>
          </a:xfrm>
          <a:prstGeom prst="roundRect">
            <a:avLst>
              <a:gd name="adj" fmla="val 2062"/>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29" name="Text 27"/>
          <p:cNvSpPr/>
          <p:nvPr/>
        </p:nvSpPr>
        <p:spPr>
          <a:xfrm>
            <a:off x="8275320" y="1965960"/>
            <a:ext cx="3182112" cy="274320"/>
          </a:xfrm>
          <a:prstGeom prst="rect">
            <a:avLst/>
          </a:prstGeom>
          <a:noFill/>
          <a:ln/>
        </p:spPr>
        <p:txBody>
          <a:bodyPr wrap="square" lIns="0" tIns="0" rIns="0" bIns="0" rtlCol="0" anchor="ctr"/>
          <a:lstStyle/>
          <a:p>
            <a:pPr indent="0" marL="0">
              <a:buNone/>
            </a:pPr>
            <a:r>
              <a:rPr lang="en-US" sz="1100" b="1" spc="300" kern="0" dirty="0">
                <a:solidFill>
                  <a:srgbClr val="C9A86A"/>
                </a:solidFill>
                <a:latin typeface="Calibri" pitchFamily="34" charset="0"/>
                <a:ea typeface="Calibri" pitchFamily="34" charset="-122"/>
                <a:cs typeface="Calibri" pitchFamily="34" charset="-120"/>
              </a:rPr>
              <a:t>HOW TO OPT OUT</a:t>
            </a:r>
            <a:endParaRPr lang="en-US" sz="1100" dirty="0"/>
          </a:p>
        </p:txBody>
      </p:sp>
      <p:sp>
        <p:nvSpPr>
          <p:cNvPr id="30" name="Text 28"/>
          <p:cNvSpPr/>
          <p:nvPr/>
        </p:nvSpPr>
        <p:spPr>
          <a:xfrm>
            <a:off x="8275320" y="2286000"/>
            <a:ext cx="3182112" cy="457200"/>
          </a:xfrm>
          <a:prstGeom prst="rect">
            <a:avLst/>
          </a:prstGeom>
          <a:noFill/>
          <a:ln/>
        </p:spPr>
        <p:txBody>
          <a:bodyPr wrap="square" lIns="0" tIns="0" rIns="0" bIns="0" rtlCol="0" anchor="ctr"/>
          <a:lstStyle/>
          <a:p>
            <a:pPr indent="0" marL="0">
              <a:buNone/>
            </a:pPr>
            <a:r>
              <a:rPr lang="en-US" sz="1600" b="1" i="1" dirty="0">
                <a:solidFill>
                  <a:srgbClr val="F5EAD9"/>
                </a:solidFill>
                <a:latin typeface="Georgia" pitchFamily="34" charset="0"/>
                <a:ea typeface="Georgia" pitchFamily="34" charset="-122"/>
                <a:cs typeface="Georgia" pitchFamily="34" charset="-120"/>
              </a:rPr>
              <a:t>One sentence is enough.</a:t>
            </a:r>
            <a:endParaRPr lang="en-US" sz="1600" dirty="0"/>
          </a:p>
        </p:txBody>
      </p:sp>
      <p:sp>
        <p:nvSpPr>
          <p:cNvPr id="31" name="Text 29"/>
          <p:cNvSpPr/>
          <p:nvPr/>
        </p:nvSpPr>
        <p:spPr>
          <a:xfrm>
            <a:off x="8275320" y="2834640"/>
            <a:ext cx="3182112" cy="228600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Send a message to your delivery lead, or to the project lead, saying "I'd like to step out of the pilot." That is the entire process. We will confirm within 24 hours and remove you. Your work continues unaffected.</a:t>
            </a:r>
            <a:endParaRPr lang="en-US" sz="1100" dirty="0"/>
          </a:p>
        </p:txBody>
      </p:sp>
      <p:sp>
        <p:nvSpPr>
          <p:cNvPr id="32" name="Text 30"/>
          <p:cNvSpPr/>
          <p:nvPr/>
        </p:nvSpPr>
        <p:spPr>
          <a:xfrm>
            <a:off x="8275320" y="5212080"/>
            <a:ext cx="3182112" cy="822960"/>
          </a:xfrm>
          <a:prstGeom prst="rect">
            <a:avLst/>
          </a:prstGeom>
          <a:noFill/>
          <a:ln/>
        </p:spPr>
        <p:txBody>
          <a:bodyPr wrap="square" lIns="0" tIns="0" rIns="0" bIns="0" rtlCol="0" anchor="ctr"/>
          <a:lstStyle/>
          <a:p>
            <a:pPr indent="0" marL="0">
              <a:buNone/>
            </a:pPr>
            <a:r>
              <a:rPr lang="en-US" sz="1100" b="1" i="1" dirty="0">
                <a:solidFill>
                  <a:srgbClr val="C9A86A"/>
                </a:solidFill>
                <a:latin typeface="Calibri" pitchFamily="34" charset="0"/>
                <a:ea typeface="Calibri" pitchFamily="34" charset="-122"/>
                <a:cs typeface="Calibri" pitchFamily="34" charset="-120"/>
              </a:rPr>
              <a:t>There is no penalty. There is no record. We will not ask why.</a:t>
            </a:r>
            <a:endParaRPr lang="en-US" sz="1100" dirty="0"/>
          </a:p>
        </p:txBody>
      </p:sp>
      <p:sp>
        <p:nvSpPr>
          <p:cNvPr id="33" name="Text 31"/>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 / 12</a:t>
            </a:r>
            <a:endParaRPr lang="en-US" sz="900" dirty="0"/>
          </a:p>
        </p:txBody>
      </p:sp>
      <p:sp>
        <p:nvSpPr>
          <p:cNvPr id="34" name="Text 3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10 · THE WEEK-ONE ASK</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Three small things — that's it</a:t>
            </a:r>
            <a:endParaRPr lang="en-US" sz="2600" dirty="0"/>
          </a:p>
        </p:txBody>
      </p:sp>
      <p:sp>
        <p:nvSpPr>
          <p:cNvPr id="5" name="Shape 3"/>
          <p:cNvSpPr/>
          <p:nvPr/>
        </p:nvSpPr>
        <p:spPr>
          <a:xfrm>
            <a:off x="548640" y="1783080"/>
            <a:ext cx="3657600" cy="43891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3657600" cy="548640"/>
          </a:xfrm>
          <a:prstGeom prst="rect">
            <a:avLst/>
          </a:prstGeom>
          <a:solidFill>
            <a:srgbClr val="C8382C"/>
          </a:solidFill>
          <a:ln w="12700">
            <a:solidFill>
              <a:srgbClr val="C8382C"/>
            </a:solidFill>
            <a:prstDash val="solid"/>
          </a:ln>
        </p:spPr>
      </p:sp>
      <p:sp>
        <p:nvSpPr>
          <p:cNvPr id="7" name="Text 5"/>
          <p:cNvSpPr/>
          <p:nvPr/>
        </p:nvSpPr>
        <p:spPr>
          <a:xfrm>
            <a:off x="548640" y="1783080"/>
            <a:ext cx="3657600" cy="548640"/>
          </a:xfrm>
          <a:prstGeom prst="rect">
            <a:avLst/>
          </a:prstGeom>
          <a:noFill/>
          <a:ln/>
        </p:spPr>
        <p:txBody>
          <a:bodyPr wrap="square" lIns="0" tIns="0" rIns="0" bIns="0" rtlCol="0" anchor="ctr"/>
          <a:lstStyle/>
          <a:p>
            <a:pPr algn="ctr" indent="0" marL="0">
              <a:buNone/>
            </a:pPr>
            <a:r>
              <a:rPr lang="en-US" sz="1400" b="1" spc="400" kern="0" dirty="0">
                <a:solidFill>
                  <a:srgbClr val="F5EAD9"/>
                </a:solidFill>
                <a:latin typeface="Calibri" pitchFamily="34" charset="0"/>
                <a:ea typeface="Calibri" pitchFamily="34" charset="-122"/>
                <a:cs typeface="Calibri" pitchFamily="34" charset="-120"/>
              </a:rPr>
              <a:t>STEP 1</a:t>
            </a:r>
            <a:endParaRPr lang="en-US" sz="1400" dirty="0"/>
          </a:p>
        </p:txBody>
      </p:sp>
      <p:sp>
        <p:nvSpPr>
          <p:cNvPr id="8" name="Text 6"/>
          <p:cNvSpPr/>
          <p:nvPr/>
        </p:nvSpPr>
        <p:spPr>
          <a:xfrm>
            <a:off x="822960" y="2560320"/>
            <a:ext cx="3108960" cy="822960"/>
          </a:xfrm>
          <a:prstGeom prst="rect">
            <a:avLst/>
          </a:prstGeom>
          <a:noFill/>
          <a:ln/>
        </p:spPr>
        <p:txBody>
          <a:bodyPr wrap="square" lIns="0" tIns="0" rIns="0" bIns="0" rtlCol="0" anchor="ctr"/>
          <a:lstStyle/>
          <a:p>
            <a:pPr indent="0" marL="0">
              <a:buNone/>
            </a:pPr>
            <a:r>
              <a:rPr lang="en-US" sz="1800" b="1" dirty="0">
                <a:solidFill>
                  <a:srgbClr val="1B2A4E"/>
                </a:solidFill>
                <a:latin typeface="Georgia" pitchFamily="34" charset="0"/>
                <a:ea typeface="Georgia" pitchFamily="34" charset="-122"/>
                <a:cs typeface="Georgia" pitchFamily="34" charset="-120"/>
              </a:rPr>
              <a:t>Sign the consent form</a:t>
            </a:r>
            <a:endParaRPr lang="en-US" sz="1800" dirty="0"/>
          </a:p>
        </p:txBody>
      </p:sp>
      <p:sp>
        <p:nvSpPr>
          <p:cNvPr id="9" name="Text 7"/>
          <p:cNvSpPr/>
          <p:nvPr/>
        </p:nvSpPr>
        <p:spPr>
          <a:xfrm>
            <a:off x="822960" y="3474720"/>
            <a:ext cx="3108960" cy="182880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Two pages. Your language (JP or VN). It explains what you've already read here — but in legal form so you have a copy.</a:t>
            </a:r>
            <a:endParaRPr lang="en-US" sz="1200" dirty="0"/>
          </a:p>
        </p:txBody>
      </p:sp>
      <p:sp>
        <p:nvSpPr>
          <p:cNvPr id="10" name="Shape 8"/>
          <p:cNvSpPr/>
          <p:nvPr/>
        </p:nvSpPr>
        <p:spPr>
          <a:xfrm>
            <a:off x="822960" y="5532120"/>
            <a:ext cx="1463040" cy="411480"/>
          </a:xfrm>
          <a:prstGeom prst="roundRect">
            <a:avLst>
              <a:gd name="adj" fmla="val 11111"/>
            </a:avLst>
          </a:prstGeom>
          <a:solidFill>
            <a:srgbClr val="EFE4C8"/>
          </a:solidFill>
          <a:ln w="12700">
            <a:solidFill>
              <a:srgbClr val="C9A86A"/>
            </a:solidFill>
            <a:prstDash val="solid"/>
          </a:ln>
        </p:spPr>
      </p:sp>
      <p:sp>
        <p:nvSpPr>
          <p:cNvPr id="11" name="Text 9"/>
          <p:cNvSpPr/>
          <p:nvPr/>
        </p:nvSpPr>
        <p:spPr>
          <a:xfrm>
            <a:off x="822960" y="5532120"/>
            <a:ext cx="1463040" cy="411480"/>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5 minutes</a:t>
            </a:r>
            <a:endParaRPr lang="en-US" sz="1100" dirty="0"/>
          </a:p>
        </p:txBody>
      </p:sp>
      <p:sp>
        <p:nvSpPr>
          <p:cNvPr id="12" name="Shape 10"/>
          <p:cNvSpPr/>
          <p:nvPr/>
        </p:nvSpPr>
        <p:spPr>
          <a:xfrm>
            <a:off x="4325112" y="1783080"/>
            <a:ext cx="3657600" cy="43891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3" name="Shape 11"/>
          <p:cNvSpPr/>
          <p:nvPr/>
        </p:nvSpPr>
        <p:spPr>
          <a:xfrm>
            <a:off x="4325112" y="1783080"/>
            <a:ext cx="3657600" cy="548640"/>
          </a:xfrm>
          <a:prstGeom prst="rect">
            <a:avLst/>
          </a:prstGeom>
          <a:solidFill>
            <a:srgbClr val="C9A86A"/>
          </a:solidFill>
          <a:ln w="12700">
            <a:solidFill>
              <a:srgbClr val="C9A86A"/>
            </a:solidFill>
            <a:prstDash val="solid"/>
          </a:ln>
        </p:spPr>
      </p:sp>
      <p:sp>
        <p:nvSpPr>
          <p:cNvPr id="14" name="Text 12"/>
          <p:cNvSpPr/>
          <p:nvPr/>
        </p:nvSpPr>
        <p:spPr>
          <a:xfrm>
            <a:off x="4325112" y="1783080"/>
            <a:ext cx="3657600" cy="548640"/>
          </a:xfrm>
          <a:prstGeom prst="rect">
            <a:avLst/>
          </a:prstGeom>
          <a:noFill/>
          <a:ln/>
        </p:spPr>
        <p:txBody>
          <a:bodyPr wrap="square" lIns="0" tIns="0" rIns="0" bIns="0" rtlCol="0" anchor="ctr"/>
          <a:lstStyle/>
          <a:p>
            <a:pPr algn="ctr" indent="0" marL="0">
              <a:buNone/>
            </a:pPr>
            <a:r>
              <a:rPr lang="en-US" sz="1400" b="1" spc="400" kern="0" dirty="0">
                <a:solidFill>
                  <a:srgbClr val="F5EAD9"/>
                </a:solidFill>
                <a:latin typeface="Calibri" pitchFamily="34" charset="0"/>
                <a:ea typeface="Calibri" pitchFamily="34" charset="-122"/>
                <a:cs typeface="Calibri" pitchFamily="34" charset="-120"/>
              </a:rPr>
              <a:t>STEP 2</a:t>
            </a:r>
            <a:endParaRPr lang="en-US" sz="1400" dirty="0"/>
          </a:p>
        </p:txBody>
      </p:sp>
      <p:sp>
        <p:nvSpPr>
          <p:cNvPr id="15" name="Text 13"/>
          <p:cNvSpPr/>
          <p:nvPr/>
        </p:nvSpPr>
        <p:spPr>
          <a:xfrm>
            <a:off x="4599432" y="2560320"/>
            <a:ext cx="3108960" cy="822960"/>
          </a:xfrm>
          <a:prstGeom prst="rect">
            <a:avLst/>
          </a:prstGeom>
          <a:noFill/>
          <a:ln/>
        </p:spPr>
        <p:txBody>
          <a:bodyPr wrap="square" lIns="0" tIns="0" rIns="0" bIns="0" rtlCol="0" anchor="ctr"/>
          <a:lstStyle/>
          <a:p>
            <a:pPr indent="0" marL="0">
              <a:buNone/>
            </a:pPr>
            <a:r>
              <a:rPr lang="en-US" sz="1800" b="1" dirty="0">
                <a:solidFill>
                  <a:srgbClr val="1B2A4E"/>
                </a:solidFill>
                <a:latin typeface="Georgia" pitchFamily="34" charset="0"/>
                <a:ea typeface="Georgia" pitchFamily="34" charset="-122"/>
                <a:cs typeface="Georgia" pitchFamily="34" charset="-120"/>
              </a:rPr>
              <a:t>Install the Slack plugin</a:t>
            </a:r>
            <a:endParaRPr lang="en-US" sz="1800" dirty="0"/>
          </a:p>
        </p:txBody>
      </p:sp>
      <p:sp>
        <p:nvSpPr>
          <p:cNvPr id="16" name="Text 14"/>
          <p:cNvSpPr/>
          <p:nvPr/>
        </p:nvSpPr>
        <p:spPr>
          <a:xfrm>
            <a:off x="4599432" y="3474720"/>
            <a:ext cx="3108960" cy="182880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Click the install link your delivery lead sent. The plugin appears in your Slack. Done.</a:t>
            </a:r>
            <a:endParaRPr lang="en-US" sz="1200" dirty="0"/>
          </a:p>
        </p:txBody>
      </p:sp>
      <p:sp>
        <p:nvSpPr>
          <p:cNvPr id="17" name="Shape 15"/>
          <p:cNvSpPr/>
          <p:nvPr/>
        </p:nvSpPr>
        <p:spPr>
          <a:xfrm>
            <a:off x="4599432" y="5532120"/>
            <a:ext cx="1463040" cy="411480"/>
          </a:xfrm>
          <a:prstGeom prst="roundRect">
            <a:avLst>
              <a:gd name="adj" fmla="val 11111"/>
            </a:avLst>
          </a:prstGeom>
          <a:solidFill>
            <a:srgbClr val="EFE4C8"/>
          </a:solidFill>
          <a:ln w="12700">
            <a:solidFill>
              <a:srgbClr val="C9A86A"/>
            </a:solidFill>
            <a:prstDash val="solid"/>
          </a:ln>
        </p:spPr>
      </p:sp>
      <p:sp>
        <p:nvSpPr>
          <p:cNvPr id="18" name="Text 16"/>
          <p:cNvSpPr/>
          <p:nvPr/>
        </p:nvSpPr>
        <p:spPr>
          <a:xfrm>
            <a:off x="4599432" y="5532120"/>
            <a:ext cx="1463040" cy="411480"/>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5 minutes</a:t>
            </a:r>
            <a:endParaRPr lang="en-US" sz="1100" dirty="0"/>
          </a:p>
        </p:txBody>
      </p:sp>
      <p:sp>
        <p:nvSpPr>
          <p:cNvPr id="19" name="Shape 17"/>
          <p:cNvSpPr/>
          <p:nvPr/>
        </p:nvSpPr>
        <p:spPr>
          <a:xfrm>
            <a:off x="8101584" y="1783080"/>
            <a:ext cx="3657600" cy="43891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0" name="Shape 18"/>
          <p:cNvSpPr/>
          <p:nvPr/>
        </p:nvSpPr>
        <p:spPr>
          <a:xfrm>
            <a:off x="8101584" y="1783080"/>
            <a:ext cx="3657600" cy="548640"/>
          </a:xfrm>
          <a:prstGeom prst="rect">
            <a:avLst/>
          </a:prstGeom>
          <a:solidFill>
            <a:srgbClr val="8A9A7B"/>
          </a:solidFill>
          <a:ln w="12700">
            <a:solidFill>
              <a:srgbClr val="8A9A7B"/>
            </a:solidFill>
            <a:prstDash val="solid"/>
          </a:ln>
        </p:spPr>
      </p:sp>
      <p:sp>
        <p:nvSpPr>
          <p:cNvPr id="21" name="Text 19"/>
          <p:cNvSpPr/>
          <p:nvPr/>
        </p:nvSpPr>
        <p:spPr>
          <a:xfrm>
            <a:off x="8101584" y="1783080"/>
            <a:ext cx="3657600" cy="548640"/>
          </a:xfrm>
          <a:prstGeom prst="rect">
            <a:avLst/>
          </a:prstGeom>
          <a:noFill/>
          <a:ln/>
        </p:spPr>
        <p:txBody>
          <a:bodyPr wrap="square" lIns="0" tIns="0" rIns="0" bIns="0" rtlCol="0" anchor="ctr"/>
          <a:lstStyle/>
          <a:p>
            <a:pPr algn="ctr" indent="0" marL="0">
              <a:buNone/>
            </a:pPr>
            <a:r>
              <a:rPr lang="en-US" sz="1400" b="1" spc="400" kern="0" dirty="0">
                <a:solidFill>
                  <a:srgbClr val="F5EAD9"/>
                </a:solidFill>
                <a:latin typeface="Calibri" pitchFamily="34" charset="0"/>
                <a:ea typeface="Calibri" pitchFamily="34" charset="-122"/>
                <a:cs typeface="Calibri" pitchFamily="34" charset="-120"/>
              </a:rPr>
              <a:t>STEP 3</a:t>
            </a:r>
            <a:endParaRPr lang="en-US" sz="1400" dirty="0"/>
          </a:p>
        </p:txBody>
      </p:sp>
      <p:sp>
        <p:nvSpPr>
          <p:cNvPr id="22" name="Text 20"/>
          <p:cNvSpPr/>
          <p:nvPr/>
        </p:nvSpPr>
        <p:spPr>
          <a:xfrm>
            <a:off x="8375904" y="2560320"/>
            <a:ext cx="3108960" cy="822960"/>
          </a:xfrm>
          <a:prstGeom prst="rect">
            <a:avLst/>
          </a:prstGeom>
          <a:noFill/>
          <a:ln/>
        </p:spPr>
        <p:txBody>
          <a:bodyPr wrap="square" lIns="0" tIns="0" rIns="0" bIns="0" rtlCol="0" anchor="ctr"/>
          <a:lstStyle/>
          <a:p>
            <a:pPr indent="0" marL="0">
              <a:buNone/>
            </a:pPr>
            <a:r>
              <a:rPr lang="en-US" sz="1800" b="1" dirty="0">
                <a:solidFill>
                  <a:srgbClr val="1B2A4E"/>
                </a:solidFill>
                <a:latin typeface="Georgia" pitchFamily="34" charset="0"/>
                <a:ea typeface="Georgia" pitchFamily="34" charset="-122"/>
                <a:cs typeface="Georgia" pitchFamily="34" charset="-120"/>
              </a:rPr>
              <a:t>Schedule the baseline conversation</a:t>
            </a:r>
            <a:endParaRPr lang="en-US" sz="1800" dirty="0"/>
          </a:p>
        </p:txBody>
      </p:sp>
      <p:sp>
        <p:nvSpPr>
          <p:cNvPr id="23" name="Text 21"/>
          <p:cNvSpPr/>
          <p:nvPr/>
        </p:nvSpPr>
        <p:spPr>
          <a:xfrm>
            <a:off x="8375904" y="3474720"/>
            <a:ext cx="3108960" cy="1828800"/>
          </a:xfrm>
          <a:prstGeom prst="rect">
            <a:avLst/>
          </a:prstGeom>
          <a:noFill/>
          <a:ln/>
        </p:spPr>
        <p:txBody>
          <a:bodyPr wrap="square" lIns="0" tIns="0" rIns="0" bIns="0" rtlCol="0" anchor="ctr"/>
          <a:lstStyle/>
          <a:p>
            <a:pPr indent="0" marL="0">
              <a:buNone/>
            </a:pPr>
            <a:r>
              <a:rPr lang="en-US" sz="1200" dirty="0">
                <a:solidFill>
                  <a:srgbClr val="1C1C1C"/>
                </a:solidFill>
                <a:latin typeface="Calibri" pitchFamily="34" charset="0"/>
                <a:ea typeface="Calibri" pitchFamily="34" charset="-122"/>
                <a:cs typeface="Calibri" pitchFamily="34" charset="-120"/>
              </a:rPr>
              <a:t>Pick a 30-minute slot in the next two weeks. With the research lead. Conversation, not interrogation.</a:t>
            </a:r>
            <a:endParaRPr lang="en-US" sz="1200" dirty="0"/>
          </a:p>
        </p:txBody>
      </p:sp>
      <p:sp>
        <p:nvSpPr>
          <p:cNvPr id="24" name="Shape 22"/>
          <p:cNvSpPr/>
          <p:nvPr/>
        </p:nvSpPr>
        <p:spPr>
          <a:xfrm>
            <a:off x="8375904" y="5532120"/>
            <a:ext cx="1463040" cy="411480"/>
          </a:xfrm>
          <a:prstGeom prst="roundRect">
            <a:avLst>
              <a:gd name="adj" fmla="val 11111"/>
            </a:avLst>
          </a:prstGeom>
          <a:solidFill>
            <a:srgbClr val="EFE4C8"/>
          </a:solidFill>
          <a:ln w="12700">
            <a:solidFill>
              <a:srgbClr val="C9A86A"/>
            </a:solidFill>
            <a:prstDash val="solid"/>
          </a:ln>
        </p:spPr>
      </p:sp>
      <p:sp>
        <p:nvSpPr>
          <p:cNvPr id="25" name="Text 23"/>
          <p:cNvSpPr/>
          <p:nvPr/>
        </p:nvSpPr>
        <p:spPr>
          <a:xfrm>
            <a:off x="8375904" y="5532120"/>
            <a:ext cx="1463040" cy="411480"/>
          </a:xfrm>
          <a:prstGeom prst="rect">
            <a:avLst/>
          </a:prstGeom>
          <a:noFill/>
          <a:ln/>
        </p:spPr>
        <p:txBody>
          <a:bodyPr wrap="square" lIns="0" tIns="0" rIns="0" bIns="0" rtlCol="0" anchor="ctr"/>
          <a:lstStyle/>
          <a:p>
            <a:pPr algn="ctr" indent="0" marL="0">
              <a:buNone/>
            </a:pPr>
            <a:r>
              <a:rPr lang="en-US" sz="1100" b="1" dirty="0">
                <a:solidFill>
                  <a:srgbClr val="1B2A4E"/>
                </a:solidFill>
                <a:latin typeface="Calibri" pitchFamily="34" charset="0"/>
                <a:ea typeface="Calibri" pitchFamily="34" charset="-122"/>
                <a:cs typeface="Calibri" pitchFamily="34" charset="-120"/>
              </a:rPr>
              <a:t>30 minutes</a:t>
            </a:r>
            <a:endParaRPr lang="en-US" sz="1100" dirty="0"/>
          </a:p>
        </p:txBody>
      </p:sp>
      <p:sp>
        <p:nvSpPr>
          <p:cNvPr id="26" name="Shape 24"/>
          <p:cNvSpPr/>
          <p:nvPr/>
        </p:nvSpPr>
        <p:spPr>
          <a:xfrm>
            <a:off x="548640" y="6355080"/>
            <a:ext cx="11091672" cy="365760"/>
          </a:xfrm>
          <a:prstGeom prst="rect">
            <a:avLst/>
          </a:prstGeom>
          <a:solidFill>
            <a:srgbClr val="1B2A4E"/>
          </a:solidFill>
          <a:ln w="12700">
            <a:solidFill>
              <a:srgbClr val="1B2A4E"/>
            </a:solidFill>
            <a:prstDash val="solid"/>
          </a:ln>
        </p:spPr>
      </p:sp>
      <p:sp>
        <p:nvSpPr>
          <p:cNvPr id="27" name="Text 25"/>
          <p:cNvSpPr/>
          <p:nvPr/>
        </p:nvSpPr>
        <p:spPr>
          <a:xfrm>
            <a:off x="548640" y="6355080"/>
            <a:ext cx="11091672" cy="365760"/>
          </a:xfrm>
          <a:prstGeom prst="rect">
            <a:avLst/>
          </a:prstGeom>
          <a:noFill/>
          <a:ln/>
        </p:spPr>
        <p:txBody>
          <a:bodyPr wrap="square" lIns="0" tIns="0" rIns="0" bIns="0" rtlCol="0" anchor="ctr"/>
          <a:lstStyle/>
          <a:p>
            <a:pPr algn="ctr" indent="0" marL="0">
              <a:buNone/>
            </a:pPr>
            <a:r>
              <a:rPr lang="en-US" sz="1100" b="1" spc="200" kern="0" dirty="0">
                <a:solidFill>
                  <a:srgbClr val="C9A86A"/>
                </a:solidFill>
                <a:latin typeface="Calibri" pitchFamily="34" charset="0"/>
                <a:ea typeface="Calibri" pitchFamily="34" charset="-122"/>
                <a:cs typeface="Calibri" pitchFamily="34" charset="-120"/>
              </a:rPr>
              <a:t>Total week-one time: about 40 minutes. After that, the programme runs in the background.</a:t>
            </a:r>
            <a:endParaRPr lang="en-US" sz="1100" dirty="0"/>
          </a:p>
        </p:txBody>
      </p:sp>
      <p:sp>
        <p:nvSpPr>
          <p:cNvPr id="28" name="Text 26"/>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 / 12</a:t>
            </a:r>
            <a:endParaRPr lang="en-US" sz="900" dirty="0"/>
          </a:p>
        </p:txBody>
      </p:sp>
      <p:sp>
        <p:nvSpPr>
          <p:cNvPr id="29" name="Text 27"/>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6B6B6B"/>
                </a:solidFill>
                <a:latin typeface="Georgia" pitchFamily="34" charset="0"/>
                <a:ea typeface="Georgia" pitchFamily="34" charset="-122"/>
                <a:cs typeface="Georgia" pitchFamily="34" charset="-120"/>
              </a:rPr>
              <a:t>Tâm × 心  ·  Pilot Programme  ·  Welcome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E"/>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C8382C"/>
          </a:solidFill>
          <a:ln w="12700">
            <a:solidFill>
              <a:srgbClr val="C8382C"/>
            </a:solidFill>
            <a:prstDash val="solid"/>
          </a:ln>
        </p:spPr>
      </p:sp>
      <p:sp>
        <p:nvSpPr>
          <p:cNvPr id="3" name="Shape 1"/>
          <p:cNvSpPr/>
          <p:nvPr/>
        </p:nvSpPr>
        <p:spPr>
          <a:xfrm>
            <a:off x="0" y="6583680"/>
            <a:ext cx="12191695" cy="274320"/>
          </a:xfrm>
          <a:prstGeom prst="rect">
            <a:avLst/>
          </a:prstGeom>
          <a:solidFill>
            <a:srgbClr val="C9A86A"/>
          </a:solidFill>
          <a:ln w="12700">
            <a:solidFill>
              <a:srgbClr val="C9A86A"/>
            </a:solidFill>
            <a:prstDash val="solid"/>
          </a:ln>
        </p:spPr>
      </p:sp>
      <p:sp>
        <p:nvSpPr>
          <p:cNvPr id="4" name="Text 2"/>
          <p:cNvSpPr/>
          <p:nvPr/>
        </p:nvSpPr>
        <p:spPr>
          <a:xfrm>
            <a:off x="731520" y="868680"/>
            <a:ext cx="10515600" cy="365760"/>
          </a:xfrm>
          <a:prstGeom prst="rect">
            <a:avLst/>
          </a:prstGeom>
          <a:noFill/>
          <a:ln/>
        </p:spPr>
        <p:txBody>
          <a:bodyPr wrap="square" lIns="0" tIns="0" rIns="0" bIns="0" rtlCol="0" anchor="ctr"/>
          <a:lstStyle/>
          <a:p>
            <a:pPr indent="0" marL="0">
              <a:buNone/>
            </a:pPr>
            <a:r>
              <a:rPr lang="en-US" sz="1400" b="1" spc="600" kern="0" dirty="0">
                <a:solidFill>
                  <a:srgbClr val="C9A86A"/>
                </a:solidFill>
                <a:latin typeface="Calibri" pitchFamily="34" charset="0"/>
                <a:ea typeface="Calibri" pitchFamily="34" charset="-122"/>
                <a:cs typeface="Calibri" pitchFamily="34" charset="-120"/>
              </a:rPr>
              <a:t>THANK YOU  ·  ありがとうございます  ·  CẢM ƠN</a:t>
            </a:r>
            <a:endParaRPr lang="en-US" sz="1400" dirty="0"/>
          </a:p>
        </p:txBody>
      </p:sp>
      <p:sp>
        <p:nvSpPr>
          <p:cNvPr id="5" name="Text 3"/>
          <p:cNvSpPr/>
          <p:nvPr/>
        </p:nvSpPr>
        <p:spPr>
          <a:xfrm>
            <a:off x="731520" y="1417320"/>
            <a:ext cx="10972800" cy="731520"/>
          </a:xfrm>
          <a:prstGeom prst="rect">
            <a:avLst/>
          </a:prstGeom>
          <a:noFill/>
          <a:ln/>
        </p:spPr>
        <p:txBody>
          <a:bodyPr wrap="square" lIns="0" tIns="0" rIns="0" bIns="0" rtlCol="0" anchor="ctr"/>
          <a:lstStyle/>
          <a:p>
            <a:pPr indent="0" marL="0">
              <a:buNone/>
            </a:pPr>
            <a:r>
              <a:rPr lang="en-US" sz="3600" b="1" i="1" dirty="0">
                <a:solidFill>
                  <a:srgbClr val="F5EAD9"/>
                </a:solidFill>
                <a:latin typeface="Georgia" pitchFamily="34" charset="0"/>
                <a:ea typeface="Georgia" pitchFamily="34" charset="-122"/>
                <a:cs typeface="Georgia" pitchFamily="34" charset="-120"/>
              </a:rPr>
              <a:t>You are not being studied.</a:t>
            </a:r>
            <a:endParaRPr lang="en-US" sz="3600" dirty="0"/>
          </a:p>
        </p:txBody>
      </p:sp>
      <p:sp>
        <p:nvSpPr>
          <p:cNvPr id="6" name="Text 4"/>
          <p:cNvSpPr/>
          <p:nvPr/>
        </p:nvSpPr>
        <p:spPr>
          <a:xfrm>
            <a:off x="731520" y="2194560"/>
            <a:ext cx="10972800" cy="640080"/>
          </a:xfrm>
          <a:prstGeom prst="rect">
            <a:avLst/>
          </a:prstGeom>
          <a:noFill/>
          <a:ln/>
        </p:spPr>
        <p:txBody>
          <a:bodyPr wrap="square" lIns="0" tIns="0" rIns="0" bIns="0" rtlCol="0" anchor="ctr"/>
          <a:lstStyle/>
          <a:p>
            <a:pPr indent="0" marL="0">
              <a:buNone/>
            </a:pPr>
            <a:r>
              <a:rPr lang="en-US" sz="2400" i="1" dirty="0">
                <a:solidFill>
                  <a:srgbClr val="C9A86A"/>
                </a:solidFill>
                <a:latin typeface="Georgia" pitchFamily="34" charset="0"/>
                <a:ea typeface="Georgia" pitchFamily="34" charset="-122"/>
                <a:cs typeface="Georgia" pitchFamily="34" charset="-120"/>
              </a:rPr>
              <a:t>You are being invited to help shape something — and we are grateful.</a:t>
            </a:r>
            <a:endParaRPr lang="en-US" sz="2400" dirty="0"/>
          </a:p>
        </p:txBody>
      </p:sp>
      <p:sp>
        <p:nvSpPr>
          <p:cNvPr id="7" name="Shape 5"/>
          <p:cNvSpPr/>
          <p:nvPr/>
        </p:nvSpPr>
        <p:spPr>
          <a:xfrm>
            <a:off x="731520" y="3246120"/>
            <a:ext cx="3621024" cy="1828800"/>
          </a:xfrm>
          <a:prstGeom prst="roundRect">
            <a:avLst>
              <a:gd name="adj" fmla="val 3000"/>
            </a:avLst>
          </a:prstGeom>
          <a:solidFill>
            <a:srgbClr val="1F2D52"/>
          </a:solidFill>
          <a:ln w="12700">
            <a:solidFill>
              <a:srgbClr val="C9A86A"/>
            </a:solidFill>
            <a:prstDash val="solid"/>
          </a:ln>
        </p:spPr>
      </p:sp>
      <p:sp>
        <p:nvSpPr>
          <p:cNvPr id="8" name="Text 6"/>
          <p:cNvSpPr/>
          <p:nvPr/>
        </p:nvSpPr>
        <p:spPr>
          <a:xfrm>
            <a:off x="1005840" y="3429000"/>
            <a:ext cx="3072384" cy="27432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NEXT WEEK</a:t>
            </a:r>
            <a:endParaRPr lang="en-US" sz="1100" dirty="0"/>
          </a:p>
        </p:txBody>
      </p:sp>
      <p:sp>
        <p:nvSpPr>
          <p:cNvPr id="9" name="Text 7"/>
          <p:cNvSpPr/>
          <p:nvPr/>
        </p:nvSpPr>
        <p:spPr>
          <a:xfrm>
            <a:off x="1005840" y="3749040"/>
            <a:ext cx="3072384" cy="457200"/>
          </a:xfrm>
          <a:prstGeom prst="rect">
            <a:avLst/>
          </a:prstGeom>
          <a:noFill/>
          <a:ln/>
        </p:spPr>
        <p:txBody>
          <a:bodyPr wrap="square" lIns="0" tIns="0" rIns="0" bIns="0" rtlCol="0" anchor="ctr"/>
          <a:lstStyle/>
          <a:p>
            <a:pPr indent="0" marL="0">
              <a:buNone/>
            </a:pPr>
            <a:r>
              <a:rPr lang="en-US" sz="1600" b="1" i="1" dirty="0">
                <a:solidFill>
                  <a:srgbClr val="F5EAD9"/>
                </a:solidFill>
                <a:latin typeface="Georgia" pitchFamily="34" charset="0"/>
                <a:ea typeface="Georgia" pitchFamily="34" charset="-122"/>
                <a:cs typeface="Georgia" pitchFamily="34" charset="-120"/>
              </a:rPr>
              <a:t>Consent form arrives</a:t>
            </a:r>
            <a:endParaRPr lang="en-US" sz="1600" dirty="0"/>
          </a:p>
        </p:txBody>
      </p:sp>
      <p:sp>
        <p:nvSpPr>
          <p:cNvPr id="10" name="Text 8"/>
          <p:cNvSpPr/>
          <p:nvPr/>
        </p:nvSpPr>
        <p:spPr>
          <a:xfrm>
            <a:off x="1005840" y="4206240"/>
            <a:ext cx="3072384" cy="82296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Two pages in your language. Sign in 5 minutes.</a:t>
            </a:r>
            <a:endParaRPr lang="en-US" sz="1100" dirty="0"/>
          </a:p>
        </p:txBody>
      </p:sp>
      <p:sp>
        <p:nvSpPr>
          <p:cNvPr id="11" name="Shape 9"/>
          <p:cNvSpPr/>
          <p:nvPr/>
        </p:nvSpPr>
        <p:spPr>
          <a:xfrm>
            <a:off x="4462272" y="3246120"/>
            <a:ext cx="3621024" cy="1828800"/>
          </a:xfrm>
          <a:prstGeom prst="roundRect">
            <a:avLst>
              <a:gd name="adj" fmla="val 3000"/>
            </a:avLst>
          </a:prstGeom>
          <a:solidFill>
            <a:srgbClr val="1F2D52"/>
          </a:solidFill>
          <a:ln w="12700">
            <a:solidFill>
              <a:srgbClr val="C9A86A"/>
            </a:solidFill>
            <a:prstDash val="solid"/>
          </a:ln>
        </p:spPr>
      </p:sp>
      <p:sp>
        <p:nvSpPr>
          <p:cNvPr id="12" name="Text 10"/>
          <p:cNvSpPr/>
          <p:nvPr/>
        </p:nvSpPr>
        <p:spPr>
          <a:xfrm>
            <a:off x="4736592" y="3429000"/>
            <a:ext cx="3072384" cy="27432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WEEK 2</a:t>
            </a:r>
            <a:endParaRPr lang="en-US" sz="1100" dirty="0"/>
          </a:p>
        </p:txBody>
      </p:sp>
      <p:sp>
        <p:nvSpPr>
          <p:cNvPr id="13" name="Text 11"/>
          <p:cNvSpPr/>
          <p:nvPr/>
        </p:nvSpPr>
        <p:spPr>
          <a:xfrm>
            <a:off x="4736592" y="3749040"/>
            <a:ext cx="3072384" cy="457200"/>
          </a:xfrm>
          <a:prstGeom prst="rect">
            <a:avLst/>
          </a:prstGeom>
          <a:noFill/>
          <a:ln/>
        </p:spPr>
        <p:txBody>
          <a:bodyPr wrap="square" lIns="0" tIns="0" rIns="0" bIns="0" rtlCol="0" anchor="ctr"/>
          <a:lstStyle/>
          <a:p>
            <a:pPr indent="0" marL="0">
              <a:buNone/>
            </a:pPr>
            <a:r>
              <a:rPr lang="en-US" sz="1600" b="1" i="1" dirty="0">
                <a:solidFill>
                  <a:srgbClr val="F5EAD9"/>
                </a:solidFill>
                <a:latin typeface="Georgia" pitchFamily="34" charset="0"/>
                <a:ea typeface="Georgia" pitchFamily="34" charset="-122"/>
                <a:cs typeface="Georgia" pitchFamily="34" charset="-120"/>
              </a:rPr>
              <a:t>Plugin install link</a:t>
            </a:r>
            <a:endParaRPr lang="en-US" sz="1600" dirty="0"/>
          </a:p>
        </p:txBody>
      </p:sp>
      <p:sp>
        <p:nvSpPr>
          <p:cNvPr id="14" name="Text 12"/>
          <p:cNvSpPr/>
          <p:nvPr/>
        </p:nvSpPr>
        <p:spPr>
          <a:xfrm>
            <a:off x="4736592" y="4206240"/>
            <a:ext cx="3072384" cy="82296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A short message from your delivery lead. Click. Done.</a:t>
            </a:r>
            <a:endParaRPr lang="en-US" sz="1100" dirty="0"/>
          </a:p>
        </p:txBody>
      </p:sp>
      <p:sp>
        <p:nvSpPr>
          <p:cNvPr id="15" name="Shape 13"/>
          <p:cNvSpPr/>
          <p:nvPr/>
        </p:nvSpPr>
        <p:spPr>
          <a:xfrm>
            <a:off x="8193024" y="3246120"/>
            <a:ext cx="3621024" cy="1828800"/>
          </a:xfrm>
          <a:prstGeom prst="roundRect">
            <a:avLst>
              <a:gd name="adj" fmla="val 3000"/>
            </a:avLst>
          </a:prstGeom>
          <a:solidFill>
            <a:srgbClr val="1F2D52"/>
          </a:solidFill>
          <a:ln w="12700">
            <a:solidFill>
              <a:srgbClr val="C9A86A"/>
            </a:solidFill>
            <a:prstDash val="solid"/>
          </a:ln>
        </p:spPr>
      </p:sp>
      <p:sp>
        <p:nvSpPr>
          <p:cNvPr id="16" name="Text 14"/>
          <p:cNvSpPr/>
          <p:nvPr/>
        </p:nvSpPr>
        <p:spPr>
          <a:xfrm>
            <a:off x="8467344" y="3429000"/>
            <a:ext cx="3072384" cy="27432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WEEK 3</a:t>
            </a:r>
            <a:endParaRPr lang="en-US" sz="1100" dirty="0"/>
          </a:p>
        </p:txBody>
      </p:sp>
      <p:sp>
        <p:nvSpPr>
          <p:cNvPr id="17" name="Text 15"/>
          <p:cNvSpPr/>
          <p:nvPr/>
        </p:nvSpPr>
        <p:spPr>
          <a:xfrm>
            <a:off x="8467344" y="3749040"/>
            <a:ext cx="3072384" cy="457200"/>
          </a:xfrm>
          <a:prstGeom prst="rect">
            <a:avLst/>
          </a:prstGeom>
          <a:noFill/>
          <a:ln/>
        </p:spPr>
        <p:txBody>
          <a:bodyPr wrap="square" lIns="0" tIns="0" rIns="0" bIns="0" rtlCol="0" anchor="ctr"/>
          <a:lstStyle/>
          <a:p>
            <a:pPr indent="0" marL="0">
              <a:buNone/>
            </a:pPr>
            <a:r>
              <a:rPr lang="en-US" sz="1600" b="1" i="1" dirty="0">
                <a:solidFill>
                  <a:srgbClr val="F5EAD9"/>
                </a:solidFill>
                <a:latin typeface="Georgia" pitchFamily="34" charset="0"/>
                <a:ea typeface="Georgia" pitchFamily="34" charset="-122"/>
                <a:cs typeface="Georgia" pitchFamily="34" charset="-120"/>
              </a:rPr>
              <a:t>Baseline conversation</a:t>
            </a:r>
            <a:endParaRPr lang="en-US" sz="1600" dirty="0"/>
          </a:p>
        </p:txBody>
      </p:sp>
      <p:sp>
        <p:nvSpPr>
          <p:cNvPr id="18" name="Text 16"/>
          <p:cNvSpPr/>
          <p:nvPr/>
        </p:nvSpPr>
        <p:spPr>
          <a:xfrm>
            <a:off x="8467344" y="4206240"/>
            <a:ext cx="3072384" cy="822960"/>
          </a:xfrm>
          <a:prstGeom prst="rect">
            <a:avLst/>
          </a:prstGeom>
          <a:noFill/>
          <a:ln/>
        </p:spPr>
        <p:txBody>
          <a:bodyPr wrap="square" lIns="0" tIns="0" rIns="0" bIns="0" rtlCol="0" anchor="ctr"/>
          <a:lstStyle/>
          <a:p>
            <a:pPr indent="0" marL="0">
              <a:buNone/>
            </a:pPr>
            <a:r>
              <a:rPr lang="en-US" sz="1100" dirty="0">
                <a:solidFill>
                  <a:srgbClr val="F5EAD9"/>
                </a:solidFill>
                <a:latin typeface="Calibri" pitchFamily="34" charset="0"/>
                <a:ea typeface="Calibri" pitchFamily="34" charset="-122"/>
                <a:cs typeface="Calibri" pitchFamily="34" charset="-120"/>
              </a:rPr>
              <a:t>30 minutes with the research lead. Pick your time.</a:t>
            </a:r>
            <a:endParaRPr lang="en-US" sz="1100" dirty="0"/>
          </a:p>
        </p:txBody>
      </p:sp>
      <p:sp>
        <p:nvSpPr>
          <p:cNvPr id="19" name="Text 17"/>
          <p:cNvSpPr/>
          <p:nvPr/>
        </p:nvSpPr>
        <p:spPr>
          <a:xfrm>
            <a:off x="731520" y="5440680"/>
            <a:ext cx="10515600" cy="320040"/>
          </a:xfrm>
          <a:prstGeom prst="rect">
            <a:avLst/>
          </a:prstGeom>
          <a:noFill/>
          <a:ln/>
        </p:spPr>
        <p:txBody>
          <a:bodyPr wrap="square" lIns="0" tIns="0" rIns="0" bIns="0" rtlCol="0" anchor="ctr"/>
          <a:lstStyle/>
          <a:p>
            <a:pPr indent="0" marL="0">
              <a:buNone/>
            </a:pPr>
            <a:r>
              <a:rPr lang="en-US" sz="1200" i="1" dirty="0">
                <a:solidFill>
                  <a:srgbClr val="F5EAD9"/>
                </a:solidFill>
                <a:latin typeface="Calibri" pitchFamily="34" charset="0"/>
                <a:ea typeface="Calibri" pitchFamily="34" charset="-122"/>
                <a:cs typeface="Calibri" pitchFamily="34" charset="-120"/>
              </a:rPr>
              <a:t>If you have any question at all, your delivery lead is the first stop. No question is too small.</a:t>
            </a:r>
            <a:endParaRPr lang="en-US" sz="1200" dirty="0"/>
          </a:p>
        </p:txBody>
      </p:sp>
      <p:sp>
        <p:nvSpPr>
          <p:cNvPr id="20" name="Text 18"/>
          <p:cNvSpPr/>
          <p:nvPr/>
        </p:nvSpPr>
        <p:spPr>
          <a:xfrm>
            <a:off x="731520" y="5806440"/>
            <a:ext cx="10515600" cy="274320"/>
          </a:xfrm>
          <a:prstGeom prst="rect">
            <a:avLst/>
          </a:prstGeom>
          <a:noFill/>
          <a:ln/>
        </p:spPr>
        <p:txBody>
          <a:bodyPr wrap="square" lIns="0" tIns="0" rIns="0" bIns="0" rtlCol="0" anchor="ctr"/>
          <a:lstStyle/>
          <a:p>
            <a:pPr indent="0" marL="0">
              <a:buNone/>
            </a:pPr>
            <a:r>
              <a:rPr lang="en-US" sz="1000" dirty="0">
                <a:solidFill>
                  <a:srgbClr val="C9A86A"/>
                </a:solidFill>
                <a:latin typeface="Calibri" pitchFamily="34" charset="0"/>
                <a:ea typeface="Calibri" pitchFamily="34" charset="-122"/>
                <a:cs typeface="Calibri" pitchFamily="34" charset="-120"/>
              </a:rPr>
              <a:t>Tâm × 心  ·  The Shared Heart Project  ·  Pilot Programme  ·  MrX  ·  Vnext Japan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Tâm × 心 — Pilot Programme · Welcome</dc:title>
  <dc:subject>PptxGenJS Presentation</dc:subject>
  <dc:creator>MrX · Vnext Japan</dc:creator>
  <cp:lastModifiedBy>MrX · Vnext Japan</cp:lastModifiedBy>
  <cp:revision>1</cp:revision>
  <dcterms:created xsi:type="dcterms:W3CDTF">2026-05-18T09:04:55Z</dcterms:created>
  <dcterms:modified xsi:type="dcterms:W3CDTF">2026-05-18T09:04:55Z</dcterms:modified>
</cp:coreProperties>
</file>