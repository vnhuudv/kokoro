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7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 ·  CHARTER v1.0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Shared Heart Project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wisdom-and-sustainability infrastructure for cross-cultural work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43366" y="3383280"/>
            <a:ext cx="1554480" cy="1554480"/>
          </a:xfrm>
          <a:prstGeom prst="ellipse">
            <a:avLst/>
          </a:prstGeom>
          <a:solidFill>
            <a:srgbClr val="C8382C">
              <a:alpha val="30000"/>
            </a:srgbClr>
          </a:solidFill>
          <a:ln w="31750">
            <a:solidFill>
              <a:srgbClr val="C838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7434" y="3383280"/>
            <a:ext cx="1554480" cy="1554480"/>
          </a:xfrm>
          <a:prstGeom prst="ellipse">
            <a:avLst/>
          </a:prstGeom>
          <a:solidFill>
            <a:srgbClr val="C9A86A">
              <a:alpha val="30000"/>
            </a:srgbClr>
          </a:solidFill>
          <a:ln w="31750">
            <a:solidFill>
              <a:srgbClr val="C9A8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3366" y="3931920"/>
            <a:ext cx="69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42398" y="3931920"/>
            <a:ext cx="69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Final Project  ·  Shizenkan University  ·  Religion &amp; Sustainability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organisation: Vnext Japan  ·  8-month action research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715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MrX  ·  Vice President, Vnext Japan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the project ask?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498080" cy="3200400"/>
          </a:xfrm>
          <a:prstGeom prst="roundRect">
            <a:avLst>
              <a:gd name="adj" fmla="val 2857"/>
            </a:avLst>
          </a:prstGeom>
          <a:solidFill>
            <a:srgbClr val="F5EAD9"/>
          </a:solidFill>
          <a:ln w="19050">
            <a:solidFill>
              <a:srgbClr val="C9A86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3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it mean to be human beneath the layer of culture and religion — and can we build something that helps people see one another more clearly and act, together, with reverence for the world that hosts us?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321040" y="182880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1B2A4E"/>
          </a:solidFill>
          <a:ln w="12700">
            <a:solidFill>
              <a:srgbClr val="C9A86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0" y="2011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0" y="233172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millions of people now work across cultures every day. The economic value is measured in trillions. The human cost is rarely measured at all.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212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Charter §2 — The Question at the Heart of the Project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CORE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— different expression, one heart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383280" y="2286000"/>
            <a:ext cx="2743200" cy="2743200"/>
          </a:xfrm>
          <a:prstGeom prst="ellipse">
            <a:avLst/>
          </a:prstGeom>
          <a:solidFill>
            <a:srgbClr val="C8382C">
              <a:alpha val="35000"/>
            </a:srgbClr>
          </a:solidFill>
          <a:ln w="38100">
            <a:solidFill>
              <a:srgbClr val="C838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62472" y="2286000"/>
            <a:ext cx="2743200" cy="2743200"/>
          </a:xfrm>
          <a:prstGeom prst="ellipse">
            <a:avLst/>
          </a:prstGeom>
          <a:solidFill>
            <a:srgbClr val="C9A86A">
              <a:alpha val="35000"/>
            </a:srgbClr>
          </a:solidFill>
          <a:ln w="38100">
            <a:solidFill>
              <a:srgbClr val="C9A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7472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· heart-mind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48272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  kokoro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11112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· heart-mind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3840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Sincere intention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conscience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made visible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1828800"/>
            <a:ext cx="21945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2011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29800" y="23317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tâm and kokoro name the same human thing, they are not a barrier to understanding. They are a bridge.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29800" y="3749040"/>
            <a:ext cx="1965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is that this bridge exists beneath every pair of cultures, religions, and ecological worldviews.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difference is not difference in values.  It is difference in the language values speak.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two ideas to one — Engine +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5400">
            <a:solidFill>
              <a:srgbClr val="C8382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383280" cy="45720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Engine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software instrument — the AI Cultural Translation Engine — that lets every employee practice cultural-religious dignity in every message they send.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by sentence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5400">
            <a:solidFill>
              <a:srgbClr val="8A9A7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783080"/>
            <a:ext cx="3383280" cy="45720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DHARMA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Kokoro  Framework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five-pillar organisational ethic — rooted in religious-cultural wisdom and the integral ecology tradition — that explains why this matters and how the institution is measured.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by pillar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8275320" y="3566160"/>
            <a:ext cx="548640" cy="548640"/>
          </a:xfrm>
          <a:prstGeom prst="rtTriangl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17830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1B2A4E"/>
          </a:solidFill>
          <a:ln w="25400">
            <a:solidFill>
              <a:srgbClr val="C9A86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0" y="1783080"/>
            <a:ext cx="2697480" cy="45720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98280" y="2423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Shared Heart Project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98280" y="34747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coherent venture. The Engine is the daily practice; the Framework is its moral skeleton. Software + standards for the heart-centered organisation.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83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zazen and the Dharma — the Engine is what you do every day; the Framework is what makes the doing matter.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 — engine, methodology, research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657600" cy="50292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CULTURAL TRANSLATION ENGINE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daily instrument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embedded in Vnext communication channels. Translates not language but intent, register, and cultural assumption — sentence by sentence.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5486400"/>
            <a:ext cx="3200400" cy="914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daily practice of cultural-religious dignity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17830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5112" y="1783080"/>
            <a:ext cx="3657600" cy="5029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10912" y="1783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METHODOLOGY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teachable practices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53712" y="301752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Rituals, conflict protocols, teaching cases — adoptable by any team without software. The most durable and portable product of the project.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53712" y="5486400"/>
            <a:ext cx="3200400" cy="914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Practices that outlive the technology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01584" y="17830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01584" y="1783080"/>
            <a:ext cx="3657600" cy="50292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87384" y="1783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PUBLICATION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30184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academic contribution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30184" y="301752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research with Shizenkan on how universal human needs are expressed across Asian cultural-religious forms — engaging the Religion &amp; Sustainability literature.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30184" y="5486400"/>
            <a:ext cx="3200400" cy="914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0184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Vietnam as source of wisdom, not labour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valuable. Together they form one coherent system.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Kokoro Framework — five pillars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212848" cy="3886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2212848" cy="45720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83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Cultural-Religious Literacy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52928" y="1783080"/>
            <a:ext cx="2212848" cy="3886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52928" y="1783080"/>
            <a:ext cx="2212848" cy="45720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783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52928" y="237744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8A9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命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2852928" y="36576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INOCHI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44368" y="40233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Stewardship of Nature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57216" y="1783080"/>
            <a:ext cx="2212848" cy="3886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57216" y="1783080"/>
            <a:ext cx="2212848" cy="45720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7216" y="1783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57216" y="237744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83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</a:t>
            </a:r>
            <a:endParaRPr lang="en-US" sz="8000" dirty="0"/>
          </a:p>
        </p:txBody>
      </p:sp>
      <p:sp>
        <p:nvSpPr>
          <p:cNvPr id="21" name="Text 19"/>
          <p:cNvSpPr/>
          <p:nvPr/>
        </p:nvSpPr>
        <p:spPr>
          <a:xfrm>
            <a:off x="5157216" y="36576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48656" y="40233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Dignity of People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61504" y="1783080"/>
            <a:ext cx="2212848" cy="3886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61504" y="1783080"/>
            <a:ext cx="2212848" cy="45720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1504" y="1783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61504" y="237744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縁</a:t>
            </a:r>
            <a:endParaRPr lang="en-US" sz="8000" dirty="0"/>
          </a:p>
        </p:txBody>
      </p:sp>
      <p:sp>
        <p:nvSpPr>
          <p:cNvPr id="27" name="Text 25"/>
          <p:cNvSpPr/>
          <p:nvPr/>
        </p:nvSpPr>
        <p:spPr>
          <a:xfrm>
            <a:off x="7461504" y="36576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52944" y="40233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to Community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765792" y="1783080"/>
            <a:ext cx="2212848" cy="3886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65792" y="1783080"/>
            <a:ext cx="2212848" cy="45720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65792" y="1783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65792" y="237744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誠</a:t>
            </a:r>
            <a:endParaRPr lang="en-US" sz="8000" dirty="0"/>
          </a:p>
        </p:txBody>
      </p:sp>
      <p:sp>
        <p:nvSpPr>
          <p:cNvPr id="33" name="Text 31"/>
          <p:cNvSpPr/>
          <p:nvPr/>
        </p:nvSpPr>
        <p:spPr>
          <a:xfrm>
            <a:off x="9765792" y="36576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MAKOTO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57232" y="40233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 &amp; Accountability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pillar pairs a principle with named practices and measurable commitments — auditable, not aspirational.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Engine embodies the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617720" y="27432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1B2A4E"/>
          </a:solidFill>
          <a:ln w="19050">
            <a:solidFill>
              <a:srgbClr val="C9A86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177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1772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177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Cultural Translation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2918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91640"/>
            <a:ext cx="3291840" cy="7315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28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2039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Kokoro / Literacy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23682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teaches 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annotation is a literacy moment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32918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00400"/>
            <a:ext cx="3291840" cy="7315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37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/ Dignity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38770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protects 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match · no auto-rewrite · consent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32918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709160"/>
            <a:ext cx="3291840" cy="73152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846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5056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Makoto / Accountability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5385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embodies 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suggestions · privacy assured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48472" y="2423160"/>
            <a:ext cx="32918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48472" y="2423160"/>
            <a:ext cx="3291840" cy="73152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13064" y="2560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13064" y="2770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/ Community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13064" y="3099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extends 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13064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per host market · advisors credited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48472" y="3977640"/>
            <a:ext cx="32918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48472" y="3977640"/>
            <a:ext cx="3291840" cy="73152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13064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13064" y="4325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Inochi / Nature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13064" y="46542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supports it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13064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with those who speak for nature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directly · One indirectly. Integration is structural, not bolted-on.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Vnext, why Shizenkan, why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657600" cy="109728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VNEXT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laboratory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Vietnamese and Japanese colleagues working together every day. Data, stakes, feedback loop. The author serves as VP — organisational authority is real.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7830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1783080"/>
            <a:ext cx="3657600" cy="10972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SHIZENKAN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9432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academic home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333756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few schools whose founding philosophy welcomes a question at this scale. Whole-person learning. Eastern wisdom. Religion &amp; Sustainability is a live course.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17830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01584" y="1783080"/>
            <a:ext cx="3657600" cy="109728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75904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is open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75904" y="333756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capable of cultural register. JP–VN as densest cross-cultural corridor in Asia. ESG visibly failing the trust test on the ground. Category unclaimed.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ACTION RESEARCH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pilot at Vnext — design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931920" cy="4572000"/>
          </a:xfrm>
          <a:prstGeom prst="roundRect">
            <a:avLst>
              <a:gd name="adj" fmla="val 1860"/>
            </a:avLst>
          </a:prstGeom>
          <a:solidFill>
            <a:srgbClr val="1B2A4E"/>
          </a:solidFill>
          <a:ln w="19050">
            <a:solidFill>
              <a:srgbClr val="C9A86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research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conducted with rather than on the people and organisation being studied.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Construct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Evaluate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&amp; Bradbury, 2008  ·  Coghlan &amp; Brannick, 2014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783080"/>
            <a:ext cx="69037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965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VNEXT JAPAN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Vnext engagements · 40–80 Vietnamese engineers · Japanese client teams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880360"/>
            <a:ext cx="6720840" cy="50292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880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layers (Engine + Methodology + Framework) deployed together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MVP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429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plugin · VN↔JP · inline annotation + suggestion chips · no auto-rewrite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977640"/>
            <a:ext cx="6720840" cy="50292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977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comparable Vnext engagement runs without intervention (soft control)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526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526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only · informed consent in JP+VN · data anonymised · privacy review signed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5074920"/>
            <a:ext cx="6720840" cy="50292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5074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(month 2) · mid-point (month 5) · endline (month 7)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5623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· Engine prototype · Framework playbook · board pitch · public playbook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8-month plan — foundation, build, pilot, write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2743200" cy="50292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83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Charter approved by advisor + Vnext sponsor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447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Pilot engagements identified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0142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Baseline metrics captured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5811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Religious-cultural advisor hired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5148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Framework v1 drafted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10712" y="178308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10712" y="1783080"/>
            <a:ext cx="2743200" cy="5029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93592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PUBLISH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39312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 MVP built (Slack · VN↔JP · annotation)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39312" y="3447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Privacy review signed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39312" y="40142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Framework v1 published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39312" y="45811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First leadership workshop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39312" y="5148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Pilot team kickoff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72784" y="178308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72784" y="1783080"/>
            <a:ext cx="2743200" cy="50292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55664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8A9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LIVE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01384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 live for full pilot team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01384" y="3447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Weekly observation by research lead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01384" y="40142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Mid-point interviews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01384" y="45811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 Kokoro dashboard prototype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01384" y="5148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Second Framework workshop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34856" y="178308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34856" y="1783080"/>
            <a:ext cx="2743200" cy="50292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17736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17736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&amp; WRITE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63456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Endline interviews completed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363456" y="3447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Quantitative metrics finalised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63456" y="40142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Thesis submitted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363456" y="45811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Vnext board pitch delivered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63456" y="5148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Public-facing playbook released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 ·  Month 4: go / refine / replan  ·  Month 6: confirm thesis framing with advisor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artifacts by month 8 — one bound capstone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Action-research write-up. Submitted to Shizenkan.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7830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2057400"/>
            <a:ext cx="640080" cy="64008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30952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prototype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30952" y="2560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plugin · VN↔JP · annotation + suggestions. Deployed at Vnext.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17830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0184" y="2057400"/>
            <a:ext cx="640080" cy="640080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07424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playbook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07424" y="2560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pages. Five pillars · practices · KPIs. For any organisation.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370832"/>
            <a:ext cx="640080" cy="64008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70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pitch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487375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slides. Pilot results · recommendation for what to do next.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5112" y="4096512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4370832"/>
            <a:ext cx="640080" cy="640080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4370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30952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paper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330952" y="487375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with advisor. Religion &amp; Sustainability venue.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4096512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0184" y="4370832"/>
            <a:ext cx="640080" cy="64008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0184" y="4370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107424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playbook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107424" y="487375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pages. For other Asian cross-border organisations.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bound capstone — theory + plan + prototype + pilot study.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SUCCESS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converging tests at month 8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657600" cy="50292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 is defensible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Action-research standards met (Reason &amp; Bradbury)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Twofold contribution to Religion &amp; Sustainability literature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Baseline → mid → endline measurement documented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Co-authored research paper drafted with advisor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17830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5112" y="1783080"/>
            <a:ext cx="3657600" cy="5029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9432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Vnext board can decide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9432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Pilot evidence presented with recommendation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9432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Five-pillar Framework KPIs measured at month 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99432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 MVP commercialisable or open-sourceable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9432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Decision: invest · commercialise · open-source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01584" y="17830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01584" y="1783080"/>
            <a:ext cx="3657600" cy="50292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01584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75904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Participants felt the work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75904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Pilot participants report being treated with dignity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75904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Cultural fluency improves independent of the Engine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75904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Religious-cultural advisor writes closing reflection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75904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Comparison-group narrative differs from pilot's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test is the one the author holds most closely.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GUARDRAILS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named — and how we mitigate each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214884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of client communication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only · informed consent · on-device PII redaction · Vnext data-handling signs deployment authorisation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25112" y="17830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1783080"/>
            <a:ext cx="109728" cy="214884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99432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becomes a crutch, not a teacher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9432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99432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reveals less as fluency grows · independent cultural-competence measured at endline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01584" y="17830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1783080"/>
            <a:ext cx="109728" cy="214884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75904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/ religious essentialism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75904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75904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vocabulary is heuristic, not definition · within-tradition variation shown · methodology co-authored with advisor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96512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096512"/>
            <a:ext cx="109728" cy="214884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5079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creep on the Engine MVP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148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53766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locked at month 1 (Slack · VN↔JP · annotation) · no expansion until month 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25112" y="4096512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25112" y="4096512"/>
            <a:ext cx="109728" cy="214884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99432" y="45079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resistance from Vnext or clients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99432" y="5148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99432" y="53766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secured before month 1 · early findings shared at month-4 mid-point briefing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01584" y="4096512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01584" y="4096512"/>
            <a:ext cx="109728" cy="214884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75904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75904" y="45079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Religion treated as legal risk by counsel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75904" y="5148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375904" y="53766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engaged in month 1 with two principles: religion as wisdom source · practices designed to exceed compliance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 ·  The Shared Heart Project  ·  Charter v1.0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 ·  THE 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Tâm × 心 — shared heart.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expression, one humanity. Let us build what makes that visible.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3621024" cy="2103120"/>
          </a:xfrm>
          <a:prstGeom prst="roundRect">
            <a:avLst>
              <a:gd name="adj" fmla="val 2609"/>
            </a:avLst>
          </a:prstGeom>
          <a:solidFill>
            <a:srgbClr val="1F2D52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4747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direction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Charter. One supervision session per month. Co-author the research paper.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62272" y="3246120"/>
            <a:ext cx="3621024" cy="2103120"/>
          </a:xfrm>
          <a:prstGeom prst="roundRect">
            <a:avLst>
              <a:gd name="adj" fmla="val 2609"/>
            </a:avLst>
          </a:prstGeom>
          <a:solidFill>
            <a:srgbClr val="1F2D52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34747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VNEXT SPONSOR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384048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the pilot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6592" y="434340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engagement(s). Allocate part-time engineering. Convene board at month 4 and month 8.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93024" y="3246120"/>
            <a:ext cx="3621024" cy="2103120"/>
          </a:xfrm>
          <a:prstGeom prst="roundRect">
            <a:avLst>
              <a:gd name="adj" fmla="val 2609"/>
            </a:avLst>
          </a:prstGeom>
          <a:solidFill>
            <a:srgbClr val="1F2D52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34747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(MrX)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67344" y="384048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work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67344" y="434340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working day per week across the 8 months. Thesis, prototype, framework, board pitch.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ADVISOR SIGN-OFF  ·  VNEXT BOARD MEETING  ·  MONTH 1 BEGINS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Tâm × 心  ·  The Shared Heart Project  ·  Charter v1.0  ·  MrX  ·  Vnext Japan  ·  Shizenkan MBA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Tâm × 心 — The Shared Heart Project · Architecture Overview</dc:title>
  <dc:subject>PptxGenJS Presentation</dc:subject>
  <dc:creator>MrX · Vnext Japan</dc:creator>
  <cp:lastModifiedBy>MrX · Vnext Japan</cp:lastModifiedBy>
  <cp:revision>1</cp:revision>
  <dcterms:created xsi:type="dcterms:W3CDTF">2026-05-18T04:40:45Z</dcterms:created>
  <dcterms:modified xsi:type="dcterms:W3CDTF">2026-05-18T04:40:45Z</dcterms:modified>
</cp:coreProperties>
</file>